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4630400" cy="8229600"/>
  <p:notesSz cx="8229600" cy="14630400"/>
  <p:embeddedFontLst>
    <p:embeddedFont>
      <p:font typeface="Roboto Mono Medium"/>
      <p:regular r:id="rId57"/>
    </p:embeddedFont>
    <p:embeddedFont>
      <p:font typeface="Roboto Mono Medium"/>
      <p:regular r:id="rId58"/>
    </p:embeddedFont>
    <p:embeddedFont>
      <p:font typeface="Roboto Mono Medium"/>
      <p:regular r:id="rId59"/>
    </p:embeddedFont>
    <p:embeddedFont>
      <p:font typeface="Roboto Mono Medium"/>
      <p:regular r:id="rId60"/>
    </p:embeddedFont>
    <p:embeddedFont>
      <p:font typeface="Roboto"/>
      <p:regular r:id="rId61"/>
    </p:embeddedFont>
    <p:embeddedFont>
      <p:font typeface="Roboto"/>
      <p:regular r:id="rId62"/>
    </p:embeddedFont>
    <p:embeddedFont>
      <p:font typeface="Roboto"/>
      <p:regular r:id="rId63"/>
    </p:embeddedFont>
    <p:embeddedFont>
      <p:font typeface="Roboto"/>
      <p:regular r:id="rId6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openxmlformats.org/officeDocument/2006/relationships/font" Target="fonts/font1.fntdata"/><Relationship Id="rId58" Type="http://schemas.openxmlformats.org/officeDocument/2006/relationships/font" Target="fonts/font2.fntdata"/><Relationship Id="rId59" Type="http://schemas.openxmlformats.org/officeDocument/2006/relationships/font" Target="fonts/font3.fntdata"/><Relationship Id="rId60" Type="http://schemas.openxmlformats.org/officeDocument/2006/relationships/font" Target="fonts/font4.fntdata"/><Relationship Id="rId61" Type="http://schemas.openxmlformats.org/officeDocument/2006/relationships/font" Target="fonts/font5.fntdata"/><Relationship Id="rId62" Type="http://schemas.openxmlformats.org/officeDocument/2006/relationships/font" Target="fonts/font6.fntdata"/><Relationship Id="rId63" Type="http://schemas.openxmlformats.org/officeDocument/2006/relationships/font" Target="fonts/font7.fntdata"/><Relationship Id="rId6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image" Target="../media/image-26-7.png"/><Relationship Id="rId8" Type="http://schemas.openxmlformats.org/officeDocument/2006/relationships/image" Target="../media/image-26-8.svg"/><Relationship Id="rId9" Type="http://schemas.openxmlformats.org/officeDocument/2006/relationships/image" Target="../media/image-26-9.png"/><Relationship Id="rId10" Type="http://schemas.openxmlformats.org/officeDocument/2006/relationships/image" Target="../media/image-26-10.svg"/><Relationship Id="rId11" Type="http://schemas.openxmlformats.org/officeDocument/2006/relationships/slideLayout" Target="../slideLayouts/slideLayout27.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9.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5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379702"/>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CLASE 4 — IA Generativa para Datos Biomédicos</a:t>
            </a:r>
            <a:endParaRPr lang="en-US" sz="4450" dirty="0"/>
          </a:p>
        </p:txBody>
      </p:sp>
      <p:sp>
        <p:nvSpPr>
          <p:cNvPr id="3" name="Text 1"/>
          <p:cNvSpPr/>
          <p:nvPr/>
        </p:nvSpPr>
        <p:spPr>
          <a:xfrm>
            <a:off x="793790" y="425088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Fine-Tuning, Métricas y Calidad de Datos (LLMs)</a:t>
            </a:r>
            <a:endParaRPr lang="en-US" sz="1750" dirty="0"/>
          </a:p>
        </p:txBody>
      </p:sp>
      <p:sp>
        <p:nvSpPr>
          <p:cNvPr id="4" name="Text 2"/>
          <p:cNvSpPr/>
          <p:nvPr/>
        </p:nvSpPr>
        <p:spPr>
          <a:xfrm>
            <a:off x="793790" y="486894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Paulo Veiga y Marco Sanchez Sorondo</a:t>
            </a:r>
            <a:endParaRPr lang="en-US" sz="1750" dirty="0"/>
          </a:p>
        </p:txBody>
      </p:sp>
      <p:sp>
        <p:nvSpPr>
          <p:cNvPr id="5" name="Text 3"/>
          <p:cNvSpPr/>
          <p:nvPr/>
        </p:nvSpPr>
        <p:spPr>
          <a:xfrm>
            <a:off x="793790" y="5486995"/>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Facultad de Ingenieria, Universidad Austral</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Agenda</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01</a:t>
            </a:r>
            <a:endParaRPr lang="en-US" sz="1750" dirty="0"/>
          </a:p>
        </p:txBody>
      </p:sp>
      <p:sp>
        <p:nvSpPr>
          <p:cNvPr id="4" name="Shape 2"/>
          <p:cNvSpPr/>
          <p:nvPr/>
        </p:nvSpPr>
        <p:spPr>
          <a:xfrm>
            <a:off x="793790" y="3203496"/>
            <a:ext cx="4196358" cy="30480"/>
          </a:xfrm>
          <a:prstGeom prst="rect">
            <a:avLst/>
          </a:prstGeom>
          <a:solidFill>
            <a:srgbClr val="DA1B2E"/>
          </a:solidFill>
          <a:ln/>
        </p:spPr>
      </p:sp>
      <p:sp>
        <p:nvSpPr>
          <p:cNvPr id="5" name="Text 3"/>
          <p:cNvSpPr/>
          <p:nvPr/>
        </p:nvSpPr>
        <p:spPr>
          <a:xfrm>
            <a:off x="793790"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Repaso</a:t>
            </a:r>
            <a:endParaRPr lang="en-US" sz="2200" dirty="0"/>
          </a:p>
        </p:txBody>
      </p:sp>
      <p:sp>
        <p:nvSpPr>
          <p:cNvPr id="6" name="Text 4"/>
          <p:cNvSpPr/>
          <p:nvPr/>
        </p:nvSpPr>
        <p:spPr>
          <a:xfrm>
            <a:off x="793790"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es un LLM y cómo se entrena?</a:t>
            </a:r>
            <a:endParaRPr lang="en-US" sz="1750" dirty="0"/>
          </a:p>
        </p:txBody>
      </p:sp>
      <p:sp>
        <p:nvSpPr>
          <p:cNvPr id="7" name="Text 5"/>
          <p:cNvSpPr/>
          <p:nvPr/>
        </p:nvSpPr>
        <p:spPr>
          <a:xfrm>
            <a:off x="5216962"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02</a:t>
            </a:r>
            <a:endParaRPr lang="en-US" sz="1750" dirty="0"/>
          </a:p>
        </p:txBody>
      </p:sp>
      <p:sp>
        <p:nvSpPr>
          <p:cNvPr id="8" name="Shape 6"/>
          <p:cNvSpPr/>
          <p:nvPr/>
        </p:nvSpPr>
        <p:spPr>
          <a:xfrm>
            <a:off x="5216962" y="3203496"/>
            <a:ext cx="4196358" cy="30480"/>
          </a:xfrm>
          <a:prstGeom prst="rect">
            <a:avLst/>
          </a:prstGeom>
          <a:solidFill>
            <a:srgbClr val="DA1B2E"/>
          </a:solidFill>
          <a:ln/>
        </p:spPr>
      </p:sp>
      <p:sp>
        <p:nvSpPr>
          <p:cNvPr id="9" name="Text 7"/>
          <p:cNvSpPr/>
          <p:nvPr/>
        </p:nvSpPr>
        <p:spPr>
          <a:xfrm>
            <a:off x="5216962"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Evaluación</a:t>
            </a:r>
            <a:endParaRPr lang="en-US" sz="2200" dirty="0"/>
          </a:p>
        </p:txBody>
      </p:sp>
      <p:sp>
        <p:nvSpPr>
          <p:cNvPr id="10" name="Text 8"/>
          <p:cNvSpPr/>
          <p:nvPr/>
        </p:nvSpPr>
        <p:spPr>
          <a:xfrm>
            <a:off x="5216962" y="3868222"/>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Métricas, benchmarks y evaluación humana</a:t>
            </a:r>
            <a:endParaRPr lang="en-US" sz="1750" dirty="0"/>
          </a:p>
        </p:txBody>
      </p:sp>
      <p:sp>
        <p:nvSpPr>
          <p:cNvPr id="11" name="Text 9"/>
          <p:cNvSpPr/>
          <p:nvPr/>
        </p:nvSpPr>
        <p:spPr>
          <a:xfrm>
            <a:off x="9640133"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03</a:t>
            </a:r>
            <a:endParaRPr lang="en-US" sz="1750" dirty="0"/>
          </a:p>
        </p:txBody>
      </p:sp>
      <p:sp>
        <p:nvSpPr>
          <p:cNvPr id="12" name="Shape 10"/>
          <p:cNvSpPr/>
          <p:nvPr/>
        </p:nvSpPr>
        <p:spPr>
          <a:xfrm>
            <a:off x="9640133" y="3203496"/>
            <a:ext cx="4196358" cy="30480"/>
          </a:xfrm>
          <a:prstGeom prst="rect">
            <a:avLst/>
          </a:prstGeom>
          <a:solidFill>
            <a:srgbClr val="DA1B2E"/>
          </a:solidFill>
          <a:ln/>
        </p:spPr>
      </p:sp>
      <p:sp>
        <p:nvSpPr>
          <p:cNvPr id="13" name="Text 11"/>
          <p:cNvSpPr/>
          <p:nvPr/>
        </p:nvSpPr>
        <p:spPr>
          <a:xfrm>
            <a:off x="9640133"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Prompting</a:t>
            </a:r>
            <a:endParaRPr lang="en-US" sz="2200" dirty="0"/>
          </a:p>
        </p:txBody>
      </p:sp>
      <p:sp>
        <p:nvSpPr>
          <p:cNvPr id="14" name="Text 12"/>
          <p:cNvSpPr/>
          <p:nvPr/>
        </p:nvSpPr>
        <p:spPr>
          <a:xfrm>
            <a:off x="9640133"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Primera herramienta de mejora</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04</a:t>
            </a:r>
            <a:endParaRPr lang="en-US" sz="1750" dirty="0"/>
          </a:p>
        </p:txBody>
      </p:sp>
      <p:sp>
        <p:nvSpPr>
          <p:cNvPr id="16" name="Shape 14"/>
          <p:cNvSpPr/>
          <p:nvPr/>
        </p:nvSpPr>
        <p:spPr>
          <a:xfrm>
            <a:off x="793790" y="5345906"/>
            <a:ext cx="6407944" cy="30480"/>
          </a:xfrm>
          <a:prstGeom prst="rect">
            <a:avLst/>
          </a:prstGeom>
          <a:solidFill>
            <a:srgbClr val="DA1B2E"/>
          </a:solidFill>
          <a:ln/>
        </p:spPr>
      </p:sp>
      <p:sp>
        <p:nvSpPr>
          <p:cNvPr id="17" name="Text 15"/>
          <p:cNvSpPr/>
          <p:nvPr/>
        </p:nvSpPr>
        <p:spPr>
          <a:xfrm>
            <a:off x="793790"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Fine-tuning</a:t>
            </a:r>
            <a:endParaRPr lang="en-US" sz="2200" dirty="0"/>
          </a:p>
        </p:txBody>
      </p:sp>
      <p:sp>
        <p:nvSpPr>
          <p:cNvPr id="18" name="Text 16"/>
          <p:cNvSpPr/>
          <p:nvPr/>
        </p:nvSpPr>
        <p:spPr>
          <a:xfrm>
            <a:off x="793790"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Cuándo sí, cuándo no, y requisitos</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DA1B2E"/>
          </a:solidFill>
          <a:ln/>
        </p:spPr>
      </p:sp>
      <p:sp>
        <p:nvSpPr>
          <p:cNvPr id="21" name="Text 19"/>
          <p:cNvSpPr/>
          <p:nvPr/>
        </p:nvSpPr>
        <p:spPr>
          <a:xfrm>
            <a:off x="7428548"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Calidad de datos</a:t>
            </a:r>
            <a:endParaRPr lang="en-US" sz="2200" dirty="0"/>
          </a:p>
        </p:txBody>
      </p:sp>
      <p:sp>
        <p:nvSpPr>
          <p:cNvPr id="22" name="Text 20"/>
          <p:cNvSpPr/>
          <p:nvPr/>
        </p:nvSpPr>
        <p:spPr>
          <a:xfrm>
            <a:off x="7428548"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Garbage in → garbage out, datos sintéticos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Agenda</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01</a:t>
            </a:r>
            <a:endParaRPr lang="en-US" sz="1750" dirty="0"/>
          </a:p>
        </p:txBody>
      </p:sp>
      <p:sp>
        <p:nvSpPr>
          <p:cNvPr id="4" name="Shape 2"/>
          <p:cNvSpPr/>
          <p:nvPr/>
        </p:nvSpPr>
        <p:spPr>
          <a:xfrm>
            <a:off x="793790" y="3203496"/>
            <a:ext cx="4196358" cy="30480"/>
          </a:xfrm>
          <a:prstGeom prst="rect">
            <a:avLst/>
          </a:prstGeom>
          <a:solidFill>
            <a:srgbClr val="DA1B2E"/>
          </a:solidFill>
          <a:ln/>
        </p:spPr>
      </p:sp>
      <p:sp>
        <p:nvSpPr>
          <p:cNvPr id="5" name="Text 3"/>
          <p:cNvSpPr/>
          <p:nvPr/>
        </p:nvSpPr>
        <p:spPr>
          <a:xfrm>
            <a:off x="793790"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Repaso</a:t>
            </a:r>
            <a:endParaRPr lang="en-US" sz="2200" dirty="0"/>
          </a:p>
        </p:txBody>
      </p:sp>
      <p:sp>
        <p:nvSpPr>
          <p:cNvPr id="6" name="Text 4"/>
          <p:cNvSpPr/>
          <p:nvPr/>
        </p:nvSpPr>
        <p:spPr>
          <a:xfrm>
            <a:off x="793790"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es un LLM y cómo se entrena?</a:t>
            </a:r>
            <a:endParaRPr lang="en-US" sz="1750" dirty="0"/>
          </a:p>
        </p:txBody>
      </p:sp>
      <p:sp>
        <p:nvSpPr>
          <p:cNvPr id="7" name="Text 5"/>
          <p:cNvSpPr/>
          <p:nvPr/>
        </p:nvSpPr>
        <p:spPr>
          <a:xfrm>
            <a:off x="5216962"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02</a:t>
            </a:r>
            <a:endParaRPr lang="en-US" sz="1750" dirty="0"/>
          </a:p>
        </p:txBody>
      </p:sp>
      <p:sp>
        <p:nvSpPr>
          <p:cNvPr id="8" name="Shape 6"/>
          <p:cNvSpPr/>
          <p:nvPr/>
        </p:nvSpPr>
        <p:spPr>
          <a:xfrm>
            <a:off x="5216962" y="3203496"/>
            <a:ext cx="4196358" cy="30480"/>
          </a:xfrm>
          <a:prstGeom prst="rect">
            <a:avLst/>
          </a:prstGeom>
          <a:solidFill>
            <a:srgbClr val="DA1B2E"/>
          </a:solidFill>
          <a:ln/>
        </p:spPr>
      </p:sp>
      <p:sp>
        <p:nvSpPr>
          <p:cNvPr id="9" name="Text 7"/>
          <p:cNvSpPr/>
          <p:nvPr/>
        </p:nvSpPr>
        <p:spPr>
          <a:xfrm>
            <a:off x="5216962"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Evaluación</a:t>
            </a:r>
            <a:endParaRPr lang="en-US" sz="2200" dirty="0"/>
          </a:p>
        </p:txBody>
      </p:sp>
      <p:sp>
        <p:nvSpPr>
          <p:cNvPr id="10" name="Text 8"/>
          <p:cNvSpPr/>
          <p:nvPr/>
        </p:nvSpPr>
        <p:spPr>
          <a:xfrm>
            <a:off x="5216962" y="3868222"/>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Métricas, benchmarks y evaluación humana</a:t>
            </a:r>
            <a:endParaRPr lang="en-US" sz="1750" dirty="0"/>
          </a:p>
        </p:txBody>
      </p:sp>
      <p:sp>
        <p:nvSpPr>
          <p:cNvPr id="11" name="Text 9"/>
          <p:cNvSpPr/>
          <p:nvPr/>
        </p:nvSpPr>
        <p:spPr>
          <a:xfrm>
            <a:off x="9640133"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03</a:t>
            </a:r>
            <a:endParaRPr lang="en-US" sz="1750" dirty="0"/>
          </a:p>
        </p:txBody>
      </p:sp>
      <p:sp>
        <p:nvSpPr>
          <p:cNvPr id="12" name="Shape 10"/>
          <p:cNvSpPr/>
          <p:nvPr/>
        </p:nvSpPr>
        <p:spPr>
          <a:xfrm>
            <a:off x="9640133" y="3203496"/>
            <a:ext cx="4196358" cy="30480"/>
          </a:xfrm>
          <a:prstGeom prst="rect">
            <a:avLst/>
          </a:prstGeom>
          <a:solidFill>
            <a:srgbClr val="DA1B2E"/>
          </a:solidFill>
          <a:ln/>
        </p:spPr>
      </p:sp>
      <p:sp>
        <p:nvSpPr>
          <p:cNvPr id="13" name="Text 11"/>
          <p:cNvSpPr/>
          <p:nvPr/>
        </p:nvSpPr>
        <p:spPr>
          <a:xfrm>
            <a:off x="9640133"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Prompting</a:t>
            </a:r>
            <a:endParaRPr lang="en-US" sz="2200" dirty="0"/>
          </a:p>
        </p:txBody>
      </p:sp>
      <p:sp>
        <p:nvSpPr>
          <p:cNvPr id="14" name="Text 12"/>
          <p:cNvSpPr/>
          <p:nvPr/>
        </p:nvSpPr>
        <p:spPr>
          <a:xfrm>
            <a:off x="9640133"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Primera herramienta de mejora</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04</a:t>
            </a:r>
            <a:endParaRPr lang="en-US" sz="1750" dirty="0"/>
          </a:p>
        </p:txBody>
      </p:sp>
      <p:sp>
        <p:nvSpPr>
          <p:cNvPr id="16" name="Shape 14"/>
          <p:cNvSpPr/>
          <p:nvPr/>
        </p:nvSpPr>
        <p:spPr>
          <a:xfrm>
            <a:off x="793790" y="5345906"/>
            <a:ext cx="6407944" cy="30480"/>
          </a:xfrm>
          <a:prstGeom prst="rect">
            <a:avLst/>
          </a:prstGeom>
          <a:solidFill>
            <a:srgbClr val="DA1B2E"/>
          </a:solidFill>
          <a:ln/>
        </p:spPr>
      </p:sp>
      <p:sp>
        <p:nvSpPr>
          <p:cNvPr id="17" name="Text 15"/>
          <p:cNvSpPr/>
          <p:nvPr/>
        </p:nvSpPr>
        <p:spPr>
          <a:xfrm>
            <a:off x="793790"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Fine-tuning</a:t>
            </a:r>
            <a:endParaRPr lang="en-US" sz="2200" dirty="0"/>
          </a:p>
        </p:txBody>
      </p:sp>
      <p:sp>
        <p:nvSpPr>
          <p:cNvPr id="18" name="Text 16"/>
          <p:cNvSpPr/>
          <p:nvPr/>
        </p:nvSpPr>
        <p:spPr>
          <a:xfrm>
            <a:off x="793790"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Cuándo sí, cuándo no, y requisitos</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DA1B2E"/>
          </a:solidFill>
          <a:ln/>
        </p:spPr>
      </p:sp>
      <p:sp>
        <p:nvSpPr>
          <p:cNvPr id="21" name="Text 19"/>
          <p:cNvSpPr/>
          <p:nvPr/>
        </p:nvSpPr>
        <p:spPr>
          <a:xfrm>
            <a:off x="7428548"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Calidad de datos</a:t>
            </a:r>
            <a:endParaRPr lang="en-US" sz="2200" dirty="0"/>
          </a:p>
        </p:txBody>
      </p:sp>
      <p:sp>
        <p:nvSpPr>
          <p:cNvPr id="22" name="Text 20"/>
          <p:cNvSpPr/>
          <p:nvPr/>
        </p:nvSpPr>
        <p:spPr>
          <a:xfrm>
            <a:off x="7428548"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Garbage in → garbage out, datos sintéticos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95187"/>
            <a:ext cx="6490216"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Problema central</a:t>
            </a:r>
            <a:endParaRPr lang="en-US" sz="4450" dirty="0"/>
          </a:p>
        </p:txBody>
      </p:sp>
      <p:sp>
        <p:nvSpPr>
          <p:cNvPr id="3" name="Text 1"/>
          <p:cNvSpPr/>
          <p:nvPr/>
        </p:nvSpPr>
        <p:spPr>
          <a:xfrm>
            <a:off x="793790" y="2680454"/>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Tenemos un LLM (ChatGPT, Claude, Gemini, LLaMA, etc.)</a:t>
            </a:r>
            <a:endParaRPr lang="en-US" sz="1750" dirty="0"/>
          </a:p>
        </p:txBody>
      </p:sp>
      <p:sp>
        <p:nvSpPr>
          <p:cNvPr id="4" name="Text 2"/>
          <p:cNvSpPr/>
          <p:nvPr/>
        </p:nvSpPr>
        <p:spPr>
          <a:xfrm>
            <a:off x="793790" y="329850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Queremos usarlo en medicina para:</a:t>
            </a:r>
            <a:endParaRPr lang="en-US" sz="1750" dirty="0"/>
          </a:p>
        </p:txBody>
      </p:sp>
      <p:sp>
        <p:nvSpPr>
          <p:cNvPr id="5" name="Text 3"/>
          <p:cNvSpPr/>
          <p:nvPr/>
        </p:nvSpPr>
        <p:spPr>
          <a:xfrm>
            <a:off x="793790" y="3916561"/>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Resumir historias clínicas → extraer lo relevante de textos extensos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Responder preguntas médicas → actuar como asistente clínico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Generar reportes clínicos → estandarizar informes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Analizar papers → sintetizar evidencia científica</a:t>
            </a:r>
            <a:endParaRPr lang="en-US" sz="1750" dirty="0"/>
          </a:p>
        </p:txBody>
      </p:sp>
      <p:sp>
        <p:nvSpPr>
          <p:cNvPr id="6" name="Text 4"/>
          <p:cNvSpPr/>
          <p:nvPr/>
        </p:nvSpPr>
        <p:spPr>
          <a:xfrm>
            <a:off x="1133951" y="6116360"/>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¿Cómo sabemos si el modelo realmente sirve para esto?</a:t>
            </a:r>
            <a:endParaRPr lang="en-US" sz="1750" dirty="0"/>
          </a:p>
        </p:txBody>
      </p:sp>
      <p:sp>
        <p:nvSpPr>
          <p:cNvPr id="7" name="Shape 5"/>
          <p:cNvSpPr/>
          <p:nvPr/>
        </p:nvSpPr>
        <p:spPr>
          <a:xfrm>
            <a:off x="793790" y="5861209"/>
            <a:ext cx="30480" cy="873204"/>
          </a:xfrm>
          <a:prstGeom prst="rect">
            <a:avLst/>
          </a:prstGeom>
          <a:solidFill>
            <a:srgbClr val="DA1B2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56561"/>
            <a:ext cx="8531662"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Pipeline real con LLMs</a:t>
            </a:r>
            <a:endParaRPr lang="en-US" sz="4450" dirty="0"/>
          </a:p>
        </p:txBody>
      </p:sp>
      <p:sp>
        <p:nvSpPr>
          <p:cNvPr id="3" name="Text 1"/>
          <p:cNvSpPr/>
          <p:nvPr/>
        </p:nvSpPr>
        <p:spPr>
          <a:xfrm>
            <a:off x="793790" y="224182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El flujo de trabajo cuando usamos un LLM en un contexto biomédico:</a:t>
            </a:r>
            <a:endParaRPr lang="en-US" sz="1750" dirty="0"/>
          </a:p>
        </p:txBody>
      </p:sp>
      <p:sp>
        <p:nvSpPr>
          <p:cNvPr id="4" name="Text 2"/>
          <p:cNvSpPr/>
          <p:nvPr/>
        </p:nvSpPr>
        <p:spPr>
          <a:xfrm>
            <a:off x="793790" y="285988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01</a:t>
            </a:r>
            <a:endParaRPr lang="en-US" sz="1750" dirty="0"/>
          </a:p>
        </p:txBody>
      </p:sp>
      <p:sp>
        <p:nvSpPr>
          <p:cNvPr id="5" name="Shape 3"/>
          <p:cNvSpPr/>
          <p:nvPr/>
        </p:nvSpPr>
        <p:spPr>
          <a:xfrm>
            <a:off x="793790" y="3214926"/>
            <a:ext cx="4196358" cy="30480"/>
          </a:xfrm>
          <a:prstGeom prst="rect">
            <a:avLst/>
          </a:prstGeom>
          <a:solidFill>
            <a:srgbClr val="DA1B2E"/>
          </a:solidFill>
          <a:ln/>
        </p:spPr>
      </p:sp>
      <p:sp>
        <p:nvSpPr>
          <p:cNvPr id="6" name="Text 4"/>
          <p:cNvSpPr/>
          <p:nvPr/>
        </p:nvSpPr>
        <p:spPr>
          <a:xfrm>
            <a:off x="793790" y="3389233"/>
            <a:ext cx="2890837"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Modelo base (LLM)</a:t>
            </a:r>
            <a:endParaRPr lang="en-US" sz="2200" dirty="0"/>
          </a:p>
        </p:txBody>
      </p:sp>
      <p:sp>
        <p:nvSpPr>
          <p:cNvPr id="7" name="Text 5"/>
          <p:cNvSpPr/>
          <p:nvPr/>
        </p:nvSpPr>
        <p:spPr>
          <a:xfrm>
            <a:off x="793790" y="387965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El motor de generación de texto</a:t>
            </a:r>
            <a:endParaRPr lang="en-US" sz="1750" dirty="0"/>
          </a:p>
        </p:txBody>
      </p:sp>
      <p:sp>
        <p:nvSpPr>
          <p:cNvPr id="8" name="Text 6"/>
          <p:cNvSpPr/>
          <p:nvPr/>
        </p:nvSpPr>
        <p:spPr>
          <a:xfrm>
            <a:off x="5216962" y="285988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02</a:t>
            </a:r>
            <a:endParaRPr lang="en-US" sz="1750" dirty="0"/>
          </a:p>
        </p:txBody>
      </p:sp>
      <p:sp>
        <p:nvSpPr>
          <p:cNvPr id="9" name="Shape 7"/>
          <p:cNvSpPr/>
          <p:nvPr/>
        </p:nvSpPr>
        <p:spPr>
          <a:xfrm>
            <a:off x="5216962" y="3214926"/>
            <a:ext cx="4196358" cy="30480"/>
          </a:xfrm>
          <a:prstGeom prst="rect">
            <a:avLst/>
          </a:prstGeom>
          <a:solidFill>
            <a:srgbClr val="DA1B2E"/>
          </a:solidFill>
          <a:ln/>
        </p:spPr>
      </p:sp>
      <p:sp>
        <p:nvSpPr>
          <p:cNvPr id="10" name="Text 8"/>
          <p:cNvSpPr/>
          <p:nvPr/>
        </p:nvSpPr>
        <p:spPr>
          <a:xfrm>
            <a:off x="5216962" y="3389233"/>
            <a:ext cx="2890837"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Prompt / contexto</a:t>
            </a:r>
            <a:endParaRPr lang="en-US" sz="2200" dirty="0"/>
          </a:p>
        </p:txBody>
      </p:sp>
      <p:sp>
        <p:nvSpPr>
          <p:cNvPr id="11" name="Text 9"/>
          <p:cNvSpPr/>
          <p:nvPr/>
        </p:nvSpPr>
        <p:spPr>
          <a:xfrm>
            <a:off x="5216962" y="3879652"/>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La instrucción + información que le damos</a:t>
            </a:r>
            <a:endParaRPr lang="en-US" sz="1750" dirty="0"/>
          </a:p>
        </p:txBody>
      </p:sp>
      <p:sp>
        <p:nvSpPr>
          <p:cNvPr id="12" name="Text 10"/>
          <p:cNvSpPr/>
          <p:nvPr/>
        </p:nvSpPr>
        <p:spPr>
          <a:xfrm>
            <a:off x="9640133" y="285988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03</a:t>
            </a:r>
            <a:endParaRPr lang="en-US" sz="1750" dirty="0"/>
          </a:p>
        </p:txBody>
      </p:sp>
      <p:sp>
        <p:nvSpPr>
          <p:cNvPr id="13" name="Shape 11"/>
          <p:cNvSpPr/>
          <p:nvPr/>
        </p:nvSpPr>
        <p:spPr>
          <a:xfrm>
            <a:off x="9640133" y="3214926"/>
            <a:ext cx="4196358" cy="30480"/>
          </a:xfrm>
          <a:prstGeom prst="rect">
            <a:avLst/>
          </a:prstGeom>
          <a:solidFill>
            <a:srgbClr val="DA1B2E"/>
          </a:solidFill>
          <a:ln/>
        </p:spPr>
      </p:sp>
      <p:sp>
        <p:nvSpPr>
          <p:cNvPr id="14" name="Text 12"/>
          <p:cNvSpPr/>
          <p:nvPr/>
        </p:nvSpPr>
        <p:spPr>
          <a:xfrm>
            <a:off x="9640133" y="338923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Output textual</a:t>
            </a:r>
            <a:endParaRPr lang="en-US" sz="2200" dirty="0"/>
          </a:p>
        </p:txBody>
      </p:sp>
      <p:sp>
        <p:nvSpPr>
          <p:cNvPr id="15" name="Text 13"/>
          <p:cNvSpPr/>
          <p:nvPr/>
        </p:nvSpPr>
        <p:spPr>
          <a:xfrm>
            <a:off x="9640133" y="387965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La respuesta generada</a:t>
            </a:r>
            <a:endParaRPr lang="en-US" sz="1750" dirty="0"/>
          </a:p>
        </p:txBody>
      </p:sp>
      <p:sp>
        <p:nvSpPr>
          <p:cNvPr id="16" name="Text 14"/>
          <p:cNvSpPr/>
          <p:nvPr/>
        </p:nvSpPr>
        <p:spPr>
          <a:xfrm>
            <a:off x="793790" y="500229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04</a:t>
            </a:r>
            <a:endParaRPr lang="en-US" sz="1750" dirty="0"/>
          </a:p>
        </p:txBody>
      </p:sp>
      <p:sp>
        <p:nvSpPr>
          <p:cNvPr id="17" name="Shape 15"/>
          <p:cNvSpPr/>
          <p:nvPr/>
        </p:nvSpPr>
        <p:spPr>
          <a:xfrm>
            <a:off x="793790" y="5357336"/>
            <a:ext cx="6407944" cy="30480"/>
          </a:xfrm>
          <a:prstGeom prst="rect">
            <a:avLst/>
          </a:prstGeom>
          <a:solidFill>
            <a:srgbClr val="DA1B2E"/>
          </a:solidFill>
          <a:ln/>
        </p:spPr>
      </p:sp>
      <p:sp>
        <p:nvSpPr>
          <p:cNvPr id="18" name="Text 16"/>
          <p:cNvSpPr/>
          <p:nvPr/>
        </p:nvSpPr>
        <p:spPr>
          <a:xfrm>
            <a:off x="793790" y="553164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Evaluación</a:t>
            </a:r>
            <a:endParaRPr lang="en-US" sz="2200" dirty="0"/>
          </a:p>
        </p:txBody>
      </p:sp>
      <p:sp>
        <p:nvSpPr>
          <p:cNvPr id="19" name="Text 17"/>
          <p:cNvSpPr/>
          <p:nvPr/>
        </p:nvSpPr>
        <p:spPr>
          <a:xfrm>
            <a:off x="793790" y="602206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¿La respuesta es correcta, útil, segura?</a:t>
            </a:r>
            <a:endParaRPr lang="en-US" sz="1750" dirty="0"/>
          </a:p>
        </p:txBody>
      </p:sp>
      <p:sp>
        <p:nvSpPr>
          <p:cNvPr id="20" name="Text 18"/>
          <p:cNvSpPr/>
          <p:nvPr/>
        </p:nvSpPr>
        <p:spPr>
          <a:xfrm>
            <a:off x="7428548" y="500229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05</a:t>
            </a:r>
            <a:endParaRPr lang="en-US" sz="1750" dirty="0"/>
          </a:p>
        </p:txBody>
      </p:sp>
      <p:sp>
        <p:nvSpPr>
          <p:cNvPr id="21" name="Shape 19"/>
          <p:cNvSpPr/>
          <p:nvPr/>
        </p:nvSpPr>
        <p:spPr>
          <a:xfrm>
            <a:off x="7428548" y="5357336"/>
            <a:ext cx="6407944" cy="30480"/>
          </a:xfrm>
          <a:prstGeom prst="rect">
            <a:avLst/>
          </a:prstGeom>
          <a:solidFill>
            <a:srgbClr val="DA1B2E"/>
          </a:solidFill>
          <a:ln/>
        </p:spPr>
      </p:sp>
      <p:sp>
        <p:nvSpPr>
          <p:cNvPr id="22" name="Text 20"/>
          <p:cNvSpPr/>
          <p:nvPr/>
        </p:nvSpPr>
        <p:spPr>
          <a:xfrm>
            <a:off x="7428548" y="5531644"/>
            <a:ext cx="3571042"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(Opcional) Adaptación</a:t>
            </a:r>
            <a:endParaRPr lang="en-US" sz="2200" dirty="0"/>
          </a:p>
        </p:txBody>
      </p:sp>
      <p:sp>
        <p:nvSpPr>
          <p:cNvPr id="23" name="Text 21"/>
          <p:cNvSpPr/>
          <p:nvPr/>
        </p:nvSpPr>
        <p:spPr>
          <a:xfrm>
            <a:off x="7428548" y="602206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Fine-tuning, RAG, o ajuste de prompts</a:t>
            </a:r>
            <a:endParaRPr lang="en-US" sz="1750" dirty="0"/>
          </a:p>
        </p:txBody>
      </p:sp>
      <p:sp>
        <p:nvSpPr>
          <p:cNvPr id="24" name="Text 22"/>
          <p:cNvSpPr/>
          <p:nvPr/>
        </p:nvSpPr>
        <p:spPr>
          <a:xfrm>
            <a:off x="793790" y="681013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Esta clase se enfoca en cómo evaluar, cómo mejorar y cuándo NO modificar el modelo.</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34835"/>
            <a:ext cx="10573107"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Repaso: ¿Qué aprende un LLM?</a:t>
            </a:r>
            <a:endParaRPr lang="en-US" sz="4450" dirty="0"/>
          </a:p>
        </p:txBody>
      </p:sp>
      <p:sp>
        <p:nvSpPr>
          <p:cNvPr id="3" name="Text 1"/>
          <p:cNvSpPr/>
          <p:nvPr/>
        </p:nvSpPr>
        <p:spPr>
          <a:xfrm>
            <a:off x="793790" y="272010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Un LLM (Large Language Model):</a:t>
            </a:r>
            <a:endParaRPr lang="en-US" sz="1750" dirty="0"/>
          </a:p>
        </p:txBody>
      </p:sp>
      <p:sp>
        <p:nvSpPr>
          <p:cNvPr id="4" name="Text 2"/>
          <p:cNvSpPr/>
          <p:nvPr/>
        </p:nvSpPr>
        <p:spPr>
          <a:xfrm>
            <a:off x="793790" y="3338155"/>
            <a:ext cx="13042821"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Recibe texto como secuencia de tokens (palabras o sub-palabras)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Los transforma en embeddings: vectores numéricos que capturan significado semántico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Predice el siguiente token más probable dada la secuencia anterior</a:t>
            </a:r>
            <a:endParaRPr lang="en-US" sz="1750" dirty="0"/>
          </a:p>
        </p:txBody>
      </p:sp>
      <p:sp>
        <p:nvSpPr>
          <p:cNvPr id="5" name="Text 3"/>
          <p:cNvSpPr/>
          <p:nvPr/>
        </p:nvSpPr>
        <p:spPr>
          <a:xfrm>
            <a:off x="1133951" y="5095756"/>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Aprende patrones estadísticos del lenguaje, NO "entiende" medicina como un médico.</a:t>
            </a:r>
            <a:endParaRPr lang="en-US" sz="1750" dirty="0"/>
          </a:p>
        </p:txBody>
      </p:sp>
      <p:sp>
        <p:nvSpPr>
          <p:cNvPr id="6" name="Shape 4"/>
          <p:cNvSpPr/>
          <p:nvPr/>
        </p:nvSpPr>
        <p:spPr>
          <a:xfrm>
            <a:off x="793790" y="4840605"/>
            <a:ext cx="30480" cy="873204"/>
          </a:xfrm>
          <a:prstGeom prst="rect">
            <a:avLst/>
          </a:prstGeom>
          <a:solidFill>
            <a:srgbClr val="DA1B2E"/>
          </a:solidFill>
          <a:ln/>
        </p:spPr>
      </p:sp>
      <p:sp>
        <p:nvSpPr>
          <p:cNvPr id="7" name="Text 5"/>
          <p:cNvSpPr/>
          <p:nvPr/>
        </p:nvSpPr>
        <p:spPr>
          <a:xfrm>
            <a:off x="793790" y="5968960"/>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Ejemplo: si le preguntás el tratamiento de diabetes tipo 2, no razona — genera la secuencia de tokens más probable dado su entrenamiento.</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534835"/>
            <a:ext cx="11593830"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Repaso: entrenamiento de un LLM</a:t>
            </a:r>
            <a:endParaRPr lang="en-US" sz="4450" dirty="0"/>
          </a:p>
        </p:txBody>
      </p:sp>
      <p:sp>
        <p:nvSpPr>
          <p:cNvPr id="3" name="Text 1"/>
          <p:cNvSpPr/>
          <p:nvPr/>
        </p:nvSpPr>
        <p:spPr>
          <a:xfrm>
            <a:off x="793790" y="2720102"/>
            <a:ext cx="13042821"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Dataset masivo de texto (internet, libros, papers, código) → billones de tokens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Optimización por gradiente descendente → se calcula el error y se ajustan parámetros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Ajuste de millones/billones de pesos → los parámetros internos de la red</a:t>
            </a:r>
            <a:endParaRPr lang="en-US" sz="1750" dirty="0"/>
          </a:p>
        </p:txBody>
      </p:sp>
      <p:sp>
        <p:nvSpPr>
          <p:cNvPr id="4" name="Text 2"/>
          <p:cNvSpPr/>
          <p:nvPr/>
        </p:nvSpPr>
        <p:spPr>
          <a:xfrm>
            <a:off x="1133951" y="4477703"/>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Objetivo: minimizar la función de pérdida (loss) al predecir el siguiente token</a:t>
            </a:r>
            <a:endParaRPr lang="en-US" sz="1750" dirty="0"/>
          </a:p>
        </p:txBody>
      </p:sp>
      <p:sp>
        <p:nvSpPr>
          <p:cNvPr id="5" name="Shape 3"/>
          <p:cNvSpPr/>
          <p:nvPr/>
        </p:nvSpPr>
        <p:spPr>
          <a:xfrm>
            <a:off x="793790" y="4222552"/>
            <a:ext cx="30480" cy="873204"/>
          </a:xfrm>
          <a:prstGeom prst="rect">
            <a:avLst/>
          </a:prstGeom>
          <a:solidFill>
            <a:srgbClr val="DA1B2E"/>
          </a:solidFill>
          <a:ln/>
        </p:spPr>
      </p:sp>
      <p:sp>
        <p:nvSpPr>
          <p:cNvPr id="6" name="Text 4"/>
          <p:cNvSpPr/>
          <p:nvPr/>
        </p:nvSpPr>
        <p:spPr>
          <a:xfrm>
            <a:off x="793790" y="535090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En la práctica: el modelo aprende a completar texto de manera coherente, capturando implícitamente conocimiento factual, gramática y razonamiento básico.</a:t>
            </a:r>
            <a:endParaRPr lang="en-US" sz="1750" dirty="0"/>
          </a:p>
        </p:txBody>
      </p:sp>
      <p:sp>
        <p:nvSpPr>
          <p:cNvPr id="7" name="Text 5"/>
          <p:cNvSpPr/>
          <p:nvPr/>
        </p:nvSpPr>
        <p:spPr>
          <a:xfrm>
            <a:off x="793790" y="633186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Dato: GPT-4 tiene ~1.8T parámetros. LLaMA 3 70B tiene 70B. El entrenamiento cuesta millones de USD.</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0693" y="613410"/>
            <a:ext cx="9034820" cy="627459"/>
          </a:xfrm>
          <a:prstGeom prst="rect">
            <a:avLst/>
          </a:prstGeom>
          <a:noFill/>
          <a:ln/>
        </p:spPr>
        <p:txBody>
          <a:bodyPr wrap="none" lIns="0" tIns="0" rIns="0" bIns="0" rtlCol="0" anchor="t"/>
          <a:lstStyle/>
          <a:p>
            <a:pPr algn="l" indent="0" marL="0">
              <a:lnSpc>
                <a:spcPts val="4900"/>
              </a:lnSpc>
              <a:buNone/>
            </a:pPr>
            <a:r>
              <a:rPr lang="en-US" sz="3950" dirty="0">
                <a:solidFill>
                  <a:srgbClr val="1F1E1E"/>
                </a:solidFill>
                <a:latin typeface="Roboto Mono Medium" pitchFamily="34" charset="0"/>
                <a:ea typeface="Roboto Mono Medium" pitchFamily="34" charset="-122"/>
                <a:cs typeface="Roboto Mono Medium" pitchFamily="34" charset="-120"/>
              </a:rPr>
              <a:t>Forward &amp; Backward Propagation</a:t>
            </a:r>
            <a:endParaRPr lang="en-US" sz="3950" dirty="0"/>
          </a:p>
        </p:txBody>
      </p:sp>
      <p:pic>
        <p:nvPicPr>
          <p:cNvPr id="3" name="Image 0" descr="preencoded.png">    </p:cNvPr>
          <p:cNvPicPr>
            <a:picLocks noChangeAspect="1"/>
          </p:cNvPicPr>
          <p:nvPr/>
        </p:nvPicPr>
        <p:blipFill>
          <a:blip r:embed="rId1"/>
          <a:stretch>
            <a:fillRect/>
          </a:stretch>
        </p:blipFill>
        <p:spPr>
          <a:xfrm>
            <a:off x="780693" y="1596271"/>
            <a:ext cx="11762065" cy="60374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754023"/>
            <a:ext cx="6521291" cy="67214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16412"/>
            <a:ext cx="9287470" cy="496133"/>
          </a:xfrm>
          <a:prstGeom prst="rect">
            <a:avLst/>
          </a:prstGeom>
          <a:noFill/>
          <a:ln/>
        </p:spPr>
        <p:txBody>
          <a:bodyPr wrap="none" lIns="0" tIns="0" rIns="0" bIns="0" rtlCol="0" anchor="t"/>
          <a:lstStyle/>
          <a:p>
            <a:pPr algn="l" indent="0" marL="0">
              <a:lnSpc>
                <a:spcPts val="3900"/>
              </a:lnSpc>
              <a:buNone/>
            </a:pPr>
            <a:r>
              <a:rPr lang="en-US" sz="3100" dirty="0">
                <a:solidFill>
                  <a:srgbClr val="1F1E1E"/>
                </a:solidFill>
                <a:latin typeface="Roboto Mono Medium" pitchFamily="34" charset="0"/>
                <a:ea typeface="Roboto Mono Medium" pitchFamily="34" charset="-122"/>
                <a:cs typeface="Roboto Mono Medium" pitchFamily="34" charset="-120"/>
              </a:rPr>
              <a:t>BERT vs GPT: Architecture &amp; Propagation</a:t>
            </a:r>
            <a:endParaRPr lang="en-US" sz="3100" dirty="0"/>
          </a:p>
        </p:txBody>
      </p:sp>
      <p:pic>
        <p:nvPicPr>
          <p:cNvPr id="3" name="Image 0" descr="preencoded.png">    </p:cNvPr>
          <p:cNvPicPr>
            <a:picLocks noChangeAspect="1"/>
          </p:cNvPicPr>
          <p:nvPr/>
        </p:nvPicPr>
        <p:blipFill>
          <a:blip r:embed="rId1"/>
          <a:stretch>
            <a:fillRect/>
          </a:stretch>
        </p:blipFill>
        <p:spPr>
          <a:xfrm>
            <a:off x="793790" y="1534835"/>
            <a:ext cx="4425910" cy="58782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790105"/>
            <a:ext cx="11593830"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Optimizadores e hiperparámetros</a:t>
            </a:r>
            <a:endParaRPr lang="en-US" sz="4450" dirty="0"/>
          </a:p>
        </p:txBody>
      </p:sp>
      <p:sp>
        <p:nvSpPr>
          <p:cNvPr id="3" name="Text 1"/>
          <p:cNvSpPr/>
          <p:nvPr/>
        </p:nvSpPr>
        <p:spPr>
          <a:xfrm>
            <a:off x="793790" y="3088719"/>
            <a:ext cx="6244709" cy="708660"/>
          </a:xfrm>
          <a:prstGeom prst="rect">
            <a:avLst/>
          </a:prstGeom>
          <a:noFill/>
          <a:ln/>
        </p:spPr>
        <p:txBody>
          <a:bodyPr wrap="square" lIns="0" tIns="0" rIns="0" bIns="0" rtlCol="0" anchor="t"/>
          <a:lstStyle/>
          <a:p>
            <a:pPr algn="l" indent="0" marL="0">
              <a:lnSpc>
                <a:spcPts val="2750"/>
              </a:lnSpc>
              <a:buNone/>
            </a:pPr>
            <a:r>
              <a:rPr lang="en-US" sz="2200" dirty="0">
                <a:solidFill>
                  <a:srgbClr val="1F1E1E"/>
                </a:solidFill>
                <a:latin typeface="Roboto Mono Medium" pitchFamily="34" charset="0"/>
                <a:ea typeface="Roboto Mono Medium" pitchFamily="34" charset="-122"/>
                <a:cs typeface="Roboto Mono Medium" pitchFamily="34" charset="-120"/>
              </a:rPr>
              <a:t>Optimizadores (algoritmos que actualizan los pesos):</a:t>
            </a:r>
            <a:endParaRPr lang="en-US" sz="2200" dirty="0"/>
          </a:p>
        </p:txBody>
      </p:sp>
      <p:sp>
        <p:nvSpPr>
          <p:cNvPr id="4" name="Text 2"/>
          <p:cNvSpPr/>
          <p:nvPr/>
        </p:nvSpPr>
        <p:spPr>
          <a:xfrm>
            <a:off x="793790" y="4024193"/>
            <a:ext cx="6244709" cy="2336006"/>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SGD (Stochastic Gradient Descent):</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simple, puede ser inestable</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Adam:</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combina momentum + learning rates adaptativos. El más usado</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AdamW:</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variante de Adam con weight decay desacoplado. Estándar en LLMs</a:t>
            </a:r>
            <a:endParaRPr lang="en-US" sz="1750" dirty="0"/>
          </a:p>
        </p:txBody>
      </p:sp>
      <p:sp>
        <p:nvSpPr>
          <p:cNvPr id="5" name="Text 3"/>
          <p:cNvSpPr/>
          <p:nvPr/>
        </p:nvSpPr>
        <p:spPr>
          <a:xfrm>
            <a:off x="7599521" y="3088719"/>
            <a:ext cx="3741182" cy="354330"/>
          </a:xfrm>
          <a:prstGeom prst="rect">
            <a:avLst/>
          </a:prstGeom>
          <a:noFill/>
          <a:ln/>
        </p:spPr>
        <p:txBody>
          <a:bodyPr wrap="none" lIns="0" tIns="0" rIns="0" bIns="0" rtlCol="0" anchor="t"/>
          <a:lstStyle/>
          <a:p>
            <a:pPr algn="l" indent="0" marL="0">
              <a:lnSpc>
                <a:spcPts val="2750"/>
              </a:lnSpc>
              <a:buNone/>
            </a:pPr>
            <a:r>
              <a:rPr lang="en-US" sz="2200" dirty="0">
                <a:solidFill>
                  <a:srgbClr val="1F1E1E"/>
                </a:solidFill>
                <a:latin typeface="Roboto Mono Medium" pitchFamily="34" charset="0"/>
                <a:ea typeface="Roboto Mono Medium" pitchFamily="34" charset="-122"/>
                <a:cs typeface="Roboto Mono Medium" pitchFamily="34" charset="-120"/>
              </a:rPr>
              <a:t>Hiperparámetros clave:</a:t>
            </a:r>
            <a:endParaRPr lang="en-US" sz="2200" dirty="0"/>
          </a:p>
        </p:txBody>
      </p:sp>
      <p:sp>
        <p:nvSpPr>
          <p:cNvPr id="6" name="Text 4"/>
          <p:cNvSpPr/>
          <p:nvPr/>
        </p:nvSpPr>
        <p:spPr>
          <a:xfrm>
            <a:off x="7599521" y="3669863"/>
            <a:ext cx="6244709" cy="2336006"/>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Learning rate:</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tamaño del paso de actualización. Muy alto → diverge. Muy bajo → no aprende</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Batch size:</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ejemplos procesados antes de actualizar. Afecta estabilidad y memoria</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Warmup steps:</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learning rate sube gradualmente al inicio (evita inestabilidad)</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75228"/>
            <a:ext cx="9695617" cy="531614"/>
          </a:xfrm>
          <a:prstGeom prst="rect">
            <a:avLst/>
          </a:prstGeom>
          <a:noFill/>
          <a:ln/>
        </p:spPr>
        <p:txBody>
          <a:bodyPr wrap="none" lIns="0" tIns="0" rIns="0" bIns="0" rtlCol="0" anchor="t"/>
          <a:lstStyle/>
          <a:p>
            <a:pPr algn="l" indent="0" marL="0">
              <a:lnSpc>
                <a:spcPts val="4150"/>
              </a:lnSpc>
              <a:buNone/>
            </a:pPr>
            <a:r>
              <a:rPr lang="en-US" sz="3300" dirty="0">
                <a:solidFill>
                  <a:srgbClr val="1F1E1E"/>
                </a:solidFill>
                <a:latin typeface="Roboto Mono Medium" pitchFamily="34" charset="0"/>
                <a:ea typeface="Roboto Mono Medium" pitchFamily="34" charset="-122"/>
                <a:cs typeface="Roboto Mono Medium" pitchFamily="34" charset="-120"/>
              </a:rPr>
              <a:t>El pipeline de entrenamiento de un LLM</a:t>
            </a:r>
            <a:endParaRPr lang="en-US" sz="3300" dirty="0"/>
          </a:p>
        </p:txBody>
      </p:sp>
      <p:sp>
        <p:nvSpPr>
          <p:cNvPr id="3" name="Shape 1"/>
          <p:cNvSpPr/>
          <p:nvPr/>
        </p:nvSpPr>
        <p:spPr>
          <a:xfrm>
            <a:off x="793790" y="1661993"/>
            <a:ext cx="382667" cy="382667"/>
          </a:xfrm>
          <a:prstGeom prst="roundRect">
            <a:avLst>
              <a:gd name="adj" fmla="val 2390"/>
            </a:avLst>
          </a:prstGeom>
          <a:solidFill>
            <a:srgbClr val="F2EEEE"/>
          </a:solidFill>
          <a:ln w="7620">
            <a:solidFill>
              <a:srgbClr val="D8D4D4"/>
            </a:solidFill>
            <a:prstDash val="solid"/>
          </a:ln>
        </p:spPr>
      </p:sp>
      <p:sp>
        <p:nvSpPr>
          <p:cNvPr id="4" name="Text 2"/>
          <p:cNvSpPr/>
          <p:nvPr/>
        </p:nvSpPr>
        <p:spPr>
          <a:xfrm>
            <a:off x="857548" y="1693843"/>
            <a:ext cx="255151" cy="318968"/>
          </a:xfrm>
          <a:prstGeom prst="rect">
            <a:avLst/>
          </a:prstGeom>
          <a:noFill/>
          <a:ln/>
        </p:spPr>
        <p:txBody>
          <a:bodyPr wrap="none" lIns="0" tIns="0" rIns="0" bIns="0" rtlCol="0" anchor="t"/>
          <a:lstStyle/>
          <a:p>
            <a:pPr algn="ctr" indent="0" marL="0">
              <a:lnSpc>
                <a:spcPts val="2000"/>
              </a:lnSpc>
              <a:buNone/>
            </a:pPr>
            <a:r>
              <a:rPr lang="en-US" sz="2000" dirty="0">
                <a:solidFill>
                  <a:srgbClr val="3B3535"/>
                </a:solidFill>
                <a:latin typeface="Roboto Mono Medium" pitchFamily="34" charset="0"/>
                <a:ea typeface="Roboto Mono Medium" pitchFamily="34" charset="-122"/>
                <a:cs typeface="Roboto Mono Medium" pitchFamily="34" charset="-120"/>
              </a:rPr>
              <a:t>1</a:t>
            </a:r>
            <a:endParaRPr lang="en-US" sz="2000" dirty="0"/>
          </a:p>
        </p:txBody>
      </p:sp>
      <p:sp>
        <p:nvSpPr>
          <p:cNvPr id="5" name="Text 3"/>
          <p:cNvSpPr/>
          <p:nvPr/>
        </p:nvSpPr>
        <p:spPr>
          <a:xfrm>
            <a:off x="1303973" y="1720453"/>
            <a:ext cx="3731062" cy="531495"/>
          </a:xfrm>
          <a:prstGeom prst="rect">
            <a:avLst/>
          </a:prstGeom>
          <a:noFill/>
          <a:ln/>
        </p:spPr>
        <p:txBody>
          <a:bodyPr wrap="square" lIns="0" tIns="0" rIns="0" bIns="0" rtlCol="0" anchor="t"/>
          <a:lstStyle/>
          <a:p>
            <a:pPr algn="l" indent="0" marL="0">
              <a:lnSpc>
                <a:spcPts val="2050"/>
              </a:lnSpc>
              <a:buNone/>
            </a:pPr>
            <a:r>
              <a:rPr lang="en-US" sz="1650" dirty="0">
                <a:solidFill>
                  <a:srgbClr val="3B3535"/>
                </a:solidFill>
                <a:latin typeface="Roboto Mono Medium" pitchFamily="34" charset="0"/>
                <a:ea typeface="Roboto Mono Medium" pitchFamily="34" charset="-122"/>
                <a:cs typeface="Roboto Mono Medium" pitchFamily="34" charset="-120"/>
              </a:rPr>
              <a:t>Pre-training (self-supervised)</a:t>
            </a:r>
            <a:endParaRPr lang="en-US" sz="1650" dirty="0"/>
          </a:p>
        </p:txBody>
      </p:sp>
      <p:sp>
        <p:nvSpPr>
          <p:cNvPr id="6" name="Text 4"/>
          <p:cNvSpPr/>
          <p:nvPr/>
        </p:nvSpPr>
        <p:spPr>
          <a:xfrm>
            <a:off x="1303973" y="2328386"/>
            <a:ext cx="3731062" cy="952500"/>
          </a:xfrm>
          <a:prstGeom prst="rect">
            <a:avLst/>
          </a:prstGeom>
          <a:noFill/>
          <a:ln/>
        </p:spPr>
        <p:txBody>
          <a:bodyPr wrap="square" lIns="0" tIns="0" rIns="0" bIns="0" rtlCol="0" anchor="t"/>
          <a:lstStyle/>
          <a:p>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El modelo aprende de texto masivo sin anotaciones (internet, libros, código). Resultado: modelo base que completa texto, pero no sigue instrucciones.</a:t>
            </a:r>
            <a:endParaRPr lang="en-US" sz="1300" dirty="0"/>
          </a:p>
        </p:txBody>
      </p:sp>
      <p:sp>
        <p:nvSpPr>
          <p:cNvPr id="7" name="Text 5"/>
          <p:cNvSpPr/>
          <p:nvPr/>
        </p:nvSpPr>
        <p:spPr>
          <a:xfrm>
            <a:off x="1303973" y="3357324"/>
            <a:ext cx="3731062" cy="476250"/>
          </a:xfrm>
          <a:prstGeom prst="rect">
            <a:avLst/>
          </a:prstGeom>
          <a:noFill/>
          <a:ln/>
        </p:spPr>
        <p:txBody>
          <a:bodyPr wrap="square" lIns="0" tIns="0" rIns="0" bIns="0" rtlCol="0" anchor="t"/>
          <a:lstStyle/>
          <a:p>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Datos: low-quality, sin curar (texto de internet). Usa ~98% del cómputo total.</a:t>
            </a:r>
            <a:endParaRPr lang="en-US" sz="1300" dirty="0"/>
          </a:p>
        </p:txBody>
      </p:sp>
      <p:sp>
        <p:nvSpPr>
          <p:cNvPr id="8" name="Shape 6"/>
          <p:cNvSpPr/>
          <p:nvPr/>
        </p:nvSpPr>
        <p:spPr>
          <a:xfrm>
            <a:off x="5194459" y="1661993"/>
            <a:ext cx="382667" cy="382667"/>
          </a:xfrm>
          <a:prstGeom prst="roundRect">
            <a:avLst>
              <a:gd name="adj" fmla="val 2390"/>
            </a:avLst>
          </a:prstGeom>
          <a:solidFill>
            <a:srgbClr val="F2EEEE"/>
          </a:solidFill>
          <a:ln w="7620">
            <a:solidFill>
              <a:srgbClr val="D8D4D4"/>
            </a:solidFill>
            <a:prstDash val="solid"/>
          </a:ln>
        </p:spPr>
      </p:sp>
      <p:sp>
        <p:nvSpPr>
          <p:cNvPr id="9" name="Text 7"/>
          <p:cNvSpPr/>
          <p:nvPr/>
        </p:nvSpPr>
        <p:spPr>
          <a:xfrm>
            <a:off x="5258217" y="1693843"/>
            <a:ext cx="255151" cy="318968"/>
          </a:xfrm>
          <a:prstGeom prst="rect">
            <a:avLst/>
          </a:prstGeom>
          <a:noFill/>
          <a:ln/>
        </p:spPr>
        <p:txBody>
          <a:bodyPr wrap="none" lIns="0" tIns="0" rIns="0" bIns="0" rtlCol="0" anchor="t"/>
          <a:lstStyle/>
          <a:p>
            <a:pPr algn="ctr" indent="0" marL="0">
              <a:lnSpc>
                <a:spcPts val="2000"/>
              </a:lnSpc>
              <a:buNone/>
            </a:pPr>
            <a:r>
              <a:rPr lang="en-US" sz="2000" dirty="0">
                <a:solidFill>
                  <a:srgbClr val="3B3535"/>
                </a:solidFill>
                <a:latin typeface="Roboto Mono Medium" pitchFamily="34" charset="0"/>
                <a:ea typeface="Roboto Mono Medium" pitchFamily="34" charset="-122"/>
                <a:cs typeface="Roboto Mono Medium" pitchFamily="34" charset="-120"/>
              </a:rPr>
              <a:t>2</a:t>
            </a:r>
            <a:endParaRPr lang="en-US" sz="2000" dirty="0"/>
          </a:p>
        </p:txBody>
      </p:sp>
      <p:sp>
        <p:nvSpPr>
          <p:cNvPr id="10" name="Text 8"/>
          <p:cNvSpPr/>
          <p:nvPr/>
        </p:nvSpPr>
        <p:spPr>
          <a:xfrm>
            <a:off x="5704642" y="1720453"/>
            <a:ext cx="3731181" cy="531495"/>
          </a:xfrm>
          <a:prstGeom prst="rect">
            <a:avLst/>
          </a:prstGeom>
          <a:noFill/>
          <a:ln/>
        </p:spPr>
        <p:txBody>
          <a:bodyPr wrap="square" lIns="0" tIns="0" rIns="0" bIns="0" rtlCol="0" anchor="t"/>
          <a:lstStyle/>
          <a:p>
            <a:pPr algn="l" indent="0" marL="0">
              <a:lnSpc>
                <a:spcPts val="2050"/>
              </a:lnSpc>
              <a:buNone/>
            </a:pPr>
            <a:r>
              <a:rPr lang="en-US" sz="1650" dirty="0">
                <a:solidFill>
                  <a:srgbClr val="3B3535"/>
                </a:solidFill>
                <a:latin typeface="Roboto Mono Medium" pitchFamily="34" charset="0"/>
                <a:ea typeface="Roboto Mono Medium" pitchFamily="34" charset="-122"/>
                <a:cs typeface="Roboto Mono Medium" pitchFamily="34" charset="-120"/>
              </a:rPr>
              <a:t>Post-training (finetuning por el proveedor)</a:t>
            </a:r>
            <a:endParaRPr lang="en-US" sz="1650" dirty="0"/>
          </a:p>
        </p:txBody>
      </p:sp>
      <p:sp>
        <p:nvSpPr>
          <p:cNvPr id="11" name="Text 9"/>
          <p:cNvSpPr/>
          <p:nvPr/>
        </p:nvSpPr>
        <p:spPr>
          <a:xfrm>
            <a:off x="5704642" y="2328386"/>
            <a:ext cx="3731181" cy="952500"/>
          </a:xfrm>
          <a:prstGeom prst="rect">
            <a:avLst/>
          </a:prstGeom>
          <a:noFill/>
          <a:ln/>
        </p:spPr>
        <p:txBody>
          <a:bodyPr wrap="square" lIns="0" tIns="0" rIns="0" bIns="0" rtlCol="0" anchor="t"/>
          <a:lstStyle/>
          <a:p>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Resuelve dos problemas: el modelo está optimizado para completar texto (no conversar) y puede generar contenido tóxico. Usa solo ~2% del cómputo.</a:t>
            </a:r>
            <a:endParaRPr lang="en-US" sz="1300" dirty="0"/>
          </a:p>
        </p:txBody>
      </p:sp>
      <p:sp>
        <p:nvSpPr>
          <p:cNvPr id="12" name="Text 10"/>
          <p:cNvSpPr/>
          <p:nvPr/>
        </p:nvSpPr>
        <p:spPr>
          <a:xfrm>
            <a:off x="5704642" y="3357324"/>
            <a:ext cx="3731181" cy="2946797"/>
          </a:xfrm>
          <a:prstGeom prst="rect">
            <a:avLst/>
          </a:prstGeom>
          <a:noFill/>
          <a:ln/>
        </p:spPr>
        <p:txBody>
          <a:bodyPr wrap="square" lIns="0" tIns="0" rIns="0" bIns="0" rtlCol="0" anchor="t"/>
          <a:lstStyle/>
          <a:p>
            <a:pPr algn="l" marL="342900" indent="-342900">
              <a:lnSpc>
                <a:spcPts val="1850"/>
              </a:lnSpc>
              <a:buSzPct val="100000"/>
              <a:buChar char="•"/>
            </a:pPr>
            <a:r>
              <a:rPr lang="en-US" sz="1300" b="1" dirty="0">
                <a:solidFill>
                  <a:srgbClr val="3B3535"/>
                </a:solidFill>
                <a:latin typeface="Roboto" pitchFamily="34" charset="0"/>
                <a:ea typeface="Roboto" pitchFamily="34" charset="-122"/>
                <a:cs typeface="Roboto" pitchFamily="34" charset="-120"/>
              </a:rPr>
              <a:t>Continued pre-training (self-supervised FT):</a:t>
            </a:r>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 Entrenar con texto del dominio sin anotaciones. Ej: papers médicos, documentos legales.</a:t>
            </a:r>
            <a:endParaRPr lang="en-US" sz="1300" dirty="0"/>
          </a:p>
          <a:p>
            <a:pPr algn="l" marL="342900" indent="-342900">
              <a:lnSpc>
                <a:spcPts val="1850"/>
              </a:lnSpc>
              <a:buSzPct val="100000"/>
              <a:buChar char="•"/>
            </a:pPr>
            <a:r>
              <a:rPr lang="en-US" sz="1300" b="1" dirty="0">
                <a:solidFill>
                  <a:srgbClr val="3B3535"/>
                </a:solidFill>
                <a:latin typeface="Roboto" pitchFamily="34" charset="0"/>
                <a:ea typeface="Roboto" pitchFamily="34" charset="-122"/>
                <a:cs typeface="Roboto" pitchFamily="34" charset="-120"/>
              </a:rPr>
              <a:t>Supervised finetuning (SFT):</a:t>
            </a:r>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 Datos: demonstration data — pares (prompt, response) de alta calidad, creados por anotadores expertos.</a:t>
            </a:r>
            <a:endParaRPr lang="en-US" sz="1300" dirty="0"/>
          </a:p>
          <a:p>
            <a:pPr algn="l" marL="342900" indent="-342900">
              <a:lnSpc>
                <a:spcPts val="1850"/>
              </a:lnSpc>
              <a:buSzPct val="100000"/>
              <a:buChar char="•"/>
            </a:pPr>
            <a:r>
              <a:rPr lang="en-US" sz="1300" b="1" dirty="0">
                <a:solidFill>
                  <a:srgbClr val="3B3535"/>
                </a:solidFill>
                <a:latin typeface="Roboto" pitchFamily="34" charset="0"/>
                <a:ea typeface="Roboto" pitchFamily="34" charset="-122"/>
                <a:cs typeface="Roboto" pitchFamily="34" charset="-120"/>
              </a:rPr>
              <a:t>Preference finetuning (RLHF / DPO):</a:t>
            </a:r>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 Datos: comparison data — (prompt, winning_response, losing_response). Humanos comparan respuestas.</a:t>
            </a:r>
            <a:endParaRPr lang="en-US" sz="1300" dirty="0"/>
          </a:p>
        </p:txBody>
      </p:sp>
      <p:sp>
        <p:nvSpPr>
          <p:cNvPr id="13" name="Shape 11"/>
          <p:cNvSpPr/>
          <p:nvPr/>
        </p:nvSpPr>
        <p:spPr>
          <a:xfrm>
            <a:off x="9595247" y="1661993"/>
            <a:ext cx="382667" cy="382667"/>
          </a:xfrm>
          <a:prstGeom prst="roundRect">
            <a:avLst>
              <a:gd name="adj" fmla="val 2390"/>
            </a:avLst>
          </a:prstGeom>
          <a:solidFill>
            <a:srgbClr val="F2EEEE"/>
          </a:solidFill>
          <a:ln w="7620">
            <a:solidFill>
              <a:srgbClr val="D8D4D4"/>
            </a:solidFill>
            <a:prstDash val="solid"/>
          </a:ln>
        </p:spPr>
      </p:sp>
      <p:sp>
        <p:nvSpPr>
          <p:cNvPr id="14" name="Text 12"/>
          <p:cNvSpPr/>
          <p:nvPr/>
        </p:nvSpPr>
        <p:spPr>
          <a:xfrm>
            <a:off x="9659005" y="1693843"/>
            <a:ext cx="255151" cy="318968"/>
          </a:xfrm>
          <a:prstGeom prst="rect">
            <a:avLst/>
          </a:prstGeom>
          <a:noFill/>
          <a:ln/>
        </p:spPr>
        <p:txBody>
          <a:bodyPr wrap="none" lIns="0" tIns="0" rIns="0" bIns="0" rtlCol="0" anchor="t"/>
          <a:lstStyle/>
          <a:p>
            <a:pPr algn="ctr" indent="0" marL="0">
              <a:lnSpc>
                <a:spcPts val="2000"/>
              </a:lnSpc>
              <a:buNone/>
            </a:pPr>
            <a:r>
              <a:rPr lang="en-US" sz="2000" dirty="0">
                <a:solidFill>
                  <a:srgbClr val="3B3535"/>
                </a:solidFill>
                <a:latin typeface="Roboto Mono Medium" pitchFamily="34" charset="0"/>
                <a:ea typeface="Roboto Mono Medium" pitchFamily="34" charset="-122"/>
                <a:cs typeface="Roboto Mono Medium" pitchFamily="34" charset="-120"/>
              </a:rPr>
              <a:t>3</a:t>
            </a:r>
            <a:endParaRPr lang="en-US" sz="2000" dirty="0"/>
          </a:p>
        </p:txBody>
      </p:sp>
      <p:sp>
        <p:nvSpPr>
          <p:cNvPr id="15" name="Text 13"/>
          <p:cNvSpPr/>
          <p:nvPr/>
        </p:nvSpPr>
        <p:spPr>
          <a:xfrm>
            <a:off x="10105430" y="1720453"/>
            <a:ext cx="3731181" cy="531495"/>
          </a:xfrm>
          <a:prstGeom prst="rect">
            <a:avLst/>
          </a:prstGeom>
          <a:noFill/>
          <a:ln/>
        </p:spPr>
        <p:txBody>
          <a:bodyPr wrap="square" lIns="0" tIns="0" rIns="0" bIns="0" rtlCol="0" anchor="t"/>
          <a:lstStyle/>
          <a:p>
            <a:pPr algn="l" indent="0" marL="0">
              <a:lnSpc>
                <a:spcPts val="2050"/>
              </a:lnSpc>
              <a:buNone/>
            </a:pPr>
            <a:r>
              <a:rPr lang="en-US" sz="1650" dirty="0">
                <a:solidFill>
                  <a:srgbClr val="3B3535"/>
                </a:solidFill>
                <a:latin typeface="Roboto Mono Medium" pitchFamily="34" charset="0"/>
                <a:ea typeface="Roboto Mono Medium" pitchFamily="34" charset="-122"/>
                <a:cs typeface="Roboto Mono Medium" pitchFamily="34" charset="-120"/>
              </a:rPr>
              <a:t>Finetuning por el application developer (vos)</a:t>
            </a:r>
            <a:endParaRPr lang="en-US" sz="1650" dirty="0"/>
          </a:p>
        </p:txBody>
      </p:sp>
      <p:sp>
        <p:nvSpPr>
          <p:cNvPr id="16" name="Text 14"/>
          <p:cNvSpPr/>
          <p:nvPr/>
        </p:nvSpPr>
        <p:spPr>
          <a:xfrm>
            <a:off x="10105430" y="2328386"/>
            <a:ext cx="3731181" cy="952500"/>
          </a:xfrm>
          <a:prstGeom prst="rect">
            <a:avLst/>
          </a:prstGeom>
          <a:noFill/>
          <a:ln/>
        </p:spPr>
        <p:txBody>
          <a:bodyPr wrap="square" lIns="0" tIns="0" rIns="0" bIns="0" rtlCol="0" anchor="t"/>
          <a:lstStyle/>
          <a:p>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Partís del modelo alineado. Según Huyen: "any training that happens after pre-training is finetuning" — lo que hacen los proveedores y lo que hacés vos es el mismo tipo de proceso.</a:t>
            </a:r>
            <a:endParaRPr lang="en-US" sz="1300" dirty="0"/>
          </a:p>
        </p:txBody>
      </p:sp>
      <p:sp>
        <p:nvSpPr>
          <p:cNvPr id="17" name="Text 15"/>
          <p:cNvSpPr/>
          <p:nvPr/>
        </p:nvSpPr>
        <p:spPr>
          <a:xfrm>
            <a:off x="1048941" y="6591062"/>
            <a:ext cx="12787670" cy="238125"/>
          </a:xfrm>
          <a:prstGeom prst="rect">
            <a:avLst/>
          </a:prstGeom>
          <a:noFill/>
          <a:ln/>
        </p:spPr>
        <p:txBody>
          <a:bodyPr wrap="none" lIns="0" tIns="0" rIns="0" bIns="0" rtlCol="0" anchor="t"/>
          <a:lstStyle/>
          <a:p>
            <a:pPr algn="l" indent="0" marL="0">
              <a:lnSpc>
                <a:spcPts val="1850"/>
              </a:lnSpc>
              <a:buNone/>
            </a:pPr>
            <a:r>
              <a:rPr lang="en-US" sz="1300" b="1" dirty="0">
                <a:solidFill>
                  <a:srgbClr val="3B3535"/>
                </a:solidFill>
                <a:latin typeface="Roboto" pitchFamily="34" charset="0"/>
                <a:ea typeface="Roboto" pitchFamily="34" charset="-122"/>
                <a:cs typeface="Roboto" pitchFamily="34" charset="-120"/>
              </a:rPr>
              <a:t>Analogía:</a:t>
            </a:r>
            <a:pPr algn="l" indent="0" marL="0">
              <a:lnSpc>
                <a:spcPts val="1850"/>
              </a:lnSpc>
              <a:buNone/>
            </a:pPr>
            <a:r>
              <a:rPr lang="en-US" sz="1300" dirty="0">
                <a:solidFill>
                  <a:srgbClr val="3B3535"/>
                </a:solidFill>
                <a:latin typeface="Roboto" pitchFamily="34" charset="0"/>
                <a:ea typeface="Roboto" pitchFamily="34" charset="-122"/>
                <a:cs typeface="Roboto" pitchFamily="34" charset="-120"/>
              </a:rPr>
              <a:t> </a:t>
            </a:r>
            <a:pPr algn="l" indent="0" marL="0">
              <a:lnSpc>
                <a:spcPts val="1850"/>
              </a:lnSpc>
              <a:buNone/>
            </a:pPr>
            <a:r>
              <a:rPr lang="en-US" sz="1300" i="1" dirty="0">
                <a:solidFill>
                  <a:srgbClr val="3B3535"/>
                </a:solidFill>
                <a:latin typeface="Roboto" pitchFamily="34" charset="0"/>
                <a:ea typeface="Roboto" pitchFamily="34" charset="-122"/>
                <a:cs typeface="Roboto" pitchFamily="34" charset="-120"/>
              </a:rPr>
              <a:t>pre-training es como leer para adquirir conocimiento; post-training es como aprender a usar ese conocimiento.</a:t>
            </a:r>
            <a:endParaRPr lang="en-US" sz="1300" dirty="0"/>
          </a:p>
        </p:txBody>
      </p:sp>
      <p:sp>
        <p:nvSpPr>
          <p:cNvPr id="18" name="Shape 16"/>
          <p:cNvSpPr/>
          <p:nvPr/>
        </p:nvSpPr>
        <p:spPr>
          <a:xfrm>
            <a:off x="793790" y="6447592"/>
            <a:ext cx="22860" cy="525066"/>
          </a:xfrm>
          <a:prstGeom prst="rect">
            <a:avLst/>
          </a:prstGeom>
          <a:solidFill>
            <a:srgbClr val="DA1B2E"/>
          </a:solidFill>
          <a:ln/>
        </p:spPr>
      </p:sp>
      <p:sp>
        <p:nvSpPr>
          <p:cNvPr id="19" name="Text 17"/>
          <p:cNvSpPr/>
          <p:nvPr/>
        </p:nvSpPr>
        <p:spPr>
          <a:xfrm>
            <a:off x="793790" y="7116128"/>
            <a:ext cx="13042821" cy="238125"/>
          </a:xfrm>
          <a:prstGeom prst="rect">
            <a:avLst/>
          </a:prstGeom>
          <a:noFill/>
          <a:ln/>
        </p:spPr>
        <p:txBody>
          <a:bodyPr wrap="none" lIns="0" tIns="0" rIns="0" bIns="0" rtlCol="0" anchor="t"/>
          <a:lstStyle/>
          <a:p>
            <a:pPr algn="l" indent="0" marL="0">
              <a:lnSpc>
                <a:spcPts val="1850"/>
              </a:lnSpc>
              <a:buNone/>
            </a:pPr>
            <a:r>
              <a:rPr lang="en-US" sz="1300" i="1" dirty="0">
                <a:solidFill>
                  <a:srgbClr val="3B3535"/>
                </a:solidFill>
                <a:latin typeface="Roboto" pitchFamily="34" charset="0"/>
                <a:ea typeface="Roboto" pitchFamily="34" charset="-122"/>
                <a:cs typeface="Roboto" pitchFamily="34" charset="-120"/>
              </a:rPr>
              <a:t>Ref: Chip Huyen, AI Engineering (2025), Cap. 2 (Post-Training) y Cap. 7 (Finetuning)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075" y="626507"/>
            <a:ext cx="9178409" cy="637342"/>
          </a:xfrm>
          <a:prstGeom prst="rect">
            <a:avLst/>
          </a:prstGeom>
          <a:noFill/>
          <a:ln/>
        </p:spPr>
        <p:txBody>
          <a:bodyPr wrap="none" lIns="0" tIns="0" rIns="0" bIns="0" rtlCol="0" anchor="t"/>
          <a:lstStyle/>
          <a:p>
            <a:pPr algn="l" indent="0" marL="0">
              <a:lnSpc>
                <a:spcPts val="5000"/>
              </a:lnSpc>
              <a:buNone/>
            </a:pPr>
            <a:r>
              <a:rPr lang="en-US" sz="4000" dirty="0">
                <a:solidFill>
                  <a:srgbClr val="1F1E1E"/>
                </a:solidFill>
                <a:latin typeface="Roboto Mono Medium" pitchFamily="34" charset="0"/>
                <a:ea typeface="Roboto Mono Medium" pitchFamily="34" charset="-122"/>
                <a:cs typeface="Roboto Mono Medium" pitchFamily="34" charset="-120"/>
              </a:rPr>
              <a:t>Finetuning = transfer learning</a:t>
            </a:r>
            <a:endParaRPr lang="en-US" sz="4000" dirty="0"/>
          </a:p>
        </p:txBody>
      </p:sp>
      <p:sp>
        <p:nvSpPr>
          <p:cNvPr id="3" name="Shape 1"/>
          <p:cNvSpPr/>
          <p:nvPr/>
        </p:nvSpPr>
        <p:spPr>
          <a:xfrm>
            <a:off x="793075" y="1630561"/>
            <a:ext cx="13044249" cy="1120854"/>
          </a:xfrm>
          <a:prstGeom prst="roundRect">
            <a:avLst>
              <a:gd name="adj" fmla="val 816"/>
            </a:avLst>
          </a:prstGeom>
          <a:solidFill>
            <a:srgbClr val="F7BBC1"/>
          </a:solidFill>
          <a:ln/>
        </p:spPr>
      </p:sp>
      <p:pic>
        <p:nvPicPr>
          <p:cNvPr id="4" name="Image 0" descr="preencoded.png">    </p:cNvPr>
          <p:cNvPicPr>
            <a:picLocks noChangeAspect="1"/>
          </p:cNvPicPr>
          <p:nvPr/>
        </p:nvPicPr>
        <p:blipFill>
          <a:blip r:embed="rId1"/>
          <a:stretch>
            <a:fillRect/>
          </a:stretch>
        </p:blipFill>
        <p:spPr>
          <a:xfrm>
            <a:off x="997029" y="1927979"/>
            <a:ext cx="254913" cy="203954"/>
          </a:xfrm>
          <a:prstGeom prst="rect">
            <a:avLst/>
          </a:prstGeom>
        </p:spPr>
      </p:pic>
      <p:sp>
        <p:nvSpPr>
          <p:cNvPr id="5" name="Text 2"/>
          <p:cNvSpPr/>
          <p:nvPr/>
        </p:nvSpPr>
        <p:spPr>
          <a:xfrm>
            <a:off x="1455896" y="1864876"/>
            <a:ext cx="12177474" cy="619601"/>
          </a:xfrm>
          <a:prstGeom prst="rect">
            <a:avLst/>
          </a:prstGeom>
          <a:noFill/>
          <a:ln/>
        </p:spPr>
        <p:txBody>
          <a:bodyPr wrap="square" lIns="0" tIns="0" rIns="0" bIns="0" rtlCol="0" anchor="t"/>
          <a:lstStyle/>
          <a:p>
            <a:pPr algn="l" indent="0" marL="0">
              <a:lnSpc>
                <a:spcPts val="2400"/>
              </a:lnSpc>
              <a:buNone/>
            </a:pPr>
            <a:r>
              <a:rPr lang="en-US" sz="1600" b="1" dirty="0">
                <a:solidFill>
                  <a:srgbClr val="000000"/>
                </a:solidFill>
                <a:latin typeface="Roboto" pitchFamily="34" charset="0"/>
                <a:ea typeface="Roboto" pitchFamily="34" charset="-122"/>
                <a:cs typeface="Roboto" pitchFamily="34" charset="-120"/>
              </a:rPr>
              <a:t>La idea central:</a:t>
            </a:r>
            <a:pPr algn="l" indent="0" marL="0">
              <a:lnSpc>
                <a:spcPts val="2400"/>
              </a:lnSpc>
              <a:buNone/>
            </a:pPr>
            <a:r>
              <a:rPr lang="en-US" sz="1600" dirty="0">
                <a:solidFill>
                  <a:srgbClr val="000000"/>
                </a:solidFill>
                <a:latin typeface="Roboto" pitchFamily="34" charset="0"/>
                <a:ea typeface="Roboto" pitchFamily="34" charset="-122"/>
                <a:cs typeface="Roboto" pitchFamily="34" charset="-120"/>
              </a:rPr>
              <a:t> El modelo ya tiene la mayor parte del conocimiento. El finetuning desbloquea capacidades que ya están ahí pero que son difíciles de acceder solo con prompting (InstructGPT, OpenAI 2022).</a:t>
            </a:r>
            <a:endParaRPr lang="en-US" sz="1600" dirty="0"/>
          </a:p>
        </p:txBody>
      </p:sp>
      <p:sp>
        <p:nvSpPr>
          <p:cNvPr id="6" name="Text 3"/>
          <p:cNvSpPr/>
          <p:nvPr/>
        </p:nvSpPr>
        <p:spPr>
          <a:xfrm>
            <a:off x="793075" y="3026450"/>
            <a:ext cx="5628442" cy="509826"/>
          </a:xfrm>
          <a:prstGeom prst="rect">
            <a:avLst/>
          </a:prstGeom>
          <a:noFill/>
          <a:ln/>
        </p:spPr>
        <p:txBody>
          <a:bodyPr wrap="none" lIns="0" tIns="0" rIns="0" bIns="0" rtlCol="0" anchor="t"/>
          <a:lstStyle/>
          <a:p>
            <a:pPr algn="l" indent="0" marL="0">
              <a:lnSpc>
                <a:spcPts val="4000"/>
              </a:lnSpc>
              <a:buNone/>
            </a:pPr>
            <a:r>
              <a:rPr lang="en-US" sz="3200" dirty="0">
                <a:solidFill>
                  <a:srgbClr val="1F1E1E"/>
                </a:solidFill>
                <a:latin typeface="Roboto Mono Medium" pitchFamily="34" charset="0"/>
                <a:ea typeface="Roboto Mono Medium" pitchFamily="34" charset="-122"/>
                <a:cs typeface="Roboto Mono Medium" pitchFamily="34" charset="-120"/>
              </a:rPr>
              <a:t>¿Quién hace cada etapa?</a:t>
            </a:r>
            <a:endParaRPr lang="en-US" sz="3200" dirty="0"/>
          </a:p>
        </p:txBody>
      </p:sp>
      <p:sp>
        <p:nvSpPr>
          <p:cNvPr id="7" name="Text 4"/>
          <p:cNvSpPr/>
          <p:nvPr/>
        </p:nvSpPr>
        <p:spPr>
          <a:xfrm>
            <a:off x="793075" y="3994666"/>
            <a:ext cx="6273403" cy="637223"/>
          </a:xfrm>
          <a:prstGeom prst="rect">
            <a:avLst/>
          </a:prstGeom>
          <a:noFill/>
          <a:ln/>
        </p:spPr>
        <p:txBody>
          <a:bodyPr wrap="square" lIns="0" tIns="0" rIns="0" bIns="0" rtlCol="0" anchor="t"/>
          <a:lstStyle/>
          <a:p>
            <a:pPr algn="l" indent="0" marL="0">
              <a:lnSpc>
                <a:spcPts val="2500"/>
              </a:lnSpc>
              <a:buNone/>
            </a:pPr>
            <a:r>
              <a:rPr lang="en-US" sz="2000" dirty="0">
                <a:solidFill>
                  <a:srgbClr val="1F1E1E"/>
                </a:solidFill>
                <a:latin typeface="Roboto Mono Medium" pitchFamily="34" charset="0"/>
                <a:ea typeface="Roboto Mono Medium" pitchFamily="34" charset="-122"/>
                <a:cs typeface="Roboto Mono Medium" pitchFamily="34" charset="-120"/>
              </a:rPr>
              <a:t>Model developers (OpenAI, Meta, Anthropic)</a:t>
            </a:r>
            <a:endParaRPr lang="en-US" sz="2000" dirty="0"/>
          </a:p>
        </p:txBody>
      </p:sp>
      <p:sp>
        <p:nvSpPr>
          <p:cNvPr id="8" name="Text 5"/>
          <p:cNvSpPr/>
          <p:nvPr/>
        </p:nvSpPr>
        <p:spPr>
          <a:xfrm>
            <a:off x="793075" y="4815245"/>
            <a:ext cx="6273403" cy="30980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Pre-training + SFT + preference FT → liberan el modelo alineado.</a:t>
            </a:r>
            <a:endParaRPr lang="en-US" sz="1600" dirty="0"/>
          </a:p>
        </p:txBody>
      </p:sp>
      <p:sp>
        <p:nvSpPr>
          <p:cNvPr id="9" name="Text 6"/>
          <p:cNvSpPr/>
          <p:nvPr/>
        </p:nvSpPr>
        <p:spPr>
          <a:xfrm>
            <a:off x="793075" y="5290066"/>
            <a:ext cx="6273403" cy="30980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Cuanto más refinado esté, menos trabajo tenés que hacer vos.</a:t>
            </a:r>
            <a:endParaRPr lang="en-US" sz="1600" dirty="0"/>
          </a:p>
        </p:txBody>
      </p:sp>
      <p:sp>
        <p:nvSpPr>
          <p:cNvPr id="10" name="Text 7"/>
          <p:cNvSpPr/>
          <p:nvPr/>
        </p:nvSpPr>
        <p:spPr>
          <a:xfrm>
            <a:off x="793075" y="5764887"/>
            <a:ext cx="6273403" cy="929402"/>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El costo de crear datos de SFT es alto: ~$10 por par (prompt, response). InstructGPT usó 13.000 pares → ~$130.000 solo en datos.</a:t>
            </a:r>
            <a:endParaRPr lang="en-US" sz="1600" dirty="0"/>
          </a:p>
        </p:txBody>
      </p:sp>
      <p:sp>
        <p:nvSpPr>
          <p:cNvPr id="11" name="Text 8"/>
          <p:cNvSpPr/>
          <p:nvPr/>
        </p:nvSpPr>
        <p:spPr>
          <a:xfrm>
            <a:off x="7571542" y="3994666"/>
            <a:ext cx="6116122" cy="318611"/>
          </a:xfrm>
          <a:prstGeom prst="rect">
            <a:avLst/>
          </a:prstGeom>
          <a:noFill/>
          <a:ln/>
        </p:spPr>
        <p:txBody>
          <a:bodyPr wrap="none" lIns="0" tIns="0" rIns="0" bIns="0" rtlCol="0" anchor="t"/>
          <a:lstStyle/>
          <a:p>
            <a:pPr algn="l" indent="0" marL="0">
              <a:lnSpc>
                <a:spcPts val="2500"/>
              </a:lnSpc>
              <a:buNone/>
            </a:pPr>
            <a:r>
              <a:rPr lang="en-US" sz="2000" dirty="0">
                <a:solidFill>
                  <a:srgbClr val="1F1E1E"/>
                </a:solidFill>
                <a:latin typeface="Roboto Mono Medium" pitchFamily="34" charset="0"/>
                <a:ea typeface="Roboto Mono Medium" pitchFamily="34" charset="-122"/>
                <a:cs typeface="Roboto Mono Medium" pitchFamily="34" charset="-120"/>
              </a:rPr>
              <a:t>Application developers (vos / tu equipo)</a:t>
            </a:r>
            <a:endParaRPr lang="en-US" sz="2000" dirty="0"/>
          </a:p>
        </p:txBody>
      </p:sp>
      <p:sp>
        <p:nvSpPr>
          <p:cNvPr id="12" name="Text 9"/>
          <p:cNvSpPr/>
          <p:nvPr/>
        </p:nvSpPr>
        <p:spPr>
          <a:xfrm>
            <a:off x="7571542" y="4496633"/>
            <a:ext cx="6273403" cy="30980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Partís del modelo alineado y podés:</a:t>
            </a:r>
            <a:endParaRPr lang="en-US" sz="1600" dirty="0"/>
          </a:p>
        </p:txBody>
      </p:sp>
      <p:sp>
        <p:nvSpPr>
          <p:cNvPr id="13" name="Text 10"/>
          <p:cNvSpPr/>
          <p:nvPr/>
        </p:nvSpPr>
        <p:spPr>
          <a:xfrm>
            <a:off x="7571542" y="4971455"/>
            <a:ext cx="6273403" cy="2051328"/>
          </a:xfrm>
          <a:prstGeom prst="rect">
            <a:avLst/>
          </a:prstGeom>
          <a:noFill/>
          <a:ln/>
        </p:spPr>
        <p:txBody>
          <a:bodyPr wrap="square" lIns="0" tIns="0" rIns="0" bIns="0" rtlCol="0" anchor="t"/>
          <a:lstStyle/>
          <a:p>
            <a:pPr algn="l" marL="342900" indent="-342900">
              <a:lnSpc>
                <a:spcPts val="2400"/>
              </a:lnSpc>
              <a:buSzPct val="100000"/>
              <a:buFont typeface="+mj-lt"/>
              <a:buAutoNum type="arabicPeriod" startAt="1"/>
            </a:pPr>
            <a:r>
              <a:rPr lang="en-US" sz="1600" dirty="0">
                <a:solidFill>
                  <a:srgbClr val="3B3535"/>
                </a:solidFill>
                <a:latin typeface="Roboto" pitchFamily="34" charset="0"/>
                <a:ea typeface="Roboto" pitchFamily="34" charset="-122"/>
                <a:cs typeface="Roboto" pitchFamily="34" charset="-120"/>
              </a:rPr>
              <a:t>Prompting → no tocás el modelo, solo el input</a:t>
            </a:r>
            <a:endParaRPr lang="en-US" sz="1600" dirty="0"/>
          </a:p>
          <a:p>
            <a:pPr algn="l" marL="342900" indent="-342900">
              <a:lnSpc>
                <a:spcPts val="2400"/>
              </a:lnSpc>
              <a:buSzPct val="100000"/>
              <a:buFont typeface="+mj-lt"/>
              <a:buAutoNum type="arabicPeriod" startAt="2"/>
            </a:pPr>
            <a:r>
              <a:rPr lang="en-US" sz="1600" dirty="0">
                <a:solidFill>
                  <a:srgbClr val="3B3535"/>
                </a:solidFill>
                <a:latin typeface="Roboto" pitchFamily="34" charset="0"/>
                <a:ea typeface="Roboto" pitchFamily="34" charset="-122"/>
                <a:cs typeface="Roboto" pitchFamily="34" charset="-120"/>
              </a:rPr>
              <a:t>RAG → le das mejor contexto, el modelo sigue igual</a:t>
            </a:r>
            <a:endParaRPr lang="en-US" sz="1600" dirty="0"/>
          </a:p>
          <a:p>
            <a:pPr algn="l" marL="342900" indent="-342900">
              <a:lnSpc>
                <a:spcPts val="2400"/>
              </a:lnSpc>
              <a:buSzPct val="100000"/>
              <a:buFont typeface="+mj-lt"/>
              <a:buAutoNum type="arabicPeriod" startAt="3"/>
            </a:pPr>
            <a:r>
              <a:rPr lang="en-US" sz="1600" dirty="0">
                <a:solidFill>
                  <a:srgbClr val="3B3535"/>
                </a:solidFill>
                <a:latin typeface="Roboto" pitchFamily="34" charset="0"/>
                <a:ea typeface="Roboto" pitchFamily="34" charset="-122"/>
                <a:cs typeface="Roboto" pitchFamily="34" charset="-120"/>
              </a:rPr>
              <a:t>Continued pre-training → entrenás con texto de tu dominio (sin anotar)</a:t>
            </a:r>
            <a:endParaRPr lang="en-US" sz="1600" dirty="0"/>
          </a:p>
          <a:p>
            <a:pPr algn="l" marL="342900" indent="-342900">
              <a:lnSpc>
                <a:spcPts val="2400"/>
              </a:lnSpc>
              <a:buSzPct val="100000"/>
              <a:buFont typeface="+mj-lt"/>
              <a:buAutoNum type="arabicPeriod" startAt="4"/>
            </a:pPr>
            <a:r>
              <a:rPr lang="en-US" sz="1600" dirty="0">
                <a:solidFill>
                  <a:srgbClr val="3B3535"/>
                </a:solidFill>
                <a:latin typeface="Roboto" pitchFamily="34" charset="0"/>
                <a:ea typeface="Roboto" pitchFamily="34" charset="-122"/>
                <a:cs typeface="Roboto" pitchFamily="34" charset="-120"/>
              </a:rPr>
              <a:t>Supervised FT → entrenás con pares (instrucción, respuesta) de tu tarea</a:t>
            </a:r>
            <a:endParaRPr lang="en-US" sz="1600" dirty="0"/>
          </a:p>
        </p:txBody>
      </p:sp>
      <p:sp>
        <p:nvSpPr>
          <p:cNvPr id="14" name="Text 11"/>
          <p:cNvSpPr/>
          <p:nvPr/>
        </p:nvSpPr>
        <p:spPr>
          <a:xfrm>
            <a:off x="793075" y="7293173"/>
            <a:ext cx="13044249" cy="309801"/>
          </a:xfrm>
          <a:prstGeom prst="rect">
            <a:avLst/>
          </a:prstGeom>
          <a:noFill/>
          <a:ln/>
        </p:spPr>
        <p:txBody>
          <a:bodyPr wrap="none" lIns="0" tIns="0" rIns="0" bIns="0" rtlCol="0" anchor="t"/>
          <a:lstStyle/>
          <a:p>
            <a:pPr algn="l" indent="0" marL="0">
              <a:lnSpc>
                <a:spcPts val="2400"/>
              </a:lnSpc>
              <a:buNone/>
            </a:pPr>
            <a:r>
              <a:rPr lang="en-US" sz="1600" i="1" dirty="0">
                <a:solidFill>
                  <a:srgbClr val="3B3535"/>
                </a:solidFill>
                <a:latin typeface="Roboto" pitchFamily="34" charset="0"/>
                <a:ea typeface="Roboto" pitchFamily="34" charset="-122"/>
                <a:cs typeface="Roboto" pitchFamily="34" charset="-120"/>
              </a:rPr>
              <a:t>La mayoría de los casos se resuelven con 1 y 2. Los pasos 3 y 4 requieren datos de calidad, infraestructura y evaluación rigurosa.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313736"/>
            <a:ext cx="7170658"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Modelo fundacional</a:t>
            </a:r>
            <a:endParaRPr lang="en-US" sz="4450" dirty="0"/>
          </a:p>
        </p:txBody>
      </p:sp>
      <p:sp>
        <p:nvSpPr>
          <p:cNvPr id="3" name="Text 1"/>
          <p:cNvSpPr/>
          <p:nvPr/>
        </p:nvSpPr>
        <p:spPr>
          <a:xfrm>
            <a:off x="793790" y="249900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Un LLM base (GPT-4, Claude, LLaMA, Gemini):</a:t>
            </a:r>
            <a:endParaRPr lang="en-US" sz="1750" dirty="0"/>
          </a:p>
        </p:txBody>
      </p:sp>
      <p:sp>
        <p:nvSpPr>
          <p:cNvPr id="4" name="Text 2"/>
          <p:cNvSpPr/>
          <p:nvPr/>
        </p:nvSpPr>
        <p:spPr>
          <a:xfrm>
            <a:off x="793790" y="3117056"/>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Es generalista: sabe de muchos temas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Tiene conocimiento médico parcial (PubMed, libros, Wikipedia médica)</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No está especializado en un dominio clínico particular</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No fue validado para uso médico</a:t>
            </a:r>
            <a:endParaRPr lang="en-US" sz="1750" dirty="0"/>
          </a:p>
        </p:txBody>
      </p:sp>
      <p:sp>
        <p:nvSpPr>
          <p:cNvPr id="5" name="Text 3"/>
          <p:cNvSpPr/>
          <p:nvPr/>
        </p:nvSpPr>
        <p:spPr>
          <a:xfrm>
            <a:off x="1133951" y="5316855"/>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Necesitamos respuestas confiables en un dominio donde un error puede costar una vida</a:t>
            </a:r>
            <a:endParaRPr lang="en-US" sz="1750" dirty="0"/>
          </a:p>
        </p:txBody>
      </p:sp>
      <p:sp>
        <p:nvSpPr>
          <p:cNvPr id="6" name="Shape 4"/>
          <p:cNvSpPr/>
          <p:nvPr/>
        </p:nvSpPr>
        <p:spPr>
          <a:xfrm>
            <a:off x="793790" y="5061704"/>
            <a:ext cx="30480" cy="873204"/>
          </a:xfrm>
          <a:prstGeom prst="rect">
            <a:avLst/>
          </a:prstGeom>
          <a:solidFill>
            <a:srgbClr val="DA1B2E"/>
          </a:solidFill>
          <a:ln/>
        </p:spPr>
      </p:sp>
      <p:sp>
        <p:nvSpPr>
          <p:cNvPr id="7" name="Text 5"/>
          <p:cNvSpPr/>
          <p:nvPr/>
        </p:nvSpPr>
        <p:spPr>
          <a:xfrm>
            <a:off x="793790" y="619005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tan preciso es en el USMLE? ¿Puede resumir sin omitir info crítica? ¿Alucina dosis?</a:t>
            </a:r>
            <a:endParaRPr lang="en-US" sz="1750" dirty="0"/>
          </a:p>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Para responder → necesitamos evaluar.</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Agenda</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01</a:t>
            </a:r>
            <a:endParaRPr lang="en-US" sz="1750" dirty="0"/>
          </a:p>
        </p:txBody>
      </p:sp>
      <p:sp>
        <p:nvSpPr>
          <p:cNvPr id="4" name="Shape 2"/>
          <p:cNvSpPr/>
          <p:nvPr/>
        </p:nvSpPr>
        <p:spPr>
          <a:xfrm>
            <a:off x="793790" y="3203496"/>
            <a:ext cx="4196358" cy="30480"/>
          </a:xfrm>
          <a:prstGeom prst="rect">
            <a:avLst/>
          </a:prstGeom>
          <a:solidFill>
            <a:srgbClr val="DA1B2E"/>
          </a:solidFill>
          <a:ln/>
        </p:spPr>
      </p:sp>
      <p:sp>
        <p:nvSpPr>
          <p:cNvPr id="5" name="Text 3"/>
          <p:cNvSpPr/>
          <p:nvPr/>
        </p:nvSpPr>
        <p:spPr>
          <a:xfrm>
            <a:off x="793790"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Repaso</a:t>
            </a:r>
            <a:endParaRPr lang="en-US" sz="2200" dirty="0"/>
          </a:p>
        </p:txBody>
      </p:sp>
      <p:sp>
        <p:nvSpPr>
          <p:cNvPr id="6" name="Text 4"/>
          <p:cNvSpPr/>
          <p:nvPr/>
        </p:nvSpPr>
        <p:spPr>
          <a:xfrm>
            <a:off x="793790"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es un LLM y cómo se entrena?</a:t>
            </a:r>
            <a:endParaRPr lang="en-US" sz="1750" dirty="0"/>
          </a:p>
        </p:txBody>
      </p:sp>
      <p:sp>
        <p:nvSpPr>
          <p:cNvPr id="7" name="Text 5"/>
          <p:cNvSpPr/>
          <p:nvPr/>
        </p:nvSpPr>
        <p:spPr>
          <a:xfrm>
            <a:off x="5216962"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02</a:t>
            </a:r>
            <a:endParaRPr lang="en-US" sz="1750" dirty="0"/>
          </a:p>
        </p:txBody>
      </p:sp>
      <p:sp>
        <p:nvSpPr>
          <p:cNvPr id="8" name="Shape 6"/>
          <p:cNvSpPr/>
          <p:nvPr/>
        </p:nvSpPr>
        <p:spPr>
          <a:xfrm>
            <a:off x="5216962" y="3203496"/>
            <a:ext cx="4196358" cy="30480"/>
          </a:xfrm>
          <a:prstGeom prst="rect">
            <a:avLst/>
          </a:prstGeom>
          <a:solidFill>
            <a:srgbClr val="DA1B2E"/>
          </a:solidFill>
          <a:ln/>
        </p:spPr>
      </p:sp>
      <p:sp>
        <p:nvSpPr>
          <p:cNvPr id="9" name="Text 7"/>
          <p:cNvSpPr/>
          <p:nvPr/>
        </p:nvSpPr>
        <p:spPr>
          <a:xfrm>
            <a:off x="5216962"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Evaluación</a:t>
            </a:r>
            <a:endParaRPr lang="en-US" sz="2200" dirty="0"/>
          </a:p>
        </p:txBody>
      </p:sp>
      <p:sp>
        <p:nvSpPr>
          <p:cNvPr id="10" name="Text 8"/>
          <p:cNvSpPr/>
          <p:nvPr/>
        </p:nvSpPr>
        <p:spPr>
          <a:xfrm>
            <a:off x="5216962" y="3868222"/>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Métricas, benchmarks y evaluación humana</a:t>
            </a:r>
            <a:endParaRPr lang="en-US" sz="1750" dirty="0"/>
          </a:p>
        </p:txBody>
      </p:sp>
      <p:sp>
        <p:nvSpPr>
          <p:cNvPr id="11" name="Text 9"/>
          <p:cNvSpPr/>
          <p:nvPr/>
        </p:nvSpPr>
        <p:spPr>
          <a:xfrm>
            <a:off x="9640133"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03</a:t>
            </a:r>
            <a:endParaRPr lang="en-US" sz="1750" dirty="0"/>
          </a:p>
        </p:txBody>
      </p:sp>
      <p:sp>
        <p:nvSpPr>
          <p:cNvPr id="12" name="Shape 10"/>
          <p:cNvSpPr/>
          <p:nvPr/>
        </p:nvSpPr>
        <p:spPr>
          <a:xfrm>
            <a:off x="9640133" y="3203496"/>
            <a:ext cx="4196358" cy="30480"/>
          </a:xfrm>
          <a:prstGeom prst="rect">
            <a:avLst/>
          </a:prstGeom>
          <a:solidFill>
            <a:srgbClr val="DA1B2E"/>
          </a:solidFill>
          <a:ln/>
        </p:spPr>
      </p:sp>
      <p:sp>
        <p:nvSpPr>
          <p:cNvPr id="13" name="Text 11"/>
          <p:cNvSpPr/>
          <p:nvPr/>
        </p:nvSpPr>
        <p:spPr>
          <a:xfrm>
            <a:off x="9640133"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Prompting</a:t>
            </a:r>
            <a:endParaRPr lang="en-US" sz="2200" dirty="0"/>
          </a:p>
        </p:txBody>
      </p:sp>
      <p:sp>
        <p:nvSpPr>
          <p:cNvPr id="14" name="Text 12"/>
          <p:cNvSpPr/>
          <p:nvPr/>
        </p:nvSpPr>
        <p:spPr>
          <a:xfrm>
            <a:off x="9640133"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Primera herramienta de mejora</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04</a:t>
            </a:r>
            <a:endParaRPr lang="en-US" sz="1750" dirty="0"/>
          </a:p>
        </p:txBody>
      </p:sp>
      <p:sp>
        <p:nvSpPr>
          <p:cNvPr id="16" name="Shape 14"/>
          <p:cNvSpPr/>
          <p:nvPr/>
        </p:nvSpPr>
        <p:spPr>
          <a:xfrm>
            <a:off x="793790" y="5345906"/>
            <a:ext cx="6407944" cy="30480"/>
          </a:xfrm>
          <a:prstGeom prst="rect">
            <a:avLst/>
          </a:prstGeom>
          <a:solidFill>
            <a:srgbClr val="DA1B2E"/>
          </a:solidFill>
          <a:ln/>
        </p:spPr>
      </p:sp>
      <p:sp>
        <p:nvSpPr>
          <p:cNvPr id="17" name="Text 15"/>
          <p:cNvSpPr/>
          <p:nvPr/>
        </p:nvSpPr>
        <p:spPr>
          <a:xfrm>
            <a:off x="793790"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Fine-tuning</a:t>
            </a:r>
            <a:endParaRPr lang="en-US" sz="2200" dirty="0"/>
          </a:p>
        </p:txBody>
      </p:sp>
      <p:sp>
        <p:nvSpPr>
          <p:cNvPr id="18" name="Text 16"/>
          <p:cNvSpPr/>
          <p:nvPr/>
        </p:nvSpPr>
        <p:spPr>
          <a:xfrm>
            <a:off x="793790"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Cuándo sí, cuándo no, y requisitos</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DA1B2E"/>
          </a:solidFill>
          <a:ln/>
        </p:spPr>
      </p:sp>
      <p:sp>
        <p:nvSpPr>
          <p:cNvPr id="21" name="Text 19"/>
          <p:cNvSpPr/>
          <p:nvPr/>
        </p:nvSpPr>
        <p:spPr>
          <a:xfrm>
            <a:off x="7428548"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Calidad de datos</a:t>
            </a:r>
            <a:endParaRPr lang="en-US" sz="2200" dirty="0"/>
          </a:p>
        </p:txBody>
      </p:sp>
      <p:sp>
        <p:nvSpPr>
          <p:cNvPr id="22" name="Text 20"/>
          <p:cNvSpPr/>
          <p:nvPr/>
        </p:nvSpPr>
        <p:spPr>
          <a:xfrm>
            <a:off x="7428548"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Garbage in → garbage out, datos sintéticos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024533"/>
            <a:ext cx="13042821" cy="1440418"/>
          </a:xfrm>
          <a:prstGeom prst="rect">
            <a:avLst/>
          </a:prstGeom>
          <a:noFill/>
          <a:ln/>
        </p:spPr>
        <p:txBody>
          <a:bodyPr wrap="squar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Evaluación: lo más importante de la clase</a:t>
            </a:r>
            <a:endParaRPr lang="en-US" sz="4450" dirty="0"/>
          </a:p>
        </p:txBody>
      </p:sp>
      <p:sp>
        <p:nvSpPr>
          <p:cNvPr id="3" name="Text 1"/>
          <p:cNvSpPr/>
          <p:nvPr/>
        </p:nvSpPr>
        <p:spPr>
          <a:xfrm>
            <a:off x="1133951" y="3173730"/>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Antes de intentar mejorar un modelo, tenemos que poder medirlo bien</a:t>
            </a:r>
            <a:endParaRPr lang="en-US" sz="1750" dirty="0"/>
          </a:p>
        </p:txBody>
      </p:sp>
      <p:sp>
        <p:nvSpPr>
          <p:cNvPr id="4" name="Shape 2"/>
          <p:cNvSpPr/>
          <p:nvPr/>
        </p:nvSpPr>
        <p:spPr>
          <a:xfrm>
            <a:off x="793790" y="2918579"/>
            <a:ext cx="30480" cy="873204"/>
          </a:xfrm>
          <a:prstGeom prst="rect">
            <a:avLst/>
          </a:prstGeom>
          <a:solidFill>
            <a:srgbClr val="DA1B2E"/>
          </a:solidFill>
          <a:ln/>
        </p:spPr>
      </p:sp>
      <p:sp>
        <p:nvSpPr>
          <p:cNvPr id="5" name="Text 3"/>
          <p:cNvSpPr/>
          <p:nvPr/>
        </p:nvSpPr>
        <p:spPr>
          <a:xfrm>
            <a:off x="793790" y="413194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F1E1E"/>
                </a:solidFill>
                <a:latin typeface="Roboto Mono Medium" pitchFamily="34" charset="0"/>
                <a:ea typeface="Roboto Mono Medium" pitchFamily="34" charset="-122"/>
                <a:cs typeface="Roboto Mono Medium" pitchFamily="34" charset="-120"/>
              </a:rPr>
              <a:t>¿Por qué?</a:t>
            </a:r>
            <a:endParaRPr lang="en-US" sz="2650" dirty="0"/>
          </a:p>
        </p:txBody>
      </p:sp>
      <p:sp>
        <p:nvSpPr>
          <p:cNvPr id="6" name="Text 4"/>
          <p:cNvSpPr/>
          <p:nvPr/>
        </p:nvSpPr>
        <p:spPr>
          <a:xfrm>
            <a:off x="793790" y="4897398"/>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Sin evaluación rigurosa, no sabés si el modelo sirve para tu tarea</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No sabés si un cambio lo mejoró o lo empeoró</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No podés comparar opciones (¿GPT-4 o Claude? ¿Prompt A o B?)</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No podés justificar su uso en un entorno clínico</a:t>
            </a:r>
            <a:endParaRPr lang="en-US" sz="1750" dirty="0"/>
          </a:p>
        </p:txBody>
      </p:sp>
      <p:sp>
        <p:nvSpPr>
          <p:cNvPr id="7" name="Text 5"/>
          <p:cNvSpPr/>
          <p:nvPr/>
        </p:nvSpPr>
        <p:spPr>
          <a:xfrm>
            <a:off x="793790" y="6842046"/>
            <a:ext cx="13042821"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La evaluación no es un paso final → es el primer paso de cualquier proyecto serio con LLMs.</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194673"/>
            <a:ext cx="5670590"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Error común</a:t>
            </a:r>
            <a:endParaRPr lang="en-US" sz="4450" dirty="0"/>
          </a:p>
        </p:txBody>
      </p:sp>
      <p:sp>
        <p:nvSpPr>
          <p:cNvPr id="3" name="Text 1"/>
          <p:cNvSpPr/>
          <p:nvPr/>
        </p:nvSpPr>
        <p:spPr>
          <a:xfrm>
            <a:off x="1133951" y="2635091"/>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"Le hice 2 preguntas y respondió bien, entonces funciona" — </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 Esto NO es evaluación</a:t>
            </a:r>
            <a:endParaRPr lang="en-US" sz="1750" dirty="0"/>
          </a:p>
        </p:txBody>
      </p:sp>
      <p:sp>
        <p:nvSpPr>
          <p:cNvPr id="4" name="Shape 2"/>
          <p:cNvSpPr/>
          <p:nvPr/>
        </p:nvSpPr>
        <p:spPr>
          <a:xfrm>
            <a:off x="793790" y="2379940"/>
            <a:ext cx="30480" cy="873204"/>
          </a:xfrm>
          <a:prstGeom prst="rect">
            <a:avLst/>
          </a:prstGeom>
          <a:solidFill>
            <a:srgbClr val="DA1B2E"/>
          </a:solidFill>
          <a:ln/>
        </p:spPr>
      </p:sp>
      <p:sp>
        <p:nvSpPr>
          <p:cNvPr id="5" name="Text 3"/>
          <p:cNvSpPr/>
          <p:nvPr/>
        </p:nvSpPr>
        <p:spPr>
          <a:xfrm>
            <a:off x="793790" y="350829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Problemas de este enfoque:</a:t>
            </a:r>
            <a:endParaRPr lang="en-US" sz="1750" dirty="0"/>
          </a:p>
        </p:txBody>
      </p:sp>
      <p:sp>
        <p:nvSpPr>
          <p:cNvPr id="6" name="Text 4"/>
          <p:cNvSpPr/>
          <p:nvPr/>
        </p:nvSpPr>
        <p:spPr>
          <a:xfrm>
            <a:off x="793790" y="4126349"/>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Sesgo de confirmación: elegiste preguntas fáciles o que ya sabías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Muestra ínfima: 2 ejemplos no representan nada</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Sin criterio definido: ¿qué significa "bien"? ¿correcto? ¿completo?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Sin comparación: ¿"bien" comparado con qué?</a:t>
            </a:r>
            <a:endParaRPr lang="en-US" sz="1750" dirty="0"/>
          </a:p>
        </p:txBody>
      </p:sp>
      <p:sp>
        <p:nvSpPr>
          <p:cNvPr id="7" name="Shape 5"/>
          <p:cNvSpPr/>
          <p:nvPr/>
        </p:nvSpPr>
        <p:spPr>
          <a:xfrm>
            <a:off x="793790" y="6070997"/>
            <a:ext cx="13042821" cy="963811"/>
          </a:xfrm>
          <a:prstGeom prst="roundRect">
            <a:avLst>
              <a:gd name="adj" fmla="val 949"/>
            </a:avLst>
          </a:prstGeom>
          <a:solidFill>
            <a:srgbClr val="F7BBC1"/>
          </a:solidFill>
          <a:ln/>
        </p:spPr>
      </p:sp>
      <p:pic>
        <p:nvPicPr>
          <p:cNvPr id="8" name="Image 0" descr="preencoded.png">    </p:cNvPr>
          <p:cNvPicPr>
            <a:picLocks noChangeAspect="1"/>
          </p:cNvPicPr>
          <p:nvPr/>
        </p:nvPicPr>
        <p:blipFill>
          <a:blip r:embed="rId1"/>
          <a:stretch>
            <a:fillRect/>
          </a:stretch>
        </p:blipFill>
        <p:spPr>
          <a:xfrm>
            <a:off x="1020604" y="6415088"/>
            <a:ext cx="283488" cy="226814"/>
          </a:xfrm>
          <a:prstGeom prst="rect">
            <a:avLst/>
          </a:prstGeom>
        </p:spPr>
      </p:pic>
      <p:sp>
        <p:nvSpPr>
          <p:cNvPr id="9" name="Text 6"/>
          <p:cNvSpPr/>
          <p:nvPr/>
        </p:nvSpPr>
        <p:spPr>
          <a:xfrm>
            <a:off x="1530906" y="6354485"/>
            <a:ext cx="1207889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Para evaluar en serio: dataset representativo, métricas cuantificables, criterios claros, línea base de comparación.</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904881"/>
            <a:ext cx="7510939"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Tipos de evaluación</a:t>
            </a:r>
            <a:endParaRPr lang="en-US" sz="4450" dirty="0"/>
          </a:p>
        </p:txBody>
      </p:sp>
      <p:sp>
        <p:nvSpPr>
          <p:cNvPr id="3" name="Shape 1"/>
          <p:cNvSpPr/>
          <p:nvPr/>
        </p:nvSpPr>
        <p:spPr>
          <a:xfrm>
            <a:off x="793790" y="3090148"/>
            <a:ext cx="13042821" cy="2616518"/>
          </a:xfrm>
          <a:prstGeom prst="roundRect">
            <a:avLst>
              <a:gd name="adj" fmla="val 349"/>
            </a:avLst>
          </a:prstGeom>
          <a:noFill/>
          <a:ln w="7620">
            <a:solidFill>
              <a:srgbClr val="000000">
                <a:alpha val="8000"/>
              </a:srgbClr>
            </a:solidFill>
            <a:prstDash val="solid"/>
          </a:ln>
        </p:spPr>
      </p:sp>
      <p:sp>
        <p:nvSpPr>
          <p:cNvPr id="4" name="Shape 2"/>
          <p:cNvSpPr/>
          <p:nvPr/>
        </p:nvSpPr>
        <p:spPr>
          <a:xfrm>
            <a:off x="801410" y="3097768"/>
            <a:ext cx="13027581" cy="650319"/>
          </a:xfrm>
          <a:prstGeom prst="rect">
            <a:avLst/>
          </a:prstGeom>
          <a:solidFill>
            <a:srgbClr val="FFFFFF">
              <a:alpha val="4000"/>
            </a:srgbClr>
          </a:solidFill>
          <a:ln/>
        </p:spPr>
      </p:sp>
      <p:sp>
        <p:nvSpPr>
          <p:cNvPr id="5" name="Text 3"/>
          <p:cNvSpPr/>
          <p:nvPr/>
        </p:nvSpPr>
        <p:spPr>
          <a:xfrm>
            <a:off x="1028462" y="3241477"/>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Concepto</a:t>
            </a:r>
            <a:endParaRPr lang="en-US" sz="1750" dirty="0"/>
          </a:p>
        </p:txBody>
      </p:sp>
      <p:sp>
        <p:nvSpPr>
          <p:cNvPr id="6" name="Text 4"/>
          <p:cNvSpPr/>
          <p:nvPr/>
        </p:nvSpPr>
        <p:spPr>
          <a:xfrm>
            <a:off x="3637717" y="3241477"/>
            <a:ext cx="3446978"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Qué mide</a:t>
            </a:r>
            <a:endParaRPr lang="en-US" sz="1750" dirty="0"/>
          </a:p>
        </p:txBody>
      </p:sp>
      <p:sp>
        <p:nvSpPr>
          <p:cNvPr id="7" name="Text 5"/>
          <p:cNvSpPr/>
          <p:nvPr/>
        </p:nvSpPr>
        <p:spPr>
          <a:xfrm>
            <a:off x="7545943" y="3241477"/>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Cuándo se usa</a:t>
            </a:r>
            <a:endParaRPr lang="en-US" sz="1750" dirty="0"/>
          </a:p>
        </p:txBody>
      </p:sp>
      <p:sp>
        <p:nvSpPr>
          <p:cNvPr id="8" name="Text 6"/>
          <p:cNvSpPr/>
          <p:nvPr/>
        </p:nvSpPr>
        <p:spPr>
          <a:xfrm>
            <a:off x="10802779" y="3241477"/>
            <a:ext cx="279939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Ejemplo</a:t>
            </a:r>
            <a:endParaRPr lang="en-US" sz="1750" dirty="0"/>
          </a:p>
        </p:txBody>
      </p:sp>
      <p:sp>
        <p:nvSpPr>
          <p:cNvPr id="9" name="Shape 7"/>
          <p:cNvSpPr/>
          <p:nvPr/>
        </p:nvSpPr>
        <p:spPr>
          <a:xfrm>
            <a:off x="801410" y="3748088"/>
            <a:ext cx="13027581" cy="650319"/>
          </a:xfrm>
          <a:prstGeom prst="rect">
            <a:avLst/>
          </a:prstGeom>
          <a:solidFill>
            <a:srgbClr val="000000">
              <a:alpha val="4000"/>
            </a:srgbClr>
          </a:solidFill>
          <a:ln/>
        </p:spPr>
      </p:sp>
      <p:sp>
        <p:nvSpPr>
          <p:cNvPr id="10" name="Text 8"/>
          <p:cNvSpPr/>
          <p:nvPr/>
        </p:nvSpPr>
        <p:spPr>
          <a:xfrm>
            <a:off x="1028462" y="3891796"/>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Loss</a:t>
            </a:r>
            <a:endParaRPr lang="en-US" sz="1750" dirty="0"/>
          </a:p>
        </p:txBody>
      </p:sp>
      <p:sp>
        <p:nvSpPr>
          <p:cNvPr id="11" name="Text 9"/>
          <p:cNvSpPr/>
          <p:nvPr/>
        </p:nvSpPr>
        <p:spPr>
          <a:xfrm>
            <a:off x="3637717" y="3891796"/>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Error interno del modelo</a:t>
            </a:r>
            <a:endParaRPr lang="en-US" sz="1750" dirty="0"/>
          </a:p>
        </p:txBody>
      </p:sp>
      <p:sp>
        <p:nvSpPr>
          <p:cNvPr id="12" name="Text 10"/>
          <p:cNvSpPr/>
          <p:nvPr/>
        </p:nvSpPr>
        <p:spPr>
          <a:xfrm>
            <a:off x="7545943" y="3891796"/>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Durante entrenamiento</a:t>
            </a:r>
            <a:endParaRPr lang="en-US" sz="1750" dirty="0"/>
          </a:p>
        </p:txBody>
      </p:sp>
      <p:sp>
        <p:nvSpPr>
          <p:cNvPr id="13" name="Text 11"/>
          <p:cNvSpPr/>
          <p:nvPr/>
        </p:nvSpPr>
        <p:spPr>
          <a:xfrm>
            <a:off x="10802779" y="3891796"/>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Cross-entropy = 2.3</a:t>
            </a:r>
            <a:endParaRPr lang="en-US" sz="1750" dirty="0"/>
          </a:p>
        </p:txBody>
      </p:sp>
      <p:sp>
        <p:nvSpPr>
          <p:cNvPr id="14" name="Shape 12"/>
          <p:cNvSpPr/>
          <p:nvPr/>
        </p:nvSpPr>
        <p:spPr>
          <a:xfrm>
            <a:off x="801410" y="4398407"/>
            <a:ext cx="13027581" cy="650319"/>
          </a:xfrm>
          <a:prstGeom prst="rect">
            <a:avLst/>
          </a:prstGeom>
          <a:solidFill>
            <a:srgbClr val="FFFFFF">
              <a:alpha val="4000"/>
            </a:srgbClr>
          </a:solidFill>
          <a:ln/>
        </p:spPr>
      </p:sp>
      <p:sp>
        <p:nvSpPr>
          <p:cNvPr id="15" name="Text 13"/>
          <p:cNvSpPr/>
          <p:nvPr/>
        </p:nvSpPr>
        <p:spPr>
          <a:xfrm>
            <a:off x="1028462" y="4542115"/>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a:t>
            </a:r>
            <a:endParaRPr lang="en-US" sz="1750" dirty="0"/>
          </a:p>
        </p:txBody>
      </p:sp>
      <p:sp>
        <p:nvSpPr>
          <p:cNvPr id="16" name="Text 14"/>
          <p:cNvSpPr/>
          <p:nvPr/>
        </p:nvSpPr>
        <p:spPr>
          <a:xfrm>
            <a:off x="3637717" y="4542115"/>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Calidad del output</a:t>
            </a:r>
            <a:endParaRPr lang="en-US" sz="1750" dirty="0"/>
          </a:p>
        </p:txBody>
      </p:sp>
      <p:sp>
        <p:nvSpPr>
          <p:cNvPr id="17" name="Text 15"/>
          <p:cNvSpPr/>
          <p:nvPr/>
        </p:nvSpPr>
        <p:spPr>
          <a:xfrm>
            <a:off x="7545943" y="4542115"/>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Evaluación post-hoc</a:t>
            </a:r>
            <a:endParaRPr lang="en-US" sz="1750" dirty="0"/>
          </a:p>
        </p:txBody>
      </p:sp>
      <p:sp>
        <p:nvSpPr>
          <p:cNvPr id="18" name="Text 16"/>
          <p:cNvSpPr/>
          <p:nvPr/>
        </p:nvSpPr>
        <p:spPr>
          <a:xfrm>
            <a:off x="10802779" y="4542115"/>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ROUGE-L = 0.45</a:t>
            </a:r>
            <a:endParaRPr lang="en-US" sz="1750" dirty="0"/>
          </a:p>
        </p:txBody>
      </p:sp>
      <p:sp>
        <p:nvSpPr>
          <p:cNvPr id="19" name="Shape 17"/>
          <p:cNvSpPr/>
          <p:nvPr/>
        </p:nvSpPr>
        <p:spPr>
          <a:xfrm>
            <a:off x="801410" y="5048726"/>
            <a:ext cx="13027581" cy="650319"/>
          </a:xfrm>
          <a:prstGeom prst="rect">
            <a:avLst/>
          </a:prstGeom>
          <a:solidFill>
            <a:srgbClr val="000000">
              <a:alpha val="4000"/>
            </a:srgbClr>
          </a:solidFill>
          <a:ln/>
        </p:spPr>
      </p:sp>
      <p:sp>
        <p:nvSpPr>
          <p:cNvPr id="20" name="Text 18"/>
          <p:cNvSpPr/>
          <p:nvPr/>
        </p:nvSpPr>
        <p:spPr>
          <a:xfrm>
            <a:off x="1028462" y="5192435"/>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Benchmark</a:t>
            </a:r>
            <a:endParaRPr lang="en-US" sz="1750" dirty="0"/>
          </a:p>
        </p:txBody>
      </p:sp>
      <p:sp>
        <p:nvSpPr>
          <p:cNvPr id="21" name="Text 19"/>
          <p:cNvSpPr/>
          <p:nvPr/>
        </p:nvSpPr>
        <p:spPr>
          <a:xfrm>
            <a:off x="3637717" y="5192435"/>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Comparación estandarizada</a:t>
            </a:r>
            <a:endParaRPr lang="en-US" sz="1750" dirty="0"/>
          </a:p>
        </p:txBody>
      </p:sp>
      <p:sp>
        <p:nvSpPr>
          <p:cNvPr id="22" name="Text 20"/>
          <p:cNvSpPr/>
          <p:nvPr/>
        </p:nvSpPr>
        <p:spPr>
          <a:xfrm>
            <a:off x="7545943" y="5192435"/>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Papers, competencia</a:t>
            </a:r>
            <a:endParaRPr lang="en-US" sz="1750" dirty="0"/>
          </a:p>
        </p:txBody>
      </p:sp>
      <p:sp>
        <p:nvSpPr>
          <p:cNvPr id="23" name="Text 21"/>
          <p:cNvSpPr/>
          <p:nvPr/>
        </p:nvSpPr>
        <p:spPr>
          <a:xfrm>
            <a:off x="10802779" y="5192435"/>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MedQA accuracy = 86%</a:t>
            </a:r>
            <a:endParaRPr lang="en-US" sz="1750" dirty="0"/>
          </a:p>
        </p:txBody>
      </p:sp>
      <p:sp>
        <p:nvSpPr>
          <p:cNvPr id="24" name="Text 22"/>
          <p:cNvSpPr/>
          <p:nvPr/>
        </p:nvSpPr>
        <p:spPr>
          <a:xfrm>
            <a:off x="793790" y="596181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Loss → le importa al que entrena. Métrica → le importa al que usa. Benchmark → le importa a la comunidad.</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117521"/>
            <a:ext cx="10232827"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Loss: la función de pérdida</a:t>
            </a:r>
            <a:endParaRPr lang="en-US" sz="4450" dirty="0"/>
          </a:p>
        </p:txBody>
      </p:sp>
      <p:sp>
        <p:nvSpPr>
          <p:cNvPr id="3" name="Text 1"/>
          <p:cNvSpPr/>
          <p:nvPr/>
        </p:nvSpPr>
        <p:spPr>
          <a:xfrm>
            <a:off x="793790" y="230278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Ejemplo principal: Cross-entropy loss</a:t>
            </a:r>
            <a:endParaRPr lang="en-US" sz="1750" dirty="0"/>
          </a:p>
        </p:txBody>
      </p:sp>
      <p:sp>
        <p:nvSpPr>
          <p:cNvPr id="4" name="Text 2"/>
          <p:cNvSpPr/>
          <p:nvPr/>
        </p:nvSpPr>
        <p:spPr>
          <a:xfrm>
            <a:off x="793790" y="292084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Mide qué tan bien el modelo predice el siguiente token.</a:t>
            </a:r>
            <a:endParaRPr lang="en-US" sz="1750" dirty="0"/>
          </a:p>
        </p:txBody>
      </p:sp>
      <p:sp>
        <p:nvSpPr>
          <p:cNvPr id="5" name="Text 3"/>
          <p:cNvSpPr/>
          <p:nvPr/>
        </p:nvSpPr>
        <p:spPr>
          <a:xfrm>
            <a:off x="793790" y="3570803"/>
            <a:ext cx="13042821" cy="493990"/>
          </a:xfrm>
          <a:prstGeom prst="rect">
            <a:avLst/>
          </a:prstGeom>
          <a:noFill/>
          <a:ln/>
        </p:spPr>
        <p:txBody>
          <a:bodyPr wrap="none" lIns="0" tIns="0" rIns="0" bIns="0" rtlCol="0" anchor="t"/>
          <a:lstStyle/>
          <a:p>
            <a:pPr algn="l" indent="0" marL="0">
              <a:lnSpc>
                <a:spcPts val="3200"/>
              </a:lnSpc>
              <a:buNone/>
            </a:pPr>
            <a:endParaRPr lang="en-US" sz="2000" dirty="0"/>
          </a:p>
        </p:txBody>
      </p:sp>
      <p:pic>
        <p:nvPicPr>
          <p:cNvPr id="6" name="Image 0" descr="preencoded.png">    </p:cNvPr>
          <p:cNvPicPr>
            <a:picLocks noChangeAspect="1"/>
          </p:cNvPicPr>
          <p:nvPr/>
        </p:nvPicPr>
        <p:blipFill>
          <a:blip r:embed="rId1"/>
          <a:stretch>
            <a:fillRect/>
          </a:stretch>
        </p:blipFill>
        <p:spPr>
          <a:xfrm>
            <a:off x="793790" y="3570803"/>
            <a:ext cx="13042821" cy="493990"/>
          </a:xfrm>
          <a:prstGeom prst="rect">
            <a:avLst/>
          </a:prstGeom>
        </p:spPr>
      </p:pic>
      <p:sp>
        <p:nvSpPr>
          <p:cNvPr id="7" name="Text 4"/>
          <p:cNvSpPr/>
          <p:nvPr/>
        </p:nvSpPr>
        <p:spPr>
          <a:xfrm>
            <a:off x="793790" y="4351853"/>
            <a:ext cx="13042821" cy="37052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highlight>
                  <a:srgbClr val="F2F2F2"/>
                </a:highlight>
                <a:latin typeface="Consolas" pitchFamily="34" charset="0"/>
                <a:ea typeface="Consolas" pitchFamily="34" charset="-122"/>
                <a:cs typeface="Consolas" pitchFamily="34" charset="-120"/>
              </a:rPr>
              <a:t>p(x)</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 token correcto     </a:t>
            </a:r>
            <a:pPr algn="l" indent="0" marL="0">
              <a:lnSpc>
                <a:spcPts val="2850"/>
              </a:lnSpc>
              <a:buNone/>
            </a:pPr>
            <a:r>
              <a:rPr lang="en-US" sz="1750" dirty="0">
                <a:solidFill>
                  <a:srgbClr val="3B3535"/>
                </a:solidFill>
                <a:highlight>
                  <a:srgbClr val="F2F2F2"/>
                </a:highlight>
                <a:latin typeface="Consolas" pitchFamily="34" charset="0"/>
                <a:ea typeface="Consolas" pitchFamily="34" charset="-122"/>
                <a:cs typeface="Consolas" pitchFamily="34" charset="-120"/>
              </a:rPr>
              <a:t>q(x)</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 probabilidad del modelo</a:t>
            </a:r>
            <a:endParaRPr lang="en-US" sz="1750" dirty="0"/>
          </a:p>
        </p:txBody>
      </p:sp>
      <p:sp>
        <p:nvSpPr>
          <p:cNvPr id="8" name="Text 5"/>
          <p:cNvSpPr/>
          <p:nvPr/>
        </p:nvSpPr>
        <p:spPr>
          <a:xfrm>
            <a:off x="793790" y="5204341"/>
            <a:ext cx="2890837" cy="354330"/>
          </a:xfrm>
          <a:prstGeom prst="rect">
            <a:avLst/>
          </a:prstGeom>
          <a:noFill/>
          <a:ln/>
        </p:spPr>
        <p:txBody>
          <a:bodyPr wrap="none" lIns="0" tIns="0" rIns="0" bIns="0" rtlCol="0" anchor="t"/>
          <a:lstStyle/>
          <a:p>
            <a:pPr algn="l" indent="0" marL="0">
              <a:lnSpc>
                <a:spcPts val="2750"/>
              </a:lnSpc>
              <a:buNone/>
            </a:pPr>
            <a:r>
              <a:rPr lang="en-US" sz="2200" dirty="0">
                <a:solidFill>
                  <a:srgbClr val="1F1E1E"/>
                </a:solidFill>
                <a:latin typeface="Roboto Mono Medium" pitchFamily="34" charset="0"/>
                <a:ea typeface="Roboto Mono Medium" pitchFamily="34" charset="-122"/>
                <a:cs typeface="Roboto Mono Medium" pitchFamily="34" charset="-120"/>
              </a:rPr>
              <a:t>Lo que SÍ indica:</a:t>
            </a:r>
            <a:endParaRPr lang="en-US" sz="2200" dirty="0"/>
          </a:p>
        </p:txBody>
      </p:sp>
      <p:sp>
        <p:nvSpPr>
          <p:cNvPr id="9" name="Text 6"/>
          <p:cNvSpPr/>
          <p:nvPr/>
        </p:nvSpPr>
        <p:spPr>
          <a:xfrm>
            <a:off x="793790" y="5785485"/>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El modelo está aprendiendo (loss baja) y hay convergencia</a:t>
            </a:r>
            <a:endParaRPr lang="en-US" sz="1750" dirty="0"/>
          </a:p>
        </p:txBody>
      </p:sp>
      <p:sp>
        <p:nvSpPr>
          <p:cNvPr id="10" name="Text 7"/>
          <p:cNvSpPr/>
          <p:nvPr/>
        </p:nvSpPr>
        <p:spPr>
          <a:xfrm>
            <a:off x="7599521" y="5204341"/>
            <a:ext cx="2890837" cy="354330"/>
          </a:xfrm>
          <a:prstGeom prst="rect">
            <a:avLst/>
          </a:prstGeom>
          <a:noFill/>
          <a:ln/>
        </p:spPr>
        <p:txBody>
          <a:bodyPr wrap="none" lIns="0" tIns="0" rIns="0" bIns="0" rtlCol="0" anchor="t"/>
          <a:lstStyle/>
          <a:p>
            <a:pPr algn="l" indent="0" marL="0">
              <a:lnSpc>
                <a:spcPts val="2750"/>
              </a:lnSpc>
              <a:buNone/>
            </a:pPr>
            <a:r>
              <a:rPr lang="en-US" sz="2200" dirty="0">
                <a:solidFill>
                  <a:srgbClr val="1F1E1E"/>
                </a:solidFill>
                <a:latin typeface="Roboto Mono Medium" pitchFamily="34" charset="0"/>
                <a:ea typeface="Roboto Mono Medium" pitchFamily="34" charset="-122"/>
                <a:cs typeface="Roboto Mono Medium" pitchFamily="34" charset="-120"/>
              </a:rPr>
              <a:t>Lo que NO indica:</a:t>
            </a:r>
            <a:endParaRPr lang="en-US" sz="2200" dirty="0"/>
          </a:p>
        </p:txBody>
      </p:sp>
      <p:sp>
        <p:nvSpPr>
          <p:cNvPr id="11" name="Text 8"/>
          <p:cNvSpPr/>
          <p:nvPr/>
        </p:nvSpPr>
        <p:spPr>
          <a:xfrm>
            <a:off x="7599521" y="5785485"/>
            <a:ext cx="6244709"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Que las respuestas sean médicamente correctas</a:t>
            </a:r>
            <a:endParaRPr lang="en-US" sz="1750" dirty="0"/>
          </a:p>
          <a:p>
            <a:pPr algn="l" marL="342900" indent="-342900">
              <a:lnSpc>
                <a:spcPts val="2850"/>
              </a:lnSpc>
              <a:buSzPct val="100000"/>
              <a:buChar char="•"/>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Que el resumen sea clínicamente útil</a:t>
            </a:r>
            <a:endParaRPr lang="en-US" sz="1750" dirty="0"/>
          </a:p>
          <a:p>
            <a:pPr algn="l" marL="342900" indent="-342900">
              <a:lnSpc>
                <a:spcPts val="2850"/>
              </a:lnSpc>
              <a:buSzPct val="100000"/>
              <a:buChar char="•"/>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Que no alucine</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1002506"/>
            <a:ext cx="6490216"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Métricas en LLMs</a:t>
            </a:r>
            <a:endParaRPr lang="en-US" sz="4450" dirty="0"/>
          </a:p>
        </p:txBody>
      </p:sp>
      <p:sp>
        <p:nvSpPr>
          <p:cNvPr id="3" name="Text 1"/>
          <p:cNvSpPr/>
          <p:nvPr/>
        </p:nvSpPr>
        <p:spPr>
          <a:xfrm>
            <a:off x="793790" y="218777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Dependen de la tarea:</a:t>
            </a:r>
            <a:endParaRPr lang="en-US" sz="1750" dirty="0"/>
          </a:p>
        </p:txBody>
      </p:sp>
      <p:sp>
        <p:nvSpPr>
          <p:cNvPr id="4" name="Shape 2"/>
          <p:cNvSpPr/>
          <p:nvPr/>
        </p:nvSpPr>
        <p:spPr>
          <a:xfrm>
            <a:off x="793790" y="2805827"/>
            <a:ext cx="4196358" cy="4421148"/>
          </a:xfrm>
          <a:prstGeom prst="roundRect">
            <a:avLst>
              <a:gd name="adj" fmla="val 218"/>
            </a:avLst>
          </a:prstGeom>
          <a:solidFill>
            <a:srgbClr val="FFFFFF">
              <a:alpha val="95000"/>
            </a:srgbClr>
          </a:solidFill>
          <a:ln w="30480">
            <a:solidFill>
              <a:srgbClr val="D8D4D4"/>
            </a:solidFill>
            <a:prstDash val="solid"/>
          </a:ln>
        </p:spPr>
      </p:sp>
      <p:sp>
        <p:nvSpPr>
          <p:cNvPr id="5" name="Text 3"/>
          <p:cNvSpPr/>
          <p:nvPr/>
        </p:nvSpPr>
        <p:spPr>
          <a:xfrm>
            <a:off x="1051084" y="3063121"/>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Generación de texto (resúmenes, reportes)</a:t>
            </a:r>
            <a:endParaRPr lang="en-US" sz="2200" dirty="0"/>
          </a:p>
        </p:txBody>
      </p:sp>
      <p:sp>
        <p:nvSpPr>
          <p:cNvPr id="6" name="Text 4"/>
          <p:cNvSpPr/>
          <p:nvPr/>
        </p:nvSpPr>
        <p:spPr>
          <a:xfrm>
            <a:off x="1051084" y="3907869"/>
            <a:ext cx="3681770" cy="3061811"/>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BLEU:</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overlap de n-gramas entre output y referencia (originalmente para traducción)</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ROUGE:</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cuánto del texto de referencia cubre el output (ROUGE-1, ROUGE-2, ROUGE-L)</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BERTScore:</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similitud semántica usando embeddings</a:t>
            </a:r>
            <a:endParaRPr lang="en-US" sz="1750" dirty="0"/>
          </a:p>
        </p:txBody>
      </p:sp>
      <p:sp>
        <p:nvSpPr>
          <p:cNvPr id="7" name="Shape 5"/>
          <p:cNvSpPr/>
          <p:nvPr/>
        </p:nvSpPr>
        <p:spPr>
          <a:xfrm>
            <a:off x="5216962" y="2805827"/>
            <a:ext cx="4196358" cy="4421148"/>
          </a:xfrm>
          <a:prstGeom prst="roundRect">
            <a:avLst>
              <a:gd name="adj" fmla="val 218"/>
            </a:avLst>
          </a:prstGeom>
          <a:solidFill>
            <a:srgbClr val="FFFFFF">
              <a:alpha val="95000"/>
            </a:srgbClr>
          </a:solidFill>
          <a:ln w="30480">
            <a:solidFill>
              <a:srgbClr val="D8D4D4"/>
            </a:solidFill>
            <a:prstDash val="solid"/>
          </a:ln>
        </p:spPr>
      </p:sp>
      <p:sp>
        <p:nvSpPr>
          <p:cNvPr id="8" name="Text 6"/>
          <p:cNvSpPr/>
          <p:nvPr/>
        </p:nvSpPr>
        <p:spPr>
          <a:xfrm>
            <a:off x="5474256" y="3063121"/>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QA / Preguntas médicas</a:t>
            </a:r>
            <a:endParaRPr lang="en-US" sz="2200" dirty="0"/>
          </a:p>
        </p:txBody>
      </p:sp>
      <p:sp>
        <p:nvSpPr>
          <p:cNvPr id="9" name="Text 7"/>
          <p:cNvSpPr/>
          <p:nvPr/>
        </p:nvSpPr>
        <p:spPr>
          <a:xfrm>
            <a:off x="5474256" y="3907869"/>
            <a:ext cx="3681770" cy="189380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Exact Match (EM):</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¿respuesta exactamente igual a la esperada?</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F1:</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balance entre precisión y recall a nivel de tokens</a:t>
            </a:r>
            <a:endParaRPr lang="en-US" sz="1750" dirty="0"/>
          </a:p>
        </p:txBody>
      </p:sp>
      <p:sp>
        <p:nvSpPr>
          <p:cNvPr id="10" name="Shape 8"/>
          <p:cNvSpPr/>
          <p:nvPr/>
        </p:nvSpPr>
        <p:spPr>
          <a:xfrm>
            <a:off x="9640133" y="2805827"/>
            <a:ext cx="4196358" cy="4421148"/>
          </a:xfrm>
          <a:prstGeom prst="roundRect">
            <a:avLst>
              <a:gd name="adj" fmla="val 218"/>
            </a:avLst>
          </a:prstGeom>
          <a:solidFill>
            <a:srgbClr val="FFFFFF">
              <a:alpha val="95000"/>
            </a:srgbClr>
          </a:solidFill>
          <a:ln w="30480">
            <a:solidFill>
              <a:srgbClr val="D8D4D4"/>
            </a:solidFill>
            <a:prstDash val="solid"/>
          </a:ln>
        </p:spPr>
      </p:sp>
      <p:sp>
        <p:nvSpPr>
          <p:cNvPr id="11" name="Text 9"/>
          <p:cNvSpPr/>
          <p:nvPr/>
        </p:nvSpPr>
        <p:spPr>
          <a:xfrm>
            <a:off x="9897427" y="3063121"/>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Emergente: LLM-as-judge</a:t>
            </a:r>
            <a:endParaRPr lang="en-US" sz="2200" dirty="0"/>
          </a:p>
        </p:txBody>
      </p:sp>
      <p:sp>
        <p:nvSpPr>
          <p:cNvPr id="12" name="Text 10"/>
          <p:cNvSpPr/>
          <p:nvPr/>
        </p:nvSpPr>
        <p:spPr>
          <a:xfrm>
            <a:off x="9897427" y="3907869"/>
            <a:ext cx="3681770"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Usar otro LLM para evaluar calidad (ej: GPT-4 evalúa respuestas de LLaMA)</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945475"/>
            <a:ext cx="12274272"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Ejemplo: resumir historia clínica</a:t>
            </a:r>
            <a:endParaRPr lang="en-US" sz="4450" dirty="0"/>
          </a:p>
        </p:txBody>
      </p:sp>
      <p:sp>
        <p:nvSpPr>
          <p:cNvPr id="3" name="Text 1"/>
          <p:cNvSpPr/>
          <p:nvPr/>
        </p:nvSpPr>
        <p:spPr>
          <a:xfrm>
            <a:off x="793790" y="213074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Tarea: dado un texto clínico extenso, generar un resumen estructurado.</a:t>
            </a:r>
            <a:endParaRPr lang="en-US" sz="1750" dirty="0"/>
          </a:p>
        </p:txBody>
      </p:sp>
      <p:sp>
        <p:nvSpPr>
          <p:cNvPr id="4" name="Shape 2"/>
          <p:cNvSpPr/>
          <p:nvPr/>
        </p:nvSpPr>
        <p:spPr>
          <a:xfrm>
            <a:off x="793790" y="2748796"/>
            <a:ext cx="13042821" cy="3917156"/>
          </a:xfrm>
          <a:prstGeom prst="roundRect">
            <a:avLst>
              <a:gd name="adj" fmla="val 233"/>
            </a:avLst>
          </a:prstGeom>
          <a:noFill/>
          <a:ln w="7620">
            <a:solidFill>
              <a:srgbClr val="000000">
                <a:alpha val="8000"/>
              </a:srgbClr>
            </a:solidFill>
            <a:prstDash val="solid"/>
          </a:ln>
        </p:spPr>
      </p:sp>
      <p:sp>
        <p:nvSpPr>
          <p:cNvPr id="5" name="Shape 3"/>
          <p:cNvSpPr/>
          <p:nvPr/>
        </p:nvSpPr>
        <p:spPr>
          <a:xfrm>
            <a:off x="801410" y="2756416"/>
            <a:ext cx="13027581" cy="650319"/>
          </a:xfrm>
          <a:prstGeom prst="rect">
            <a:avLst/>
          </a:prstGeom>
          <a:solidFill>
            <a:srgbClr val="FFFFFF">
              <a:alpha val="4000"/>
            </a:srgbClr>
          </a:solidFill>
          <a:ln/>
        </p:spPr>
      </p:sp>
      <p:sp>
        <p:nvSpPr>
          <p:cNvPr id="6" name="Text 4"/>
          <p:cNvSpPr/>
          <p:nvPr/>
        </p:nvSpPr>
        <p:spPr>
          <a:xfrm>
            <a:off x="1028343" y="2900124"/>
            <a:ext cx="279939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Criterio</a:t>
            </a:r>
            <a:endParaRPr lang="en-US" sz="1750" dirty="0"/>
          </a:p>
        </p:txBody>
      </p:sp>
      <p:sp>
        <p:nvSpPr>
          <p:cNvPr id="7" name="Text 5"/>
          <p:cNvSpPr/>
          <p:nvPr/>
        </p:nvSpPr>
        <p:spPr>
          <a:xfrm>
            <a:off x="4288988" y="2900124"/>
            <a:ext cx="9313188"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Pregunta clave</a:t>
            </a:r>
            <a:endParaRPr lang="en-US" sz="1750" dirty="0"/>
          </a:p>
        </p:txBody>
      </p:sp>
      <p:sp>
        <p:nvSpPr>
          <p:cNvPr id="8" name="Shape 6"/>
          <p:cNvSpPr/>
          <p:nvPr/>
        </p:nvSpPr>
        <p:spPr>
          <a:xfrm>
            <a:off x="801410" y="3406735"/>
            <a:ext cx="13027581" cy="650319"/>
          </a:xfrm>
          <a:prstGeom prst="rect">
            <a:avLst/>
          </a:prstGeom>
          <a:solidFill>
            <a:srgbClr val="000000">
              <a:alpha val="4000"/>
            </a:srgbClr>
          </a:solidFill>
          <a:ln/>
        </p:spPr>
      </p:sp>
      <p:sp>
        <p:nvSpPr>
          <p:cNvPr id="9" name="Text 7"/>
          <p:cNvSpPr/>
          <p:nvPr/>
        </p:nvSpPr>
        <p:spPr>
          <a:xfrm>
            <a:off x="1028343" y="3550444"/>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Fidelidad</a:t>
            </a:r>
            <a:endParaRPr lang="en-US" sz="1750" dirty="0"/>
          </a:p>
        </p:txBody>
      </p:sp>
      <p:sp>
        <p:nvSpPr>
          <p:cNvPr id="10" name="Text 8"/>
          <p:cNvSpPr/>
          <p:nvPr/>
        </p:nvSpPr>
        <p:spPr>
          <a:xfrm>
            <a:off x="4288988" y="3550444"/>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¿El resumen refleja lo que dice el texto original?</a:t>
            </a:r>
            <a:endParaRPr lang="en-US" sz="1750" dirty="0"/>
          </a:p>
        </p:txBody>
      </p:sp>
      <p:sp>
        <p:nvSpPr>
          <p:cNvPr id="11" name="Shape 9"/>
          <p:cNvSpPr/>
          <p:nvPr/>
        </p:nvSpPr>
        <p:spPr>
          <a:xfrm>
            <a:off x="801410" y="4057055"/>
            <a:ext cx="13027581" cy="650319"/>
          </a:xfrm>
          <a:prstGeom prst="rect">
            <a:avLst/>
          </a:prstGeom>
          <a:solidFill>
            <a:srgbClr val="FFFFFF">
              <a:alpha val="4000"/>
            </a:srgbClr>
          </a:solidFill>
          <a:ln/>
        </p:spPr>
      </p:sp>
      <p:sp>
        <p:nvSpPr>
          <p:cNvPr id="12" name="Text 10"/>
          <p:cNvSpPr/>
          <p:nvPr/>
        </p:nvSpPr>
        <p:spPr>
          <a:xfrm>
            <a:off x="1028343" y="420076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Completitud</a:t>
            </a:r>
            <a:endParaRPr lang="en-US" sz="1750" dirty="0"/>
          </a:p>
        </p:txBody>
      </p:sp>
      <p:sp>
        <p:nvSpPr>
          <p:cNvPr id="13" name="Text 11"/>
          <p:cNvSpPr/>
          <p:nvPr/>
        </p:nvSpPr>
        <p:spPr>
          <a:xfrm>
            <a:off x="4288988" y="4200763"/>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¿Omite información crítica (alergias, medicamentos)?</a:t>
            </a:r>
            <a:endParaRPr lang="en-US" sz="1750" dirty="0"/>
          </a:p>
        </p:txBody>
      </p:sp>
      <p:sp>
        <p:nvSpPr>
          <p:cNvPr id="14" name="Shape 12"/>
          <p:cNvSpPr/>
          <p:nvPr/>
        </p:nvSpPr>
        <p:spPr>
          <a:xfrm>
            <a:off x="801410" y="4707374"/>
            <a:ext cx="13027581" cy="650319"/>
          </a:xfrm>
          <a:prstGeom prst="rect">
            <a:avLst/>
          </a:prstGeom>
          <a:solidFill>
            <a:srgbClr val="000000">
              <a:alpha val="4000"/>
            </a:srgbClr>
          </a:solidFill>
          <a:ln/>
        </p:spPr>
      </p:sp>
      <p:sp>
        <p:nvSpPr>
          <p:cNvPr id="15" name="Text 13"/>
          <p:cNvSpPr/>
          <p:nvPr/>
        </p:nvSpPr>
        <p:spPr>
          <a:xfrm>
            <a:off x="1028343" y="485108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Alucinación</a:t>
            </a:r>
            <a:endParaRPr lang="en-US" sz="1750" dirty="0"/>
          </a:p>
        </p:txBody>
      </p:sp>
      <p:sp>
        <p:nvSpPr>
          <p:cNvPr id="16" name="Text 14"/>
          <p:cNvSpPr/>
          <p:nvPr/>
        </p:nvSpPr>
        <p:spPr>
          <a:xfrm>
            <a:off x="4288988" y="4851083"/>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¿Introduce datos que no estaban en la historia clínica?</a:t>
            </a:r>
            <a:endParaRPr lang="en-US" sz="1750" dirty="0"/>
          </a:p>
        </p:txBody>
      </p:sp>
      <p:sp>
        <p:nvSpPr>
          <p:cNvPr id="17" name="Shape 15"/>
          <p:cNvSpPr/>
          <p:nvPr/>
        </p:nvSpPr>
        <p:spPr>
          <a:xfrm>
            <a:off x="801410" y="5357693"/>
            <a:ext cx="13027581" cy="650319"/>
          </a:xfrm>
          <a:prstGeom prst="rect">
            <a:avLst/>
          </a:prstGeom>
          <a:solidFill>
            <a:srgbClr val="FFFFFF">
              <a:alpha val="4000"/>
            </a:srgbClr>
          </a:solidFill>
          <a:ln/>
        </p:spPr>
      </p:sp>
      <p:sp>
        <p:nvSpPr>
          <p:cNvPr id="18" name="Text 16"/>
          <p:cNvSpPr/>
          <p:nvPr/>
        </p:nvSpPr>
        <p:spPr>
          <a:xfrm>
            <a:off x="1028343" y="550140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Relevancia clínica</a:t>
            </a:r>
            <a:endParaRPr lang="en-US" sz="1750" dirty="0"/>
          </a:p>
        </p:txBody>
      </p:sp>
      <p:sp>
        <p:nvSpPr>
          <p:cNvPr id="19" name="Text 17"/>
          <p:cNvSpPr/>
          <p:nvPr/>
        </p:nvSpPr>
        <p:spPr>
          <a:xfrm>
            <a:off x="4288988" y="5501402"/>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¿Destaca lo importante para toma de decisiones?</a:t>
            </a:r>
            <a:endParaRPr lang="en-US" sz="1750" dirty="0"/>
          </a:p>
        </p:txBody>
      </p:sp>
      <p:sp>
        <p:nvSpPr>
          <p:cNvPr id="20" name="Shape 18"/>
          <p:cNvSpPr/>
          <p:nvPr/>
        </p:nvSpPr>
        <p:spPr>
          <a:xfrm>
            <a:off x="801410" y="6008013"/>
            <a:ext cx="13027581" cy="650319"/>
          </a:xfrm>
          <a:prstGeom prst="rect">
            <a:avLst/>
          </a:prstGeom>
          <a:solidFill>
            <a:srgbClr val="000000">
              <a:alpha val="4000"/>
            </a:srgbClr>
          </a:solidFill>
          <a:ln/>
        </p:spPr>
      </p:sp>
      <p:sp>
        <p:nvSpPr>
          <p:cNvPr id="21" name="Text 19"/>
          <p:cNvSpPr/>
          <p:nvPr/>
        </p:nvSpPr>
        <p:spPr>
          <a:xfrm>
            <a:off x="1028343" y="6151721"/>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Formato</a:t>
            </a:r>
            <a:endParaRPr lang="en-US" sz="1750" dirty="0"/>
          </a:p>
        </p:txBody>
      </p:sp>
      <p:sp>
        <p:nvSpPr>
          <p:cNvPr id="22" name="Text 20"/>
          <p:cNvSpPr/>
          <p:nvPr/>
        </p:nvSpPr>
        <p:spPr>
          <a:xfrm>
            <a:off x="4288988" y="6151721"/>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¿Sigue la estructura esperada (ej: SOAP)?</a:t>
            </a:r>
            <a:endParaRPr lang="en-US" sz="1750" dirty="0"/>
          </a:p>
        </p:txBody>
      </p:sp>
      <p:sp>
        <p:nvSpPr>
          <p:cNvPr id="23" name="Text 21"/>
          <p:cNvSpPr/>
          <p:nvPr/>
        </p:nvSpPr>
        <p:spPr>
          <a:xfrm>
            <a:off x="793790" y="692110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BLEU y ROUGE no capturan estos criterios. Un resumen puede tener ROUGE alto pero omitir una alergia medicamentosa crítica.</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853803"/>
            <a:ext cx="6830378"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Evaluación humana</a:t>
            </a:r>
            <a:endParaRPr lang="en-US" sz="4450" dirty="0"/>
          </a:p>
        </p:txBody>
      </p:sp>
      <p:sp>
        <p:nvSpPr>
          <p:cNvPr id="3" name="Text 1"/>
          <p:cNvSpPr/>
          <p:nvPr/>
        </p:nvSpPr>
        <p:spPr>
          <a:xfrm>
            <a:off x="793790" y="303907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En medicina, la evaluación humana es frecuentemente indispensable:</a:t>
            </a:r>
            <a:endParaRPr lang="en-US" sz="1750" dirty="0"/>
          </a:p>
        </p:txBody>
      </p:sp>
      <p:sp>
        <p:nvSpPr>
          <p:cNvPr id="4" name="Shape 2"/>
          <p:cNvSpPr/>
          <p:nvPr/>
        </p:nvSpPr>
        <p:spPr>
          <a:xfrm>
            <a:off x="763310" y="3626644"/>
            <a:ext cx="60960" cy="2161580"/>
          </a:xfrm>
          <a:prstGeom prst="rect">
            <a:avLst/>
          </a:prstGeom>
          <a:solidFill>
            <a:srgbClr val="DA1B2E"/>
          </a:solidFill>
          <a:ln/>
        </p:spPr>
      </p:sp>
      <p:sp>
        <p:nvSpPr>
          <p:cNvPr id="5" name="Text 3"/>
          <p:cNvSpPr/>
          <p:nvPr/>
        </p:nvSpPr>
        <p:spPr>
          <a:xfrm>
            <a:off x="1081564" y="365712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¿Quién evalúa?</a:t>
            </a:r>
            <a:endParaRPr lang="en-US" sz="2200" dirty="0"/>
          </a:p>
        </p:txBody>
      </p:sp>
      <p:sp>
        <p:nvSpPr>
          <p:cNvPr id="6" name="Text 4"/>
          <p:cNvSpPr/>
          <p:nvPr/>
        </p:nvSpPr>
        <p:spPr>
          <a:xfrm>
            <a:off x="1081564" y="4147542"/>
            <a:ext cx="3870841" cy="1088708"/>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Médicos especialistas, residentes supervisados, equipos multidisciplinarios</a:t>
            </a:r>
            <a:endParaRPr lang="en-US" sz="1750" dirty="0"/>
          </a:p>
        </p:txBody>
      </p:sp>
      <p:sp>
        <p:nvSpPr>
          <p:cNvPr id="7" name="Shape 5"/>
          <p:cNvSpPr/>
          <p:nvPr/>
        </p:nvSpPr>
        <p:spPr>
          <a:xfrm>
            <a:off x="5205413" y="3626644"/>
            <a:ext cx="60960" cy="2161580"/>
          </a:xfrm>
          <a:prstGeom prst="rect">
            <a:avLst/>
          </a:prstGeom>
          <a:solidFill>
            <a:srgbClr val="DA1B2E"/>
          </a:solidFill>
          <a:ln/>
        </p:spPr>
      </p:sp>
      <p:sp>
        <p:nvSpPr>
          <p:cNvPr id="8" name="Text 6"/>
          <p:cNvSpPr/>
          <p:nvPr/>
        </p:nvSpPr>
        <p:spPr>
          <a:xfrm>
            <a:off x="5523667" y="365712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¿Qué evalúan?</a:t>
            </a:r>
            <a:endParaRPr lang="en-US" sz="2200" dirty="0"/>
          </a:p>
        </p:txBody>
      </p:sp>
      <p:sp>
        <p:nvSpPr>
          <p:cNvPr id="9" name="Text 7"/>
          <p:cNvSpPr/>
          <p:nvPr/>
        </p:nvSpPr>
        <p:spPr>
          <a:xfrm>
            <a:off x="5523667" y="4147542"/>
            <a:ext cx="387084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Corrección médica, utilidad clínica real, seguridad, claridad</a:t>
            </a:r>
            <a:endParaRPr lang="en-US" sz="1750" dirty="0"/>
          </a:p>
        </p:txBody>
      </p:sp>
      <p:sp>
        <p:nvSpPr>
          <p:cNvPr id="10" name="Shape 8"/>
          <p:cNvSpPr/>
          <p:nvPr/>
        </p:nvSpPr>
        <p:spPr>
          <a:xfrm>
            <a:off x="9647515" y="3626644"/>
            <a:ext cx="60960" cy="2161580"/>
          </a:xfrm>
          <a:prstGeom prst="rect">
            <a:avLst/>
          </a:prstGeom>
          <a:solidFill>
            <a:srgbClr val="DA1B2E"/>
          </a:solidFill>
          <a:ln/>
        </p:spPr>
      </p:sp>
      <p:sp>
        <p:nvSpPr>
          <p:cNvPr id="11" name="Text 9"/>
          <p:cNvSpPr/>
          <p:nvPr/>
        </p:nvSpPr>
        <p:spPr>
          <a:xfrm>
            <a:off x="9965769" y="365712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Métodos comunes</a:t>
            </a:r>
            <a:endParaRPr lang="en-US" sz="2200" dirty="0"/>
          </a:p>
        </p:txBody>
      </p:sp>
      <p:sp>
        <p:nvSpPr>
          <p:cNvPr id="12" name="Text 10"/>
          <p:cNvSpPr/>
          <p:nvPr/>
        </p:nvSpPr>
        <p:spPr>
          <a:xfrm>
            <a:off x="9965769" y="4147542"/>
            <a:ext cx="3870841" cy="161020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Escala Likert (1-5) por criterio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Comparación pareada: ¿respuesta A o B es mejor?</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Revisión por pares tipo peer review</a:t>
            </a:r>
            <a:endParaRPr lang="en-US" sz="1750" dirty="0"/>
          </a:p>
        </p:txBody>
      </p:sp>
      <p:sp>
        <p:nvSpPr>
          <p:cNvPr id="13" name="Text 11"/>
          <p:cNvSpPr/>
          <p:nvPr/>
        </p:nvSpPr>
        <p:spPr>
          <a:xfrm>
            <a:off x="793790" y="6012894"/>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Desventajas: costoso, subjetivo (inter-annotator agreement), no escala fácilmente.</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972979"/>
            <a:ext cx="7170658"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Benchmarks médicos</a:t>
            </a:r>
            <a:endParaRPr lang="en-US" sz="4450" dirty="0"/>
          </a:p>
        </p:txBody>
      </p:sp>
      <p:sp>
        <p:nvSpPr>
          <p:cNvPr id="3" name="Shape 1"/>
          <p:cNvSpPr/>
          <p:nvPr/>
        </p:nvSpPr>
        <p:spPr>
          <a:xfrm>
            <a:off x="793790" y="2158246"/>
            <a:ext cx="13042821" cy="3266837"/>
          </a:xfrm>
          <a:prstGeom prst="roundRect">
            <a:avLst>
              <a:gd name="adj" fmla="val 280"/>
            </a:avLst>
          </a:prstGeom>
          <a:noFill/>
          <a:ln w="7620">
            <a:solidFill>
              <a:srgbClr val="000000">
                <a:alpha val="8000"/>
              </a:srgbClr>
            </a:solidFill>
            <a:prstDash val="solid"/>
          </a:ln>
        </p:spPr>
      </p:sp>
      <p:sp>
        <p:nvSpPr>
          <p:cNvPr id="4" name="Shape 2"/>
          <p:cNvSpPr/>
          <p:nvPr/>
        </p:nvSpPr>
        <p:spPr>
          <a:xfrm>
            <a:off x="801410" y="2165866"/>
            <a:ext cx="13027581" cy="650319"/>
          </a:xfrm>
          <a:prstGeom prst="rect">
            <a:avLst/>
          </a:prstGeom>
          <a:solidFill>
            <a:srgbClr val="FFFFFF">
              <a:alpha val="4000"/>
            </a:srgbClr>
          </a:solidFill>
          <a:ln/>
        </p:spPr>
      </p:sp>
      <p:sp>
        <p:nvSpPr>
          <p:cNvPr id="5" name="Text 3"/>
          <p:cNvSpPr/>
          <p:nvPr/>
        </p:nvSpPr>
        <p:spPr>
          <a:xfrm>
            <a:off x="1028462" y="2309574"/>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Benchmark</a:t>
            </a:r>
            <a:endParaRPr lang="en-US" sz="1750" dirty="0"/>
          </a:p>
        </p:txBody>
      </p:sp>
      <p:sp>
        <p:nvSpPr>
          <p:cNvPr id="6" name="Text 4"/>
          <p:cNvSpPr/>
          <p:nvPr/>
        </p:nvSpPr>
        <p:spPr>
          <a:xfrm>
            <a:off x="3637717" y="2309574"/>
            <a:ext cx="6703814"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Qué evalúa</a:t>
            </a:r>
            <a:endParaRPr lang="en-US" sz="1750" dirty="0"/>
          </a:p>
        </p:txBody>
      </p:sp>
      <p:sp>
        <p:nvSpPr>
          <p:cNvPr id="7" name="Text 5"/>
          <p:cNvSpPr/>
          <p:nvPr/>
        </p:nvSpPr>
        <p:spPr>
          <a:xfrm>
            <a:off x="10802779" y="2309574"/>
            <a:ext cx="279939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Formato</a:t>
            </a:r>
            <a:endParaRPr lang="en-US" sz="1750" dirty="0"/>
          </a:p>
        </p:txBody>
      </p:sp>
      <p:sp>
        <p:nvSpPr>
          <p:cNvPr id="8" name="Shape 6"/>
          <p:cNvSpPr/>
          <p:nvPr/>
        </p:nvSpPr>
        <p:spPr>
          <a:xfrm>
            <a:off x="801410" y="2816185"/>
            <a:ext cx="13027581" cy="650319"/>
          </a:xfrm>
          <a:prstGeom prst="rect">
            <a:avLst/>
          </a:prstGeom>
          <a:solidFill>
            <a:srgbClr val="000000">
              <a:alpha val="4000"/>
            </a:srgbClr>
          </a:solidFill>
          <a:ln/>
        </p:spPr>
      </p:sp>
      <p:sp>
        <p:nvSpPr>
          <p:cNvPr id="9" name="Text 7"/>
          <p:cNvSpPr/>
          <p:nvPr/>
        </p:nvSpPr>
        <p:spPr>
          <a:xfrm>
            <a:off x="1028462" y="2959894"/>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MedQA</a:t>
            </a:r>
            <a:endParaRPr lang="en-US" sz="1750" dirty="0"/>
          </a:p>
        </p:txBody>
      </p:sp>
      <p:sp>
        <p:nvSpPr>
          <p:cNvPr id="10" name="Text 8"/>
          <p:cNvSpPr/>
          <p:nvPr/>
        </p:nvSpPr>
        <p:spPr>
          <a:xfrm>
            <a:off x="3637717" y="2959894"/>
            <a:ext cx="670381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Conocimiento médico (tipo USMLE)</a:t>
            </a:r>
            <a:endParaRPr lang="en-US" sz="1750" dirty="0"/>
          </a:p>
        </p:txBody>
      </p:sp>
      <p:sp>
        <p:nvSpPr>
          <p:cNvPr id="11" name="Text 9"/>
          <p:cNvSpPr/>
          <p:nvPr/>
        </p:nvSpPr>
        <p:spPr>
          <a:xfrm>
            <a:off x="10802779" y="2959894"/>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Opción múltiple</a:t>
            </a:r>
            <a:endParaRPr lang="en-US" sz="1750" dirty="0"/>
          </a:p>
        </p:txBody>
      </p:sp>
      <p:sp>
        <p:nvSpPr>
          <p:cNvPr id="12" name="Shape 10"/>
          <p:cNvSpPr/>
          <p:nvPr/>
        </p:nvSpPr>
        <p:spPr>
          <a:xfrm>
            <a:off x="801410" y="3466505"/>
            <a:ext cx="13027581" cy="650319"/>
          </a:xfrm>
          <a:prstGeom prst="rect">
            <a:avLst/>
          </a:prstGeom>
          <a:solidFill>
            <a:srgbClr val="FFFFFF">
              <a:alpha val="4000"/>
            </a:srgbClr>
          </a:solidFill>
          <a:ln/>
        </p:spPr>
      </p:sp>
      <p:sp>
        <p:nvSpPr>
          <p:cNvPr id="13" name="Text 11"/>
          <p:cNvSpPr/>
          <p:nvPr/>
        </p:nvSpPr>
        <p:spPr>
          <a:xfrm>
            <a:off x="1028462" y="3610213"/>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PubMedQA</a:t>
            </a:r>
            <a:endParaRPr lang="en-US" sz="1750" dirty="0"/>
          </a:p>
        </p:txBody>
      </p:sp>
      <p:sp>
        <p:nvSpPr>
          <p:cNvPr id="14" name="Text 12"/>
          <p:cNvSpPr/>
          <p:nvPr/>
        </p:nvSpPr>
        <p:spPr>
          <a:xfrm>
            <a:off x="3637717" y="3610213"/>
            <a:ext cx="670381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Comprensión de abstracts</a:t>
            </a:r>
            <a:endParaRPr lang="en-US" sz="1750" dirty="0"/>
          </a:p>
        </p:txBody>
      </p:sp>
      <p:sp>
        <p:nvSpPr>
          <p:cNvPr id="15" name="Text 13"/>
          <p:cNvSpPr/>
          <p:nvPr/>
        </p:nvSpPr>
        <p:spPr>
          <a:xfrm>
            <a:off x="10802779" y="361021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Sí/No/Quizás</a:t>
            </a:r>
            <a:endParaRPr lang="en-US" sz="1750" dirty="0"/>
          </a:p>
        </p:txBody>
      </p:sp>
      <p:sp>
        <p:nvSpPr>
          <p:cNvPr id="16" name="Shape 14"/>
          <p:cNvSpPr/>
          <p:nvPr/>
        </p:nvSpPr>
        <p:spPr>
          <a:xfrm>
            <a:off x="801410" y="4116824"/>
            <a:ext cx="13027581" cy="650319"/>
          </a:xfrm>
          <a:prstGeom prst="rect">
            <a:avLst/>
          </a:prstGeom>
          <a:solidFill>
            <a:srgbClr val="000000">
              <a:alpha val="4000"/>
            </a:srgbClr>
          </a:solidFill>
          <a:ln/>
        </p:spPr>
      </p:sp>
      <p:sp>
        <p:nvSpPr>
          <p:cNvPr id="17" name="Text 15"/>
          <p:cNvSpPr/>
          <p:nvPr/>
        </p:nvSpPr>
        <p:spPr>
          <a:xfrm>
            <a:off x="1028462" y="4260533"/>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MedMCQA</a:t>
            </a:r>
            <a:endParaRPr lang="en-US" sz="1750" dirty="0"/>
          </a:p>
        </p:txBody>
      </p:sp>
      <p:sp>
        <p:nvSpPr>
          <p:cNvPr id="18" name="Text 16"/>
          <p:cNvSpPr/>
          <p:nvPr/>
        </p:nvSpPr>
        <p:spPr>
          <a:xfrm>
            <a:off x="3637717" y="4260533"/>
            <a:ext cx="670381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Exámenes de medicina (India)</a:t>
            </a:r>
            <a:endParaRPr lang="en-US" sz="1750" dirty="0"/>
          </a:p>
        </p:txBody>
      </p:sp>
      <p:sp>
        <p:nvSpPr>
          <p:cNvPr id="19" name="Text 17"/>
          <p:cNvSpPr/>
          <p:nvPr/>
        </p:nvSpPr>
        <p:spPr>
          <a:xfrm>
            <a:off x="10802779" y="426053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Opción múltiple</a:t>
            </a:r>
            <a:endParaRPr lang="en-US" sz="1750" dirty="0"/>
          </a:p>
        </p:txBody>
      </p:sp>
      <p:sp>
        <p:nvSpPr>
          <p:cNvPr id="20" name="Shape 18"/>
          <p:cNvSpPr/>
          <p:nvPr/>
        </p:nvSpPr>
        <p:spPr>
          <a:xfrm>
            <a:off x="801410" y="4767143"/>
            <a:ext cx="13027581" cy="650319"/>
          </a:xfrm>
          <a:prstGeom prst="rect">
            <a:avLst/>
          </a:prstGeom>
          <a:solidFill>
            <a:srgbClr val="FFFFFF">
              <a:alpha val="4000"/>
            </a:srgbClr>
          </a:solidFill>
          <a:ln/>
        </p:spPr>
      </p:sp>
      <p:sp>
        <p:nvSpPr>
          <p:cNvPr id="21" name="Text 19"/>
          <p:cNvSpPr/>
          <p:nvPr/>
        </p:nvSpPr>
        <p:spPr>
          <a:xfrm>
            <a:off x="1028462" y="4910852"/>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MMLU-Med</a:t>
            </a:r>
            <a:endParaRPr lang="en-US" sz="1750" dirty="0"/>
          </a:p>
        </p:txBody>
      </p:sp>
      <p:sp>
        <p:nvSpPr>
          <p:cNvPr id="22" name="Text 20"/>
          <p:cNvSpPr/>
          <p:nvPr/>
        </p:nvSpPr>
        <p:spPr>
          <a:xfrm>
            <a:off x="3637717" y="4910852"/>
            <a:ext cx="670381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Subconjuntos médicos de MMLU</a:t>
            </a:r>
            <a:endParaRPr lang="en-US" sz="1750" dirty="0"/>
          </a:p>
        </p:txBody>
      </p:sp>
      <p:sp>
        <p:nvSpPr>
          <p:cNvPr id="23" name="Text 21"/>
          <p:cNvSpPr/>
          <p:nvPr/>
        </p:nvSpPr>
        <p:spPr>
          <a:xfrm>
            <a:off x="10802779" y="491085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Opción múltiple</a:t>
            </a:r>
            <a:endParaRPr lang="en-US" sz="1750" dirty="0"/>
          </a:p>
        </p:txBody>
      </p:sp>
      <p:sp>
        <p:nvSpPr>
          <p:cNvPr id="24" name="Text 22"/>
          <p:cNvSpPr/>
          <p:nvPr/>
        </p:nvSpPr>
        <p:spPr>
          <a:xfrm>
            <a:off x="793790" y="5765244"/>
            <a:ext cx="11431310" cy="425291"/>
          </a:xfrm>
          <a:prstGeom prst="rect">
            <a:avLst/>
          </a:prstGeom>
          <a:noFill/>
          <a:ln/>
        </p:spPr>
        <p:txBody>
          <a:bodyPr wrap="none" lIns="0" tIns="0" rIns="0" bIns="0" rtlCol="0" anchor="t"/>
          <a:lstStyle/>
          <a:p>
            <a:pPr algn="l" indent="0" marL="0">
              <a:lnSpc>
                <a:spcPts val="3300"/>
              </a:lnSpc>
              <a:buNone/>
            </a:pPr>
            <a:r>
              <a:rPr lang="en-US" sz="2650" dirty="0">
                <a:solidFill>
                  <a:srgbClr val="1F1E1E"/>
                </a:solidFill>
                <a:latin typeface="Roboto Mono Medium" pitchFamily="34" charset="0"/>
                <a:ea typeface="Roboto Mono Medium" pitchFamily="34" charset="-122"/>
                <a:cs typeface="Roboto Mono Medium" pitchFamily="34" charset="-120"/>
              </a:rPr>
              <a:t>GPT-4 alcanzó ~86% en MedQA. Útil para comparar modelos.</a:t>
            </a:r>
            <a:endParaRPr lang="en-US" sz="2650" dirty="0"/>
          </a:p>
        </p:txBody>
      </p:sp>
      <p:sp>
        <p:nvSpPr>
          <p:cNvPr id="25" name="Text 23"/>
          <p:cNvSpPr/>
          <p:nvPr/>
        </p:nvSpPr>
        <p:spPr>
          <a:xfrm>
            <a:off x="793790" y="653069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Limitaciones: solo opción múltiple, no reflejan tareas clínicas reales, no evalúan generación libre ni razonamiento complejo. No reemplazan evaluación en tu tarea específica.</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725686"/>
            <a:ext cx="9526786" cy="708779"/>
          </a:xfrm>
          <a:prstGeom prst="rect">
            <a:avLst/>
          </a:prstGeom>
          <a:noFill/>
          <a:ln/>
        </p:spPr>
        <p:txBody>
          <a:bodyPr wrap="non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LLM Evaluation Methodologies</a:t>
            </a:r>
            <a:endParaRPr lang="en-US" sz="4450" dirty="0"/>
          </a:p>
        </p:txBody>
      </p:sp>
      <p:sp>
        <p:nvSpPr>
          <p:cNvPr id="3" name="Shape 1"/>
          <p:cNvSpPr/>
          <p:nvPr/>
        </p:nvSpPr>
        <p:spPr>
          <a:xfrm>
            <a:off x="793790" y="1888093"/>
            <a:ext cx="6407944" cy="2694503"/>
          </a:xfrm>
          <a:prstGeom prst="roundRect">
            <a:avLst>
              <a:gd name="adj" fmla="val 339"/>
            </a:avLst>
          </a:prstGeom>
          <a:solidFill>
            <a:srgbClr val="FFFFFF">
              <a:alpha val="95000"/>
            </a:srgbClr>
          </a:solidFill>
          <a:ln w="30480">
            <a:solidFill>
              <a:srgbClr val="D8D4D4"/>
            </a:solidFill>
            <a:prstDash val="solid"/>
          </a:ln>
        </p:spPr>
      </p:sp>
      <p:sp>
        <p:nvSpPr>
          <p:cNvPr id="4" name="Text 2"/>
          <p:cNvSpPr/>
          <p:nvPr/>
        </p:nvSpPr>
        <p:spPr>
          <a:xfrm>
            <a:off x="1051084" y="2145387"/>
            <a:ext cx="3060978"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Benchmark Datasets</a:t>
            </a:r>
            <a:endParaRPr lang="en-US" sz="2200" dirty="0"/>
          </a:p>
        </p:txBody>
      </p:sp>
      <p:sp>
        <p:nvSpPr>
          <p:cNvPr id="5" name="Text 3"/>
          <p:cNvSpPr/>
          <p:nvPr/>
        </p:nvSpPr>
        <p:spPr>
          <a:xfrm>
            <a:off x="1051084" y="2635806"/>
            <a:ext cx="5893356"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Existing benchmarks (GLUE, SuperGLUE, SQuAD)</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Custom datasets for domain-specific evaluation</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Enables standardized comparative analysis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Establishes baseline performance</a:t>
            </a:r>
            <a:endParaRPr lang="en-US" sz="1750" dirty="0"/>
          </a:p>
        </p:txBody>
      </p:sp>
      <p:sp>
        <p:nvSpPr>
          <p:cNvPr id="6" name="Shape 4"/>
          <p:cNvSpPr/>
          <p:nvPr/>
        </p:nvSpPr>
        <p:spPr>
          <a:xfrm>
            <a:off x="7428548" y="1888093"/>
            <a:ext cx="6408063" cy="2694503"/>
          </a:xfrm>
          <a:prstGeom prst="roundRect">
            <a:avLst>
              <a:gd name="adj" fmla="val 339"/>
            </a:avLst>
          </a:prstGeom>
          <a:solidFill>
            <a:srgbClr val="FFFFFF">
              <a:alpha val="95000"/>
            </a:srgbClr>
          </a:solidFill>
          <a:ln w="30480">
            <a:solidFill>
              <a:srgbClr val="D8D4D4"/>
            </a:solidFill>
            <a:prstDash val="solid"/>
          </a:ln>
        </p:spPr>
      </p:sp>
      <p:sp>
        <p:nvSpPr>
          <p:cNvPr id="7" name="Text 5"/>
          <p:cNvSpPr/>
          <p:nvPr/>
        </p:nvSpPr>
        <p:spPr>
          <a:xfrm>
            <a:off x="7685842" y="214538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Human Evaluation</a:t>
            </a:r>
            <a:endParaRPr lang="en-US" sz="2200" dirty="0"/>
          </a:p>
        </p:txBody>
      </p:sp>
      <p:sp>
        <p:nvSpPr>
          <p:cNvPr id="8" name="Text 6"/>
          <p:cNvSpPr/>
          <p:nvPr/>
        </p:nvSpPr>
        <p:spPr>
          <a:xfrm>
            <a:off x="7685842" y="2635806"/>
            <a:ext cx="5893475"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Direct assessment through surveys and ratings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Comparative judgment (e.g., pairwise comparison)</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Captures nuanced aspects of text quality</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Provides qualitative insights</a:t>
            </a:r>
            <a:endParaRPr lang="en-US" sz="1750" dirty="0"/>
          </a:p>
        </p:txBody>
      </p:sp>
      <p:sp>
        <p:nvSpPr>
          <p:cNvPr id="9" name="Shape 7"/>
          <p:cNvSpPr/>
          <p:nvPr/>
        </p:nvSpPr>
        <p:spPr>
          <a:xfrm>
            <a:off x="793790" y="4809411"/>
            <a:ext cx="6407944" cy="2694503"/>
          </a:xfrm>
          <a:prstGeom prst="roundRect">
            <a:avLst>
              <a:gd name="adj" fmla="val 339"/>
            </a:avLst>
          </a:prstGeom>
          <a:solidFill>
            <a:srgbClr val="FFFFFF">
              <a:alpha val="95000"/>
            </a:srgbClr>
          </a:solidFill>
          <a:ln w="30480">
            <a:solidFill>
              <a:srgbClr val="D8D4D4"/>
            </a:solidFill>
            <a:prstDash val="solid"/>
          </a:ln>
        </p:spPr>
      </p:sp>
      <p:sp>
        <p:nvSpPr>
          <p:cNvPr id="10" name="Text 8"/>
          <p:cNvSpPr/>
          <p:nvPr/>
        </p:nvSpPr>
        <p:spPr>
          <a:xfrm>
            <a:off x="1051084" y="5066705"/>
            <a:ext cx="3401020"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Automated Evaluation</a:t>
            </a:r>
            <a:endParaRPr lang="en-US" sz="2200" dirty="0"/>
          </a:p>
        </p:txBody>
      </p:sp>
      <p:sp>
        <p:nvSpPr>
          <p:cNvPr id="11" name="Text 9"/>
          <p:cNvSpPr/>
          <p:nvPr/>
        </p:nvSpPr>
        <p:spPr>
          <a:xfrm>
            <a:off x="1051084" y="5557123"/>
            <a:ext cx="5893356"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Metric-based (e.g., perplexity, BLEU)</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Quick and objective assessment</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Quantifies various aspects of model outputs</a:t>
            </a:r>
            <a:endParaRPr lang="en-US" sz="1750" dirty="0"/>
          </a:p>
        </p:txBody>
      </p:sp>
      <p:sp>
        <p:nvSpPr>
          <p:cNvPr id="12" name="Shape 10"/>
          <p:cNvSpPr/>
          <p:nvPr/>
        </p:nvSpPr>
        <p:spPr>
          <a:xfrm>
            <a:off x="7428548" y="4809411"/>
            <a:ext cx="6408063" cy="2694503"/>
          </a:xfrm>
          <a:prstGeom prst="roundRect">
            <a:avLst>
              <a:gd name="adj" fmla="val 339"/>
            </a:avLst>
          </a:prstGeom>
          <a:solidFill>
            <a:srgbClr val="FFFFFF">
              <a:alpha val="95000"/>
            </a:srgbClr>
          </a:solidFill>
          <a:ln w="30480">
            <a:solidFill>
              <a:srgbClr val="D8D4D4"/>
            </a:solidFill>
            <a:prstDash val="solid"/>
          </a:ln>
        </p:spPr>
      </p:sp>
      <p:sp>
        <p:nvSpPr>
          <p:cNvPr id="13" name="Text 11"/>
          <p:cNvSpPr/>
          <p:nvPr/>
        </p:nvSpPr>
        <p:spPr>
          <a:xfrm>
            <a:off x="7685842" y="5066705"/>
            <a:ext cx="3741182"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Adversarial Evaluation</a:t>
            </a:r>
            <a:endParaRPr lang="en-US" sz="2200" dirty="0"/>
          </a:p>
        </p:txBody>
      </p:sp>
      <p:sp>
        <p:nvSpPr>
          <p:cNvPr id="14" name="Text 12"/>
          <p:cNvSpPr/>
          <p:nvPr/>
        </p:nvSpPr>
        <p:spPr>
          <a:xfrm>
            <a:off x="7685842" y="5557123"/>
            <a:ext cx="5893475"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Tests model robustness against attacks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Reveals vulnerabilities and biases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Important for reliability and security</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Helps identify and mitigate potential risks</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Agenda</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01</a:t>
            </a:r>
            <a:endParaRPr lang="en-US" sz="1750" dirty="0"/>
          </a:p>
        </p:txBody>
      </p:sp>
      <p:sp>
        <p:nvSpPr>
          <p:cNvPr id="4" name="Shape 2"/>
          <p:cNvSpPr/>
          <p:nvPr/>
        </p:nvSpPr>
        <p:spPr>
          <a:xfrm>
            <a:off x="793790" y="3203496"/>
            <a:ext cx="4196358" cy="30480"/>
          </a:xfrm>
          <a:prstGeom prst="rect">
            <a:avLst/>
          </a:prstGeom>
          <a:solidFill>
            <a:srgbClr val="DA1B2E"/>
          </a:solidFill>
          <a:ln/>
        </p:spPr>
      </p:sp>
      <p:sp>
        <p:nvSpPr>
          <p:cNvPr id="5" name="Text 3"/>
          <p:cNvSpPr/>
          <p:nvPr/>
        </p:nvSpPr>
        <p:spPr>
          <a:xfrm>
            <a:off x="793790"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Repaso</a:t>
            </a:r>
            <a:endParaRPr lang="en-US" sz="2200" dirty="0"/>
          </a:p>
        </p:txBody>
      </p:sp>
      <p:sp>
        <p:nvSpPr>
          <p:cNvPr id="6" name="Text 4"/>
          <p:cNvSpPr/>
          <p:nvPr/>
        </p:nvSpPr>
        <p:spPr>
          <a:xfrm>
            <a:off x="793790"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es un LLM y cómo se entrena?</a:t>
            </a:r>
            <a:endParaRPr lang="en-US" sz="1750" dirty="0"/>
          </a:p>
        </p:txBody>
      </p:sp>
      <p:sp>
        <p:nvSpPr>
          <p:cNvPr id="7" name="Text 5"/>
          <p:cNvSpPr/>
          <p:nvPr/>
        </p:nvSpPr>
        <p:spPr>
          <a:xfrm>
            <a:off x="5216962"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02</a:t>
            </a:r>
            <a:endParaRPr lang="en-US" sz="1750" dirty="0"/>
          </a:p>
        </p:txBody>
      </p:sp>
      <p:sp>
        <p:nvSpPr>
          <p:cNvPr id="8" name="Shape 6"/>
          <p:cNvSpPr/>
          <p:nvPr/>
        </p:nvSpPr>
        <p:spPr>
          <a:xfrm>
            <a:off x="5216962" y="3203496"/>
            <a:ext cx="4196358" cy="30480"/>
          </a:xfrm>
          <a:prstGeom prst="rect">
            <a:avLst/>
          </a:prstGeom>
          <a:solidFill>
            <a:srgbClr val="DA1B2E"/>
          </a:solidFill>
          <a:ln/>
        </p:spPr>
      </p:sp>
      <p:sp>
        <p:nvSpPr>
          <p:cNvPr id="9" name="Text 7"/>
          <p:cNvSpPr/>
          <p:nvPr/>
        </p:nvSpPr>
        <p:spPr>
          <a:xfrm>
            <a:off x="5216962"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Evaluación</a:t>
            </a:r>
            <a:endParaRPr lang="en-US" sz="2200" dirty="0"/>
          </a:p>
        </p:txBody>
      </p:sp>
      <p:sp>
        <p:nvSpPr>
          <p:cNvPr id="10" name="Text 8"/>
          <p:cNvSpPr/>
          <p:nvPr/>
        </p:nvSpPr>
        <p:spPr>
          <a:xfrm>
            <a:off x="5216962" y="3868222"/>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Métricas, benchmarks y evaluación humana</a:t>
            </a:r>
            <a:endParaRPr lang="en-US" sz="1750" dirty="0"/>
          </a:p>
        </p:txBody>
      </p:sp>
      <p:sp>
        <p:nvSpPr>
          <p:cNvPr id="11" name="Text 9"/>
          <p:cNvSpPr/>
          <p:nvPr/>
        </p:nvSpPr>
        <p:spPr>
          <a:xfrm>
            <a:off x="9640133"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03</a:t>
            </a:r>
            <a:endParaRPr lang="en-US" sz="1750" dirty="0"/>
          </a:p>
        </p:txBody>
      </p:sp>
      <p:sp>
        <p:nvSpPr>
          <p:cNvPr id="12" name="Shape 10"/>
          <p:cNvSpPr/>
          <p:nvPr/>
        </p:nvSpPr>
        <p:spPr>
          <a:xfrm>
            <a:off x="9640133" y="3203496"/>
            <a:ext cx="4196358" cy="30480"/>
          </a:xfrm>
          <a:prstGeom prst="rect">
            <a:avLst/>
          </a:prstGeom>
          <a:solidFill>
            <a:srgbClr val="DA1B2E"/>
          </a:solidFill>
          <a:ln/>
        </p:spPr>
      </p:sp>
      <p:sp>
        <p:nvSpPr>
          <p:cNvPr id="13" name="Text 11"/>
          <p:cNvSpPr/>
          <p:nvPr/>
        </p:nvSpPr>
        <p:spPr>
          <a:xfrm>
            <a:off x="9640133" y="337780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3535"/>
                </a:solidFill>
                <a:latin typeface="Roboto Mono Medium" pitchFamily="34" charset="0"/>
                <a:ea typeface="Roboto Mono Medium" pitchFamily="34" charset="-122"/>
                <a:cs typeface="Roboto Mono Medium" pitchFamily="34" charset="-120"/>
              </a:rPr>
              <a:t>Prompting</a:t>
            </a:r>
            <a:endParaRPr lang="en-US" sz="2200" dirty="0"/>
          </a:p>
        </p:txBody>
      </p:sp>
      <p:sp>
        <p:nvSpPr>
          <p:cNvPr id="14" name="Text 12"/>
          <p:cNvSpPr/>
          <p:nvPr/>
        </p:nvSpPr>
        <p:spPr>
          <a:xfrm>
            <a:off x="9640133" y="3868222"/>
            <a:ext cx="4196358"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Primera herramienta de mejora</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04</a:t>
            </a:r>
            <a:endParaRPr lang="en-US" sz="1750" dirty="0"/>
          </a:p>
        </p:txBody>
      </p:sp>
      <p:sp>
        <p:nvSpPr>
          <p:cNvPr id="16" name="Shape 14"/>
          <p:cNvSpPr/>
          <p:nvPr/>
        </p:nvSpPr>
        <p:spPr>
          <a:xfrm>
            <a:off x="793790" y="5345906"/>
            <a:ext cx="6407944" cy="30480"/>
          </a:xfrm>
          <a:prstGeom prst="rect">
            <a:avLst/>
          </a:prstGeom>
          <a:solidFill>
            <a:srgbClr val="DA1B2E"/>
          </a:solidFill>
          <a:ln/>
        </p:spPr>
      </p:sp>
      <p:sp>
        <p:nvSpPr>
          <p:cNvPr id="17" name="Text 15"/>
          <p:cNvSpPr/>
          <p:nvPr/>
        </p:nvSpPr>
        <p:spPr>
          <a:xfrm>
            <a:off x="793790"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Fine-tuning</a:t>
            </a:r>
            <a:endParaRPr lang="en-US" sz="2200" dirty="0"/>
          </a:p>
        </p:txBody>
      </p:sp>
      <p:sp>
        <p:nvSpPr>
          <p:cNvPr id="18" name="Text 16"/>
          <p:cNvSpPr/>
          <p:nvPr/>
        </p:nvSpPr>
        <p:spPr>
          <a:xfrm>
            <a:off x="793790"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Cuándo sí, cuándo no, y requisitos</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DA1B2E"/>
          </a:solidFill>
          <a:ln/>
        </p:spPr>
      </p:sp>
      <p:sp>
        <p:nvSpPr>
          <p:cNvPr id="21" name="Text 19"/>
          <p:cNvSpPr/>
          <p:nvPr/>
        </p:nvSpPr>
        <p:spPr>
          <a:xfrm>
            <a:off x="7428548"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Calidad de datos</a:t>
            </a:r>
            <a:endParaRPr lang="en-US" sz="2200" dirty="0"/>
          </a:p>
        </p:txBody>
      </p:sp>
      <p:sp>
        <p:nvSpPr>
          <p:cNvPr id="22" name="Text 20"/>
          <p:cNvSpPr/>
          <p:nvPr/>
        </p:nvSpPr>
        <p:spPr>
          <a:xfrm>
            <a:off x="7428548"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Garbage in → garbage out, datos sintéticos</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833199"/>
            <a:ext cx="9001363" cy="589836"/>
          </a:xfrm>
          <a:prstGeom prst="rect">
            <a:avLst/>
          </a:prstGeom>
          <a:noFill/>
          <a:ln/>
        </p:spPr>
        <p:txBody>
          <a:bodyPr wrap="none" lIns="0" tIns="0" rIns="0" bIns="0" rtlCol="0" anchor="t"/>
          <a:lstStyle/>
          <a:p>
            <a:pPr algn="l" indent="0" marL="0">
              <a:lnSpc>
                <a:spcPts val="4450"/>
              </a:lnSpc>
              <a:buNone/>
            </a:pPr>
            <a:r>
              <a:rPr lang="en-US" sz="3550" dirty="0">
                <a:solidFill>
                  <a:srgbClr val="000000"/>
                </a:solidFill>
                <a:latin typeface="Roboto Mono Medium" pitchFamily="34" charset="0"/>
                <a:ea typeface="Roboto Mono Medium" pitchFamily="34" charset="-122"/>
                <a:cs typeface="Roboto Mono Medium" pitchFamily="34" charset="-120"/>
              </a:rPr>
              <a:t>🧠</a:t>
            </a:r>
            <a:pPr algn="l" indent="0" marL="0">
              <a:lnSpc>
                <a:spcPts val="4450"/>
              </a:lnSpc>
              <a:buNone/>
            </a:pPr>
            <a:r>
              <a:rPr lang="en-US" sz="3550" dirty="0">
                <a:solidFill>
                  <a:srgbClr val="1F1E1E"/>
                </a:solidFill>
                <a:latin typeface="Roboto Mono Medium" pitchFamily="34" charset="0"/>
                <a:ea typeface="Roboto Mono Medium" pitchFamily="34" charset="-122"/>
                <a:cs typeface="Roboto Mono Medium" pitchFamily="34" charset="-120"/>
              </a:rPr>
              <a:t> Primera herramienta: PROMPTING</a:t>
            </a:r>
            <a:endParaRPr lang="en-US" sz="3550" dirty="0"/>
          </a:p>
        </p:txBody>
      </p:sp>
      <p:sp>
        <p:nvSpPr>
          <p:cNvPr id="3" name="Text 1"/>
          <p:cNvSpPr/>
          <p:nvPr/>
        </p:nvSpPr>
        <p:spPr>
          <a:xfrm>
            <a:off x="1065967" y="1876544"/>
            <a:ext cx="12770644" cy="261223"/>
          </a:xfrm>
          <a:prstGeom prst="rect">
            <a:avLst/>
          </a:prstGeom>
          <a:noFill/>
          <a:ln/>
        </p:spPr>
        <p:txBody>
          <a:bodyPr wrap="none" lIns="0" tIns="0" rIns="0" bIns="0" rtlCol="0" anchor="t"/>
          <a:lstStyle/>
          <a:p>
            <a:pPr algn="l" indent="0" marL="0">
              <a:lnSpc>
                <a:spcPts val="2050"/>
              </a:lnSpc>
              <a:buNone/>
            </a:pPr>
            <a:r>
              <a:rPr lang="en-US" sz="1400" i="1" dirty="0">
                <a:solidFill>
                  <a:srgbClr val="3B3535"/>
                </a:solidFill>
                <a:latin typeface="Roboto" pitchFamily="34" charset="0"/>
                <a:ea typeface="Roboto" pitchFamily="34" charset="-122"/>
                <a:cs typeface="Roboto" pitchFamily="34" charset="-120"/>
              </a:rPr>
              <a:t>Optimizar el input es la intervención más barata y efectiva</a:t>
            </a:r>
            <a:endParaRPr lang="en-US" sz="1400" dirty="0"/>
          </a:p>
        </p:txBody>
      </p:sp>
      <p:sp>
        <p:nvSpPr>
          <p:cNvPr id="4" name="Shape 2"/>
          <p:cNvSpPr/>
          <p:nvPr/>
        </p:nvSpPr>
        <p:spPr>
          <a:xfrm>
            <a:off x="793790" y="1713309"/>
            <a:ext cx="22860" cy="587693"/>
          </a:xfrm>
          <a:prstGeom prst="rect">
            <a:avLst/>
          </a:prstGeom>
          <a:solidFill>
            <a:srgbClr val="DA1B2E"/>
          </a:solidFill>
          <a:ln/>
        </p:spPr>
      </p:sp>
      <p:sp>
        <p:nvSpPr>
          <p:cNvPr id="5" name="Text 3"/>
          <p:cNvSpPr/>
          <p:nvPr/>
        </p:nvSpPr>
        <p:spPr>
          <a:xfrm>
            <a:off x="793790" y="2518648"/>
            <a:ext cx="3593425" cy="340162"/>
          </a:xfrm>
          <a:prstGeom prst="rect">
            <a:avLst/>
          </a:prstGeom>
          <a:noFill/>
          <a:ln/>
        </p:spPr>
        <p:txBody>
          <a:bodyPr wrap="none" lIns="0" tIns="0" rIns="0" bIns="0" rtlCol="0" anchor="t"/>
          <a:lstStyle/>
          <a:p>
            <a:pPr algn="l" indent="0" marL="0">
              <a:lnSpc>
                <a:spcPts val="2650"/>
              </a:lnSpc>
              <a:buNone/>
            </a:pPr>
            <a:r>
              <a:rPr lang="en-US" sz="2100" dirty="0">
                <a:solidFill>
                  <a:srgbClr val="1F1E1E"/>
                </a:solidFill>
                <a:latin typeface="Roboto Mono Medium" pitchFamily="34" charset="0"/>
                <a:ea typeface="Roboto Mono Medium" pitchFamily="34" charset="-122"/>
                <a:cs typeface="Roboto Mono Medium" pitchFamily="34" charset="-120"/>
              </a:rPr>
              <a:t>Técnicas de prompting:</a:t>
            </a:r>
            <a:endParaRPr lang="en-US" sz="21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1774" y="3081992"/>
            <a:ext cx="272177" cy="272177"/>
          </a:xfrm>
          <a:prstGeom prst="rect">
            <a:avLst/>
          </a:prstGeom>
        </p:spPr>
      </p:pic>
      <p:sp>
        <p:nvSpPr>
          <p:cNvPr id="7" name="Text 4"/>
          <p:cNvSpPr/>
          <p:nvPr/>
        </p:nvSpPr>
        <p:spPr>
          <a:xfrm>
            <a:off x="1383506" y="3076456"/>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Roboto Mono Medium" pitchFamily="34" charset="0"/>
                <a:ea typeface="Roboto Mono Medium" pitchFamily="34" charset="-122"/>
                <a:cs typeface="Roboto Mono Medium" pitchFamily="34" charset="-120"/>
              </a:rPr>
              <a:t>Zero-shot</a:t>
            </a:r>
            <a:endParaRPr lang="en-US" sz="1750" dirty="0"/>
          </a:p>
        </p:txBody>
      </p:sp>
      <p:sp>
        <p:nvSpPr>
          <p:cNvPr id="8" name="Text 5"/>
          <p:cNvSpPr/>
          <p:nvPr/>
        </p:nvSpPr>
        <p:spPr>
          <a:xfrm>
            <a:off x="1383506" y="3446978"/>
            <a:ext cx="12453104" cy="261223"/>
          </a:xfrm>
          <a:prstGeom prst="rect">
            <a:avLst/>
          </a:prstGeom>
          <a:noFill/>
          <a:ln/>
        </p:spPr>
        <p:txBody>
          <a:bodyPr wrap="none" lIns="0" tIns="0" rIns="0" bIns="0" rtlCol="0" anchor="t"/>
          <a:lstStyle/>
          <a:p>
            <a:pPr algn="l" indent="0" marL="0">
              <a:lnSpc>
                <a:spcPts val="2050"/>
              </a:lnSpc>
              <a:buNone/>
            </a:pPr>
            <a:r>
              <a:rPr lang="en-US" sz="1400" dirty="0">
                <a:solidFill>
                  <a:srgbClr val="3B3535"/>
                </a:solidFill>
                <a:latin typeface="Roboto" pitchFamily="34" charset="0"/>
                <a:ea typeface="Roboto" pitchFamily="34" charset="-122"/>
                <a:cs typeface="Roboto" pitchFamily="34" charset="-120"/>
              </a:rPr>
              <a:t>Solo la instrucción, sin ejemplos</a:t>
            </a:r>
            <a:endParaRPr lang="en-US" sz="14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774" y="4004012"/>
            <a:ext cx="272177" cy="272177"/>
          </a:xfrm>
          <a:prstGeom prst="rect">
            <a:avLst/>
          </a:prstGeom>
        </p:spPr>
      </p:pic>
      <p:sp>
        <p:nvSpPr>
          <p:cNvPr id="10" name="Text 6"/>
          <p:cNvSpPr/>
          <p:nvPr/>
        </p:nvSpPr>
        <p:spPr>
          <a:xfrm>
            <a:off x="1383506" y="3998476"/>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Roboto Mono Medium" pitchFamily="34" charset="0"/>
                <a:ea typeface="Roboto Mono Medium" pitchFamily="34" charset="-122"/>
                <a:cs typeface="Roboto Mono Medium" pitchFamily="34" charset="-120"/>
              </a:rPr>
              <a:t>Few-shot</a:t>
            </a:r>
            <a:endParaRPr lang="en-US" sz="1750" dirty="0"/>
          </a:p>
        </p:txBody>
      </p:sp>
      <p:sp>
        <p:nvSpPr>
          <p:cNvPr id="11" name="Text 7"/>
          <p:cNvSpPr/>
          <p:nvPr/>
        </p:nvSpPr>
        <p:spPr>
          <a:xfrm>
            <a:off x="1383506" y="4368998"/>
            <a:ext cx="12453104" cy="261223"/>
          </a:xfrm>
          <a:prstGeom prst="rect">
            <a:avLst/>
          </a:prstGeom>
          <a:noFill/>
          <a:ln/>
        </p:spPr>
        <p:txBody>
          <a:bodyPr wrap="none" lIns="0" tIns="0" rIns="0" bIns="0" rtlCol="0" anchor="t"/>
          <a:lstStyle/>
          <a:p>
            <a:pPr algn="l" indent="0" marL="0">
              <a:lnSpc>
                <a:spcPts val="2050"/>
              </a:lnSpc>
              <a:buNone/>
            </a:pPr>
            <a:r>
              <a:rPr lang="en-US" sz="1400" dirty="0">
                <a:solidFill>
                  <a:srgbClr val="3B3535"/>
                </a:solidFill>
                <a:latin typeface="Roboto" pitchFamily="34" charset="0"/>
                <a:ea typeface="Roboto" pitchFamily="34" charset="-122"/>
                <a:cs typeface="Roboto" pitchFamily="34" charset="-120"/>
              </a:rPr>
              <a:t>Instrucción + ejemplos de input/output esperado</a:t>
            </a:r>
            <a:endParaRPr lang="en-US" sz="14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1774" y="4926032"/>
            <a:ext cx="272177" cy="272177"/>
          </a:xfrm>
          <a:prstGeom prst="rect">
            <a:avLst/>
          </a:prstGeom>
        </p:spPr>
      </p:pic>
      <p:sp>
        <p:nvSpPr>
          <p:cNvPr id="13" name="Text 8"/>
          <p:cNvSpPr/>
          <p:nvPr/>
        </p:nvSpPr>
        <p:spPr>
          <a:xfrm>
            <a:off x="1383506" y="4920496"/>
            <a:ext cx="2992874" cy="283488"/>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Roboto Mono Medium" pitchFamily="34" charset="0"/>
                <a:ea typeface="Roboto Mono Medium" pitchFamily="34" charset="-122"/>
                <a:cs typeface="Roboto Mono Medium" pitchFamily="34" charset="-120"/>
              </a:rPr>
              <a:t>Chain-of-thought (CoT)</a:t>
            </a:r>
            <a:endParaRPr lang="en-US" sz="1750" dirty="0"/>
          </a:p>
        </p:txBody>
      </p:sp>
      <p:sp>
        <p:nvSpPr>
          <p:cNvPr id="14" name="Text 9"/>
          <p:cNvSpPr/>
          <p:nvPr/>
        </p:nvSpPr>
        <p:spPr>
          <a:xfrm>
            <a:off x="1383506" y="5291018"/>
            <a:ext cx="12453104" cy="261223"/>
          </a:xfrm>
          <a:prstGeom prst="rect">
            <a:avLst/>
          </a:prstGeom>
          <a:noFill/>
          <a:ln/>
        </p:spPr>
        <p:txBody>
          <a:bodyPr wrap="none" lIns="0" tIns="0" rIns="0" bIns="0" rtlCol="0" anchor="t"/>
          <a:lstStyle/>
          <a:p>
            <a:pPr algn="l" indent="0" marL="0">
              <a:lnSpc>
                <a:spcPts val="2050"/>
              </a:lnSpc>
              <a:buNone/>
            </a:pPr>
            <a:r>
              <a:rPr lang="en-US" sz="1400" dirty="0">
                <a:solidFill>
                  <a:srgbClr val="3B3535"/>
                </a:solidFill>
                <a:latin typeface="Roboto" pitchFamily="34" charset="0"/>
                <a:ea typeface="Roboto" pitchFamily="34" charset="-122"/>
                <a:cs typeface="Roboto" pitchFamily="34" charset="-120"/>
              </a:rPr>
              <a:t>Pedirle que razone paso a paso</a:t>
            </a:r>
            <a:endParaRPr lang="en-US" sz="14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1774" y="5848052"/>
            <a:ext cx="272177" cy="272177"/>
          </a:xfrm>
          <a:prstGeom prst="rect">
            <a:avLst/>
          </a:prstGeom>
        </p:spPr>
      </p:pic>
      <p:sp>
        <p:nvSpPr>
          <p:cNvPr id="16" name="Text 10"/>
          <p:cNvSpPr/>
          <p:nvPr/>
        </p:nvSpPr>
        <p:spPr>
          <a:xfrm>
            <a:off x="1383506" y="5842516"/>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Roboto Mono Medium" pitchFamily="34" charset="0"/>
                <a:ea typeface="Roboto Mono Medium" pitchFamily="34" charset="-122"/>
                <a:cs typeface="Roboto Mono Medium" pitchFamily="34" charset="-120"/>
              </a:rPr>
              <a:t>Role prompting</a:t>
            </a:r>
            <a:endParaRPr lang="en-US" sz="1750" dirty="0"/>
          </a:p>
        </p:txBody>
      </p:sp>
      <p:sp>
        <p:nvSpPr>
          <p:cNvPr id="17" name="Text 11"/>
          <p:cNvSpPr/>
          <p:nvPr/>
        </p:nvSpPr>
        <p:spPr>
          <a:xfrm>
            <a:off x="1383506" y="6213038"/>
            <a:ext cx="12453104" cy="261223"/>
          </a:xfrm>
          <a:prstGeom prst="rect">
            <a:avLst/>
          </a:prstGeom>
          <a:noFill/>
          <a:ln/>
        </p:spPr>
        <p:txBody>
          <a:bodyPr wrap="none" lIns="0" tIns="0" rIns="0" bIns="0" rtlCol="0" anchor="t"/>
          <a:lstStyle/>
          <a:p>
            <a:pPr algn="l" indent="0" marL="0">
              <a:lnSpc>
                <a:spcPts val="2050"/>
              </a:lnSpc>
              <a:buNone/>
            </a:pPr>
            <a:r>
              <a:rPr lang="en-US" sz="1400" dirty="0">
                <a:solidFill>
                  <a:srgbClr val="3B3535"/>
                </a:solidFill>
                <a:latin typeface="Roboto" pitchFamily="34" charset="0"/>
                <a:ea typeface="Roboto" pitchFamily="34" charset="-122"/>
                <a:cs typeface="Roboto" pitchFamily="34" charset="-120"/>
              </a:rPr>
              <a:t>Asignarle un rol ("Sos un cardiólogo con 20 años de experiencia")</a:t>
            </a:r>
            <a:endParaRPr lang="en-US" sz="14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1774" y="6770072"/>
            <a:ext cx="272177" cy="272177"/>
          </a:xfrm>
          <a:prstGeom prst="rect">
            <a:avLst/>
          </a:prstGeom>
        </p:spPr>
      </p:pic>
      <p:sp>
        <p:nvSpPr>
          <p:cNvPr id="19" name="Text 12"/>
          <p:cNvSpPr/>
          <p:nvPr/>
        </p:nvSpPr>
        <p:spPr>
          <a:xfrm>
            <a:off x="1383506" y="6764536"/>
            <a:ext cx="3128963" cy="283488"/>
          </a:xfrm>
          <a:prstGeom prst="rect">
            <a:avLst/>
          </a:prstGeom>
          <a:noFill/>
          <a:ln/>
        </p:spPr>
        <p:txBody>
          <a:bodyPr wrap="none" lIns="0" tIns="0" rIns="0" bIns="0" rtlCol="0" anchor="t"/>
          <a:lstStyle/>
          <a:p>
            <a:pPr algn="l" indent="0" marL="0">
              <a:lnSpc>
                <a:spcPts val="2200"/>
              </a:lnSpc>
              <a:buNone/>
            </a:pPr>
            <a:r>
              <a:rPr lang="en-US" sz="1750" dirty="0">
                <a:solidFill>
                  <a:srgbClr val="3B3535"/>
                </a:solidFill>
                <a:latin typeface="Roboto Mono Medium" pitchFamily="34" charset="0"/>
                <a:ea typeface="Roboto Mono Medium" pitchFamily="34" charset="-122"/>
                <a:cs typeface="Roboto Mono Medium" pitchFamily="34" charset="-120"/>
              </a:rPr>
              <a:t>Instrucciones negativas</a:t>
            </a:r>
            <a:endParaRPr lang="en-US" sz="1750" dirty="0"/>
          </a:p>
        </p:txBody>
      </p:sp>
      <p:sp>
        <p:nvSpPr>
          <p:cNvPr id="20" name="Text 13"/>
          <p:cNvSpPr/>
          <p:nvPr/>
        </p:nvSpPr>
        <p:spPr>
          <a:xfrm>
            <a:off x="1383506" y="7135058"/>
            <a:ext cx="12453104" cy="261223"/>
          </a:xfrm>
          <a:prstGeom prst="rect">
            <a:avLst/>
          </a:prstGeom>
          <a:noFill/>
          <a:ln/>
        </p:spPr>
        <p:txBody>
          <a:bodyPr wrap="none" lIns="0" tIns="0" rIns="0" bIns="0" rtlCol="0" anchor="t"/>
          <a:lstStyle/>
          <a:p>
            <a:pPr algn="l" indent="0" marL="0">
              <a:lnSpc>
                <a:spcPts val="2050"/>
              </a:lnSpc>
              <a:buNone/>
            </a:pPr>
            <a:r>
              <a:rPr lang="en-US" sz="1400" dirty="0">
                <a:solidFill>
                  <a:srgbClr val="3B3535"/>
                </a:solidFill>
                <a:latin typeface="Roboto" pitchFamily="34" charset="0"/>
                <a:ea typeface="Roboto" pitchFamily="34" charset="-122"/>
                <a:cs typeface="Roboto" pitchFamily="34" charset="-120"/>
              </a:rPr>
              <a:t>Decirle qué NO hacer ("No inventes información")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783193"/>
            <a:ext cx="10913269"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Ejemplo concreto de prompting</a:t>
            </a:r>
            <a:endParaRPr lang="en-US" sz="4450" dirty="0"/>
          </a:p>
        </p:txBody>
      </p:sp>
      <p:sp>
        <p:nvSpPr>
          <p:cNvPr id="3" name="Text 1"/>
          <p:cNvSpPr/>
          <p:nvPr/>
        </p:nvSpPr>
        <p:spPr>
          <a:xfrm>
            <a:off x="793790" y="2081808"/>
            <a:ext cx="2903696" cy="36195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Roboto Mono Medium" pitchFamily="34" charset="0"/>
                <a:ea typeface="Roboto Mono Medium" pitchFamily="34" charset="-122"/>
                <a:cs typeface="Roboto Mono Medium" pitchFamily="34" charset="-120"/>
              </a:rPr>
              <a:t>❌</a:t>
            </a:r>
            <a:pPr algn="l" indent="0" marL="0">
              <a:lnSpc>
                <a:spcPts val="2750"/>
              </a:lnSpc>
              <a:buNone/>
            </a:pPr>
            <a:r>
              <a:rPr lang="en-US" sz="2200" dirty="0">
                <a:solidFill>
                  <a:srgbClr val="1F1E1E"/>
                </a:solidFill>
                <a:latin typeface="Roboto Mono Medium" pitchFamily="34" charset="0"/>
                <a:ea typeface="Roboto Mono Medium" pitchFamily="34" charset="-122"/>
                <a:cs typeface="Roboto Mono Medium" pitchFamily="34" charset="-120"/>
              </a:rPr>
              <a:t> Prompt simple:</a:t>
            </a:r>
            <a:endParaRPr lang="en-US" sz="2200" dirty="0"/>
          </a:p>
        </p:txBody>
      </p:sp>
      <p:sp>
        <p:nvSpPr>
          <p:cNvPr id="4" name="Text 2"/>
          <p:cNvSpPr/>
          <p:nvPr/>
        </p:nvSpPr>
        <p:spPr>
          <a:xfrm>
            <a:off x="793790" y="2670572"/>
            <a:ext cx="624470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"Resume este texto"</a:t>
            </a:r>
            <a:endParaRPr lang="en-US" sz="1750" dirty="0"/>
          </a:p>
        </p:txBody>
      </p:sp>
      <p:sp>
        <p:nvSpPr>
          <p:cNvPr id="5" name="Text 3"/>
          <p:cNvSpPr/>
          <p:nvPr/>
        </p:nvSpPr>
        <p:spPr>
          <a:xfrm>
            <a:off x="793790" y="3237548"/>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Problemas: no sabe qué priorizar, puede inventar, no tiene formato.</a:t>
            </a:r>
            <a:endParaRPr lang="en-US" sz="1750" dirty="0"/>
          </a:p>
        </p:txBody>
      </p:sp>
      <p:sp>
        <p:nvSpPr>
          <p:cNvPr id="6" name="Text 4"/>
          <p:cNvSpPr/>
          <p:nvPr/>
        </p:nvSpPr>
        <p:spPr>
          <a:xfrm>
            <a:off x="7599521" y="2081808"/>
            <a:ext cx="5284351" cy="361950"/>
          </a:xfrm>
          <a:prstGeom prst="rect">
            <a:avLst/>
          </a:prstGeom>
          <a:noFill/>
          <a:ln/>
        </p:spPr>
        <p:txBody>
          <a:bodyPr wrap="none" lIns="0" tIns="0" rIns="0" bIns="0" rtlCol="0" anchor="t"/>
          <a:lstStyle/>
          <a:p>
            <a:pPr algn="l" indent="0" marL="0">
              <a:lnSpc>
                <a:spcPts val="2750"/>
              </a:lnSpc>
              <a:buNone/>
            </a:pPr>
            <a:r>
              <a:rPr lang="en-US" sz="2200" dirty="0">
                <a:solidFill>
                  <a:srgbClr val="000000"/>
                </a:solidFill>
                <a:latin typeface="Roboto Mono Medium" pitchFamily="34" charset="0"/>
                <a:ea typeface="Roboto Mono Medium" pitchFamily="34" charset="-122"/>
                <a:cs typeface="Roboto Mono Medium" pitchFamily="34" charset="-120"/>
              </a:rPr>
              <a:t>✅</a:t>
            </a:r>
            <a:pPr algn="l" indent="0" marL="0">
              <a:lnSpc>
                <a:spcPts val="2750"/>
              </a:lnSpc>
              <a:buNone/>
            </a:pPr>
            <a:r>
              <a:rPr lang="en-US" sz="2200" dirty="0">
                <a:solidFill>
                  <a:srgbClr val="1F1E1E"/>
                </a:solidFill>
                <a:latin typeface="Roboto Mono Medium" pitchFamily="34" charset="0"/>
                <a:ea typeface="Roboto Mono Medium" pitchFamily="34" charset="-122"/>
                <a:cs typeface="Roboto Mono Medium" pitchFamily="34" charset="-120"/>
              </a:rPr>
              <a:t> Prompt mejorado (biomédico):</a:t>
            </a:r>
            <a:endParaRPr lang="en-US" sz="2200" dirty="0"/>
          </a:p>
        </p:txBody>
      </p:sp>
      <p:sp>
        <p:nvSpPr>
          <p:cNvPr id="7" name="Text 5"/>
          <p:cNvSpPr/>
          <p:nvPr/>
        </p:nvSpPr>
        <p:spPr>
          <a:xfrm>
            <a:off x="7599521" y="2670572"/>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"Sos un médico clínico. Resumí esta historia clínica en formato SOAP:</a:t>
            </a:r>
            <a:endParaRPr lang="en-US" sz="1750" dirty="0"/>
          </a:p>
        </p:txBody>
      </p:sp>
      <p:sp>
        <p:nvSpPr>
          <p:cNvPr id="8" name="Text 6"/>
          <p:cNvSpPr/>
          <p:nvPr/>
        </p:nvSpPr>
        <p:spPr>
          <a:xfrm>
            <a:off x="7599521" y="3600450"/>
            <a:ext cx="6244709"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S (Subjetivo): motivo de consulta y síntomas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O (Objetivo): signos vitales, exámenes, hallazgos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A (Análisis): diagnóstico presuntivo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P (Plan): tratamiento y seguimiento</a:t>
            </a:r>
            <a:endParaRPr lang="en-US" sz="1750" dirty="0"/>
          </a:p>
        </p:txBody>
      </p:sp>
      <p:sp>
        <p:nvSpPr>
          <p:cNvPr id="9" name="Text 7"/>
          <p:cNvSpPr/>
          <p:nvPr/>
        </p:nvSpPr>
        <p:spPr>
          <a:xfrm>
            <a:off x="7599521" y="5494020"/>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No inventes info. Si falta un dato: 'No especificado'. Máx 200 palabras."</a:t>
            </a:r>
            <a:endParaRPr lang="en-US" sz="1750" dirty="0"/>
          </a:p>
        </p:txBody>
      </p:sp>
      <p:sp>
        <p:nvSpPr>
          <p:cNvPr id="10" name="Shape 8"/>
          <p:cNvSpPr/>
          <p:nvPr/>
        </p:nvSpPr>
        <p:spPr>
          <a:xfrm>
            <a:off x="793790" y="6792430"/>
            <a:ext cx="13042821" cy="35957"/>
          </a:xfrm>
          <a:prstGeom prst="rect">
            <a:avLst/>
          </a:prstGeom>
          <a:solidFill>
            <a:srgbClr val="3B3535">
              <a:alpha val="50000"/>
            </a:srgbClr>
          </a:solidFill>
          <a:ln/>
        </p:spPr>
      </p:sp>
      <p:sp>
        <p:nvSpPr>
          <p:cNvPr id="11" name="Text 9"/>
          <p:cNvSpPr/>
          <p:nvPr/>
        </p:nvSpPr>
        <p:spPr>
          <a:xfrm>
            <a:off x="793790" y="7083504"/>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Define rol, formato, instrucciones negativas, límites y manejo de incertidumbre. Mejora drástica sin tocar el modelo.</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1225748"/>
            <a:ext cx="10913269"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Insight clave sobre prompting</a:t>
            </a:r>
            <a:endParaRPr lang="en-US" sz="4450" dirty="0"/>
          </a:p>
        </p:txBody>
      </p:sp>
      <p:sp>
        <p:nvSpPr>
          <p:cNvPr id="3" name="Text 1"/>
          <p:cNvSpPr/>
          <p:nvPr/>
        </p:nvSpPr>
        <p:spPr>
          <a:xfrm>
            <a:off x="1133951" y="2666167"/>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El prompt define el comportamiento del modelo</a:t>
            </a:r>
            <a:endParaRPr lang="en-US" sz="1750" dirty="0"/>
          </a:p>
        </p:txBody>
      </p:sp>
      <p:sp>
        <p:nvSpPr>
          <p:cNvPr id="4" name="Shape 2"/>
          <p:cNvSpPr/>
          <p:nvPr/>
        </p:nvSpPr>
        <p:spPr>
          <a:xfrm>
            <a:off x="793790" y="2411016"/>
            <a:ext cx="30480" cy="873204"/>
          </a:xfrm>
          <a:prstGeom prst="rect">
            <a:avLst/>
          </a:prstGeom>
          <a:solidFill>
            <a:srgbClr val="DA1B2E"/>
          </a:solidFill>
          <a:ln/>
        </p:spPr>
      </p:sp>
      <p:sp>
        <p:nvSpPr>
          <p:cNvPr id="5" name="Text 3"/>
          <p:cNvSpPr/>
          <p:nvPr/>
        </p:nvSpPr>
        <p:spPr>
          <a:xfrm>
            <a:off x="793790" y="353937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Dos prompts distintos al mismo modelo pueden dar resultados radicalmente diferentes.</a:t>
            </a:r>
            <a:endParaRPr lang="en-US" sz="1750" dirty="0"/>
          </a:p>
        </p:txBody>
      </p:sp>
      <p:sp>
        <p:nvSpPr>
          <p:cNvPr id="6" name="Text 4"/>
          <p:cNvSpPr/>
          <p:nvPr/>
        </p:nvSpPr>
        <p:spPr>
          <a:xfrm>
            <a:off x="793790" y="415742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Anología: el LLM es un instrumento muy versátil. El prompt es la partitura. Si le das una partitura vaga, toca lo que quiere. Si le das una partitura detallada, toca lo que necesitás.</a:t>
            </a:r>
            <a:endParaRPr lang="en-US" sz="1750" dirty="0"/>
          </a:p>
        </p:txBody>
      </p:sp>
      <p:sp>
        <p:nvSpPr>
          <p:cNvPr id="7" name="Text 5"/>
          <p:cNvSpPr/>
          <p:nvPr/>
        </p:nvSpPr>
        <p:spPr>
          <a:xfrm>
            <a:off x="793790" y="5138380"/>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Implicaciones prácticas:</a:t>
            </a:r>
            <a:endParaRPr lang="en-US" sz="1750" dirty="0"/>
          </a:p>
        </p:txBody>
      </p:sp>
      <p:sp>
        <p:nvSpPr>
          <p:cNvPr id="8" name="Text 6"/>
          <p:cNvSpPr/>
          <p:nvPr/>
        </p:nvSpPr>
        <p:spPr>
          <a:xfrm>
            <a:off x="793790" y="5756434"/>
            <a:ext cx="13042821"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Antes de fine-tuning → invertí horas en mejorar prompts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Documentá tus prompts como si fueran código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Testeá variaciones sistemáticamente (prompt engineering ≈ experimento)</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Agenda</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01</a:t>
            </a:r>
            <a:endParaRPr lang="en-US" sz="1750" dirty="0"/>
          </a:p>
        </p:txBody>
      </p:sp>
      <p:sp>
        <p:nvSpPr>
          <p:cNvPr id="4" name="Shape 2"/>
          <p:cNvSpPr/>
          <p:nvPr/>
        </p:nvSpPr>
        <p:spPr>
          <a:xfrm>
            <a:off x="793790" y="3203496"/>
            <a:ext cx="4196358" cy="30480"/>
          </a:xfrm>
          <a:prstGeom prst="rect">
            <a:avLst/>
          </a:prstGeom>
          <a:solidFill>
            <a:srgbClr val="DA1B2E"/>
          </a:solidFill>
          <a:ln/>
        </p:spPr>
      </p:sp>
      <p:sp>
        <p:nvSpPr>
          <p:cNvPr id="5" name="Text 3"/>
          <p:cNvSpPr/>
          <p:nvPr/>
        </p:nvSpPr>
        <p:spPr>
          <a:xfrm>
            <a:off x="793790"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Repaso</a:t>
            </a:r>
            <a:endParaRPr lang="en-US" sz="2200" dirty="0"/>
          </a:p>
        </p:txBody>
      </p:sp>
      <p:sp>
        <p:nvSpPr>
          <p:cNvPr id="6" name="Text 4"/>
          <p:cNvSpPr/>
          <p:nvPr/>
        </p:nvSpPr>
        <p:spPr>
          <a:xfrm>
            <a:off x="793790"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es un LLM y cómo se entrena?</a:t>
            </a:r>
            <a:endParaRPr lang="en-US" sz="1750" dirty="0"/>
          </a:p>
        </p:txBody>
      </p:sp>
      <p:sp>
        <p:nvSpPr>
          <p:cNvPr id="7" name="Text 5"/>
          <p:cNvSpPr/>
          <p:nvPr/>
        </p:nvSpPr>
        <p:spPr>
          <a:xfrm>
            <a:off x="5216962"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02</a:t>
            </a:r>
            <a:endParaRPr lang="en-US" sz="1750" dirty="0"/>
          </a:p>
        </p:txBody>
      </p:sp>
      <p:sp>
        <p:nvSpPr>
          <p:cNvPr id="8" name="Shape 6"/>
          <p:cNvSpPr/>
          <p:nvPr/>
        </p:nvSpPr>
        <p:spPr>
          <a:xfrm>
            <a:off x="5216962" y="3203496"/>
            <a:ext cx="4196358" cy="30480"/>
          </a:xfrm>
          <a:prstGeom prst="rect">
            <a:avLst/>
          </a:prstGeom>
          <a:solidFill>
            <a:srgbClr val="DA1B2E"/>
          </a:solidFill>
          <a:ln/>
        </p:spPr>
      </p:sp>
      <p:sp>
        <p:nvSpPr>
          <p:cNvPr id="9" name="Text 7"/>
          <p:cNvSpPr/>
          <p:nvPr/>
        </p:nvSpPr>
        <p:spPr>
          <a:xfrm>
            <a:off x="5216962"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Evaluación</a:t>
            </a:r>
            <a:endParaRPr lang="en-US" sz="2200" dirty="0"/>
          </a:p>
        </p:txBody>
      </p:sp>
      <p:sp>
        <p:nvSpPr>
          <p:cNvPr id="10" name="Text 8"/>
          <p:cNvSpPr/>
          <p:nvPr/>
        </p:nvSpPr>
        <p:spPr>
          <a:xfrm>
            <a:off x="5216962" y="3868222"/>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Métricas, benchmarks y evaluación humana</a:t>
            </a:r>
            <a:endParaRPr lang="en-US" sz="1750" dirty="0"/>
          </a:p>
        </p:txBody>
      </p:sp>
      <p:sp>
        <p:nvSpPr>
          <p:cNvPr id="11" name="Text 9"/>
          <p:cNvSpPr/>
          <p:nvPr/>
        </p:nvSpPr>
        <p:spPr>
          <a:xfrm>
            <a:off x="9640133"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03</a:t>
            </a:r>
            <a:endParaRPr lang="en-US" sz="1750" dirty="0"/>
          </a:p>
        </p:txBody>
      </p:sp>
      <p:sp>
        <p:nvSpPr>
          <p:cNvPr id="12" name="Shape 10"/>
          <p:cNvSpPr/>
          <p:nvPr/>
        </p:nvSpPr>
        <p:spPr>
          <a:xfrm>
            <a:off x="9640133" y="3203496"/>
            <a:ext cx="4196358" cy="30480"/>
          </a:xfrm>
          <a:prstGeom prst="rect">
            <a:avLst/>
          </a:prstGeom>
          <a:solidFill>
            <a:srgbClr val="DA1B2E"/>
          </a:solidFill>
          <a:ln/>
        </p:spPr>
      </p:sp>
      <p:sp>
        <p:nvSpPr>
          <p:cNvPr id="13" name="Text 11"/>
          <p:cNvSpPr/>
          <p:nvPr/>
        </p:nvSpPr>
        <p:spPr>
          <a:xfrm>
            <a:off x="9640133"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Prompting</a:t>
            </a:r>
            <a:endParaRPr lang="en-US" sz="2200" dirty="0"/>
          </a:p>
        </p:txBody>
      </p:sp>
      <p:sp>
        <p:nvSpPr>
          <p:cNvPr id="14" name="Text 12"/>
          <p:cNvSpPr/>
          <p:nvPr/>
        </p:nvSpPr>
        <p:spPr>
          <a:xfrm>
            <a:off x="9640133"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Primera herramienta de mejora</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04</a:t>
            </a:r>
            <a:endParaRPr lang="en-US" sz="1750" dirty="0"/>
          </a:p>
        </p:txBody>
      </p:sp>
      <p:sp>
        <p:nvSpPr>
          <p:cNvPr id="16" name="Shape 14"/>
          <p:cNvSpPr/>
          <p:nvPr/>
        </p:nvSpPr>
        <p:spPr>
          <a:xfrm>
            <a:off x="793790" y="5345906"/>
            <a:ext cx="6407944" cy="30480"/>
          </a:xfrm>
          <a:prstGeom prst="rect">
            <a:avLst/>
          </a:prstGeom>
          <a:solidFill>
            <a:srgbClr val="DA1B2E"/>
          </a:solidFill>
          <a:ln/>
        </p:spPr>
      </p:sp>
      <p:sp>
        <p:nvSpPr>
          <p:cNvPr id="17" name="Text 15"/>
          <p:cNvSpPr/>
          <p:nvPr/>
        </p:nvSpPr>
        <p:spPr>
          <a:xfrm>
            <a:off x="793790" y="552021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3B3535"/>
                </a:solidFill>
                <a:latin typeface="Roboto Mono Medium" pitchFamily="34" charset="0"/>
                <a:ea typeface="Roboto Mono Medium" pitchFamily="34" charset="-122"/>
                <a:cs typeface="Roboto Mono Medium" pitchFamily="34" charset="-120"/>
              </a:rPr>
              <a:t>Fine-tuning</a:t>
            </a:r>
            <a:endParaRPr lang="en-US" sz="2200" dirty="0"/>
          </a:p>
        </p:txBody>
      </p:sp>
      <p:sp>
        <p:nvSpPr>
          <p:cNvPr id="18" name="Text 16"/>
          <p:cNvSpPr/>
          <p:nvPr/>
        </p:nvSpPr>
        <p:spPr>
          <a:xfrm>
            <a:off x="793790" y="6010632"/>
            <a:ext cx="6407944"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Cuándo sí, cuándo no, y requisitos</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DA1B2E"/>
          </a:solidFill>
          <a:ln/>
        </p:spPr>
      </p:sp>
      <p:sp>
        <p:nvSpPr>
          <p:cNvPr id="21" name="Text 19"/>
          <p:cNvSpPr/>
          <p:nvPr/>
        </p:nvSpPr>
        <p:spPr>
          <a:xfrm>
            <a:off x="7428548"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Calidad de datos</a:t>
            </a:r>
            <a:endParaRPr lang="en-US" sz="2200" dirty="0"/>
          </a:p>
        </p:txBody>
      </p:sp>
      <p:sp>
        <p:nvSpPr>
          <p:cNvPr id="22" name="Text 20"/>
          <p:cNvSpPr/>
          <p:nvPr/>
        </p:nvSpPr>
        <p:spPr>
          <a:xfrm>
            <a:off x="7428548"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Garbage in → garbage out, datos sintéticos</a:t>
            </a:r>
            <a:endParaRPr lang="en-US" sz="1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1495187"/>
            <a:ext cx="8871823"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Fine-tuning: definición</a:t>
            </a:r>
            <a:endParaRPr lang="en-US" sz="4450" dirty="0"/>
          </a:p>
        </p:txBody>
      </p:sp>
      <p:sp>
        <p:nvSpPr>
          <p:cNvPr id="3" name="Text 1"/>
          <p:cNvSpPr/>
          <p:nvPr/>
        </p:nvSpPr>
        <p:spPr>
          <a:xfrm>
            <a:off x="1133951" y="2935605"/>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Fine-tuning = reentrenar un LLM pre-entrenado con datos específicos de tu dominio o tarea</a:t>
            </a:r>
            <a:endParaRPr lang="en-US" sz="1750" dirty="0"/>
          </a:p>
        </p:txBody>
      </p:sp>
      <p:sp>
        <p:nvSpPr>
          <p:cNvPr id="4" name="Shape 2"/>
          <p:cNvSpPr/>
          <p:nvPr/>
        </p:nvSpPr>
        <p:spPr>
          <a:xfrm>
            <a:off x="793790" y="2680454"/>
            <a:ext cx="30480" cy="873204"/>
          </a:xfrm>
          <a:prstGeom prst="rect">
            <a:avLst/>
          </a:prstGeom>
          <a:solidFill>
            <a:srgbClr val="DA1B2E"/>
          </a:solidFill>
          <a:ln/>
        </p:spPr>
      </p:sp>
      <p:sp>
        <p:nvSpPr>
          <p:cNvPr id="5" name="Text 3"/>
          <p:cNvSpPr/>
          <p:nvPr/>
        </p:nvSpPr>
        <p:spPr>
          <a:xfrm>
            <a:off x="793790" y="380880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cambia? Los pesos internos se actualizan, el modelo aprende patrones nuevos, se especializa.</a:t>
            </a:r>
            <a:endParaRPr lang="en-US" sz="1750" dirty="0"/>
          </a:p>
        </p:txBody>
      </p:sp>
      <p:sp>
        <p:nvSpPr>
          <p:cNvPr id="6" name="Text 4"/>
          <p:cNvSpPr/>
          <p:nvPr/>
        </p:nvSpPr>
        <p:spPr>
          <a:xfrm>
            <a:off x="793790" y="442686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Tipos de fine-tuning:</a:t>
            </a:r>
            <a:endParaRPr lang="en-US" sz="1750" dirty="0"/>
          </a:p>
        </p:txBody>
      </p:sp>
      <p:sp>
        <p:nvSpPr>
          <p:cNvPr id="7" name="Text 5"/>
          <p:cNvSpPr/>
          <p:nvPr/>
        </p:nvSpPr>
        <p:spPr>
          <a:xfrm>
            <a:off x="793790" y="5044916"/>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Full fine-tuning:</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se actualizan todos los parámetros (costoso, muchas GPUs)</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LoRA / QLoRA:</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se entrenan solo pequeñas matrices adicionales (eficiente, 1 GPU)</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Instruction tuning:</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fine-tuning con pares instrucción → respuesta</a:t>
            </a:r>
            <a:endParaRPr lang="en-US" sz="1750" dirty="0"/>
          </a:p>
          <a:p>
            <a:pPr algn="l" marL="342900" indent="-342900">
              <a:lnSpc>
                <a:spcPts val="2850"/>
              </a:lnSpc>
              <a:buSzPct val="100000"/>
              <a:buChar char="•"/>
            </a:pPr>
            <a:r>
              <a:rPr lang="en-US" sz="1750" b="1" dirty="0">
                <a:solidFill>
                  <a:srgbClr val="3B3535"/>
                </a:solidFill>
                <a:latin typeface="Roboto" pitchFamily="34" charset="0"/>
                <a:ea typeface="Roboto" pitchFamily="34" charset="-122"/>
                <a:cs typeface="Roboto" pitchFamily="34" charset="-120"/>
              </a:rPr>
              <a:t>Domain adaptation:</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fine-tuning con texto del dominio (ej: papers médicos)</a:t>
            </a:r>
            <a:endParaRPr lang="en-US" sz="1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793790" y="919877"/>
            <a:ext cx="13042821" cy="963811"/>
          </a:xfrm>
          <a:prstGeom prst="roundRect">
            <a:avLst>
              <a:gd name="adj" fmla="val 949"/>
            </a:avLst>
          </a:prstGeom>
          <a:solidFill>
            <a:srgbClr val="F7BBC1"/>
          </a:solidFill>
          <a:ln/>
        </p:spPr>
      </p:sp>
      <p:pic>
        <p:nvPicPr>
          <p:cNvPr id="3" name="Image 0" descr="preencoded.png">    </p:cNvPr>
          <p:cNvPicPr>
            <a:picLocks noChangeAspect="1"/>
          </p:cNvPicPr>
          <p:nvPr/>
        </p:nvPicPr>
        <p:blipFill>
          <a:blip r:embed="rId1"/>
          <a:stretch>
            <a:fillRect/>
          </a:stretch>
        </p:blipFill>
        <p:spPr>
          <a:xfrm>
            <a:off x="1020604" y="1263968"/>
            <a:ext cx="283488" cy="226814"/>
          </a:xfrm>
          <a:prstGeom prst="rect">
            <a:avLst/>
          </a:prstGeom>
        </p:spPr>
      </p:pic>
      <p:sp>
        <p:nvSpPr>
          <p:cNvPr id="4" name="Text 1"/>
          <p:cNvSpPr/>
          <p:nvPr/>
        </p:nvSpPr>
        <p:spPr>
          <a:xfrm>
            <a:off x="1530906" y="1203365"/>
            <a:ext cx="1207889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a:t>
            </a:r>
            <a:pPr algn="l" indent="0" marL="0">
              <a:lnSpc>
                <a:spcPts val="2850"/>
              </a:lnSpc>
              <a:buNone/>
            </a:pPr>
            <a:r>
              <a:rPr lang="en-US" sz="1750" b="1" dirty="0">
                <a:solidFill>
                  <a:srgbClr val="000000"/>
                </a:solidFill>
                <a:latin typeface="Roboto" pitchFamily="34" charset="0"/>
                <a:ea typeface="Roboto" pitchFamily="34" charset="-122"/>
                <a:cs typeface="Roboto" pitchFamily="34" charset="-120"/>
              </a:rPr>
              <a:t>WARNING</a:t>
            </a:r>
            <a:endParaRPr lang="en-US" sz="1750" dirty="0"/>
          </a:p>
        </p:txBody>
      </p:sp>
      <p:sp>
        <p:nvSpPr>
          <p:cNvPr id="5" name="Text 2"/>
          <p:cNvSpPr/>
          <p:nvPr/>
        </p:nvSpPr>
        <p:spPr>
          <a:xfrm>
            <a:off x="793790" y="2223849"/>
            <a:ext cx="13042821" cy="1133951"/>
          </a:xfrm>
          <a:prstGeom prst="rect">
            <a:avLst/>
          </a:prstGeom>
          <a:noFill/>
          <a:ln/>
        </p:spPr>
        <p:txBody>
          <a:bodyPr wrap="square" lIns="0" tIns="0" rIns="0" bIns="0" rtlCol="0" anchor="t"/>
          <a:lstStyle/>
          <a:p>
            <a:pPr algn="l" indent="0" marL="0">
              <a:lnSpc>
                <a:spcPts val="4450"/>
              </a:lnSpc>
              <a:buNone/>
            </a:pPr>
            <a:r>
              <a:rPr lang="en-US" sz="3550" dirty="0">
                <a:solidFill>
                  <a:srgbClr val="1F1E1E"/>
                </a:solidFill>
                <a:latin typeface="Roboto Mono Medium" pitchFamily="34" charset="0"/>
                <a:ea typeface="Roboto Mono Medium" pitchFamily="34" charset="-122"/>
                <a:cs typeface="Roboto Mono Medium" pitchFamily="34" charset="-120"/>
              </a:rPr>
              <a:t>En la mayoría de los casos, NO necesitás fine-tuning</a:t>
            </a:r>
            <a:endParaRPr lang="en-US" sz="3550" dirty="0"/>
          </a:p>
        </p:txBody>
      </p:sp>
      <p:sp>
        <p:nvSpPr>
          <p:cNvPr id="6" name="Text 3"/>
          <p:cNvSpPr/>
          <p:nvPr/>
        </p:nvSpPr>
        <p:spPr>
          <a:xfrm>
            <a:off x="793790" y="369796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La tendencia natural: "Mi tarea es específica → necesito modelo específico → fine-tuning"</a:t>
            </a:r>
            <a:endParaRPr lang="en-US" sz="1750" dirty="0"/>
          </a:p>
        </p:txBody>
      </p:sp>
      <p:sp>
        <p:nvSpPr>
          <p:cNvPr id="7" name="Text 4"/>
          <p:cNvSpPr/>
          <p:nvPr/>
        </p:nvSpPr>
        <p:spPr>
          <a:xfrm>
            <a:off x="793790" y="431601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La realidad:</a:t>
            </a:r>
            <a:endParaRPr lang="en-US" sz="1750" dirty="0"/>
          </a:p>
        </p:txBody>
      </p:sp>
      <p:sp>
        <p:nvSpPr>
          <p:cNvPr id="8" name="Text 5"/>
          <p:cNvSpPr/>
          <p:nvPr/>
        </p:nvSpPr>
        <p:spPr>
          <a:xfrm>
            <a:off x="793790" y="4934069"/>
            <a:ext cx="13042821"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Los LLMs modernos ya tienen mucho conocimiento médico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Con buen prompting + contexto, resuelven la mayoría de las tareas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El fine-tuning introduce riesgos que muchos subestiman</a:t>
            </a:r>
            <a:endParaRPr lang="en-US" sz="1750" dirty="0"/>
          </a:p>
        </p:txBody>
      </p:sp>
      <p:sp>
        <p:nvSpPr>
          <p:cNvPr id="9" name="Text 6"/>
          <p:cNvSpPr/>
          <p:nvPr/>
        </p:nvSpPr>
        <p:spPr>
          <a:xfrm>
            <a:off x="1133951" y="6691670"/>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Regla: si no agotaste las opciones sin fine-tuning, no estás listo para fine-tuning</a:t>
            </a:r>
            <a:endParaRPr lang="en-US" sz="1750" dirty="0"/>
          </a:p>
        </p:txBody>
      </p:sp>
      <p:sp>
        <p:nvSpPr>
          <p:cNvPr id="10" name="Shape 7"/>
          <p:cNvSpPr/>
          <p:nvPr/>
        </p:nvSpPr>
        <p:spPr>
          <a:xfrm>
            <a:off x="793790" y="6436519"/>
            <a:ext cx="30480" cy="873204"/>
          </a:xfrm>
          <a:prstGeom prst="rect">
            <a:avLst/>
          </a:prstGeom>
          <a:solidFill>
            <a:srgbClr val="DA1B2E"/>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820579"/>
            <a:ext cx="10232827"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Por qué NO usar fine-tuning</a:t>
            </a:r>
            <a:endParaRPr lang="en-US" sz="4450" dirty="0"/>
          </a:p>
        </p:txBody>
      </p:sp>
      <p:sp>
        <p:nvSpPr>
          <p:cNvPr id="3" name="Shape 1"/>
          <p:cNvSpPr/>
          <p:nvPr/>
        </p:nvSpPr>
        <p:spPr>
          <a:xfrm>
            <a:off x="793790" y="2005846"/>
            <a:ext cx="13042821" cy="4567476"/>
          </a:xfrm>
          <a:prstGeom prst="roundRect">
            <a:avLst>
              <a:gd name="adj" fmla="val 200"/>
            </a:avLst>
          </a:prstGeom>
          <a:noFill/>
          <a:ln w="7620">
            <a:solidFill>
              <a:srgbClr val="000000">
                <a:alpha val="8000"/>
              </a:srgbClr>
            </a:solidFill>
            <a:prstDash val="solid"/>
          </a:ln>
        </p:spPr>
      </p:sp>
      <p:sp>
        <p:nvSpPr>
          <p:cNvPr id="4" name="Shape 2"/>
          <p:cNvSpPr/>
          <p:nvPr/>
        </p:nvSpPr>
        <p:spPr>
          <a:xfrm>
            <a:off x="801410" y="2013466"/>
            <a:ext cx="13027581" cy="650319"/>
          </a:xfrm>
          <a:prstGeom prst="rect">
            <a:avLst/>
          </a:prstGeom>
          <a:solidFill>
            <a:srgbClr val="FFFFFF">
              <a:alpha val="4000"/>
            </a:srgbClr>
          </a:solidFill>
          <a:ln/>
        </p:spPr>
      </p:sp>
      <p:sp>
        <p:nvSpPr>
          <p:cNvPr id="5" name="Text 3"/>
          <p:cNvSpPr/>
          <p:nvPr/>
        </p:nvSpPr>
        <p:spPr>
          <a:xfrm>
            <a:off x="1028343" y="2157174"/>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Problema</a:t>
            </a:r>
            <a:endParaRPr lang="en-US" sz="1750" dirty="0"/>
          </a:p>
        </p:txBody>
      </p:sp>
      <p:sp>
        <p:nvSpPr>
          <p:cNvPr id="6" name="Text 4"/>
          <p:cNvSpPr/>
          <p:nvPr/>
        </p:nvSpPr>
        <p:spPr>
          <a:xfrm>
            <a:off x="4940379" y="2157174"/>
            <a:ext cx="866179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Detalle</a:t>
            </a:r>
            <a:endParaRPr lang="en-US" sz="1750" dirty="0"/>
          </a:p>
        </p:txBody>
      </p:sp>
      <p:sp>
        <p:nvSpPr>
          <p:cNvPr id="7" name="Shape 5"/>
          <p:cNvSpPr/>
          <p:nvPr/>
        </p:nvSpPr>
        <p:spPr>
          <a:xfrm>
            <a:off x="801410" y="2663785"/>
            <a:ext cx="13027581" cy="650319"/>
          </a:xfrm>
          <a:prstGeom prst="rect">
            <a:avLst/>
          </a:prstGeom>
          <a:solidFill>
            <a:srgbClr val="000000">
              <a:alpha val="4000"/>
            </a:srgbClr>
          </a:solidFill>
          <a:ln/>
        </p:spPr>
      </p:sp>
      <p:sp>
        <p:nvSpPr>
          <p:cNvPr id="8" name="Text 6"/>
          <p:cNvSpPr/>
          <p:nvPr/>
        </p:nvSpPr>
        <p:spPr>
          <a:xfrm>
            <a:off x="1028343" y="2807494"/>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Costoso</a:t>
            </a:r>
            <a:endParaRPr lang="en-US" sz="1750" dirty="0"/>
          </a:p>
        </p:txBody>
      </p:sp>
      <p:sp>
        <p:nvSpPr>
          <p:cNvPr id="9" name="Text 7"/>
          <p:cNvSpPr/>
          <p:nvPr/>
        </p:nvSpPr>
        <p:spPr>
          <a:xfrm>
            <a:off x="4940379" y="2807494"/>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Requiere GPUs, datos curados, tiempo de ingeniero</a:t>
            </a:r>
            <a:endParaRPr lang="en-US" sz="1750" dirty="0"/>
          </a:p>
        </p:txBody>
      </p:sp>
      <p:sp>
        <p:nvSpPr>
          <p:cNvPr id="10" name="Shape 8"/>
          <p:cNvSpPr/>
          <p:nvPr/>
        </p:nvSpPr>
        <p:spPr>
          <a:xfrm>
            <a:off x="801410" y="3314105"/>
            <a:ext cx="13027581" cy="650319"/>
          </a:xfrm>
          <a:prstGeom prst="rect">
            <a:avLst/>
          </a:prstGeom>
          <a:solidFill>
            <a:srgbClr val="FFFFFF">
              <a:alpha val="4000"/>
            </a:srgbClr>
          </a:solidFill>
          <a:ln/>
        </p:spPr>
      </p:sp>
      <p:sp>
        <p:nvSpPr>
          <p:cNvPr id="11" name="Text 9"/>
          <p:cNvSpPr/>
          <p:nvPr/>
        </p:nvSpPr>
        <p:spPr>
          <a:xfrm>
            <a:off x="1028343" y="3457813"/>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Complejo</a:t>
            </a:r>
            <a:endParaRPr lang="en-US" sz="1750" dirty="0"/>
          </a:p>
        </p:txBody>
      </p:sp>
      <p:sp>
        <p:nvSpPr>
          <p:cNvPr id="12" name="Text 10"/>
          <p:cNvSpPr/>
          <p:nvPr/>
        </p:nvSpPr>
        <p:spPr>
          <a:xfrm>
            <a:off x="4940379" y="3457813"/>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Hiperparámetros, overfitting, catastrophic forgetting</a:t>
            </a:r>
            <a:endParaRPr lang="en-US" sz="1750" dirty="0"/>
          </a:p>
        </p:txBody>
      </p:sp>
      <p:sp>
        <p:nvSpPr>
          <p:cNvPr id="13" name="Shape 11"/>
          <p:cNvSpPr/>
          <p:nvPr/>
        </p:nvSpPr>
        <p:spPr>
          <a:xfrm>
            <a:off x="801410" y="3964424"/>
            <a:ext cx="13027581" cy="650319"/>
          </a:xfrm>
          <a:prstGeom prst="rect">
            <a:avLst/>
          </a:prstGeom>
          <a:solidFill>
            <a:srgbClr val="000000">
              <a:alpha val="4000"/>
            </a:srgbClr>
          </a:solidFill>
          <a:ln/>
        </p:spPr>
      </p:sp>
      <p:sp>
        <p:nvSpPr>
          <p:cNvPr id="14" name="Text 12"/>
          <p:cNvSpPr/>
          <p:nvPr/>
        </p:nvSpPr>
        <p:spPr>
          <a:xfrm>
            <a:off x="1028343" y="4108133"/>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Riesgo de degradación</a:t>
            </a:r>
            <a:endParaRPr lang="en-US" sz="1750" dirty="0"/>
          </a:p>
        </p:txBody>
      </p:sp>
      <p:sp>
        <p:nvSpPr>
          <p:cNvPr id="15" name="Text 13"/>
          <p:cNvSpPr/>
          <p:nvPr/>
        </p:nvSpPr>
        <p:spPr>
          <a:xfrm>
            <a:off x="4940379" y="4108133"/>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Puede empeorar en tareas generales (pierde capacidades)</a:t>
            </a:r>
            <a:endParaRPr lang="en-US" sz="1750" dirty="0"/>
          </a:p>
        </p:txBody>
      </p:sp>
      <p:sp>
        <p:nvSpPr>
          <p:cNvPr id="16" name="Shape 14"/>
          <p:cNvSpPr/>
          <p:nvPr/>
        </p:nvSpPr>
        <p:spPr>
          <a:xfrm>
            <a:off x="801410" y="4614743"/>
            <a:ext cx="13027581" cy="650319"/>
          </a:xfrm>
          <a:prstGeom prst="rect">
            <a:avLst/>
          </a:prstGeom>
          <a:solidFill>
            <a:srgbClr val="FFFFFF">
              <a:alpha val="4000"/>
            </a:srgbClr>
          </a:solidFill>
          <a:ln/>
        </p:spPr>
      </p:sp>
      <p:sp>
        <p:nvSpPr>
          <p:cNvPr id="17" name="Text 15"/>
          <p:cNvSpPr/>
          <p:nvPr/>
        </p:nvSpPr>
        <p:spPr>
          <a:xfrm>
            <a:off x="1028343" y="4758452"/>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Difícil de evaluar</a:t>
            </a:r>
            <a:endParaRPr lang="en-US" sz="1750" dirty="0"/>
          </a:p>
        </p:txBody>
      </p:sp>
      <p:sp>
        <p:nvSpPr>
          <p:cNvPr id="18" name="Text 16"/>
          <p:cNvSpPr/>
          <p:nvPr/>
        </p:nvSpPr>
        <p:spPr>
          <a:xfrm>
            <a:off x="4940379" y="4758452"/>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¿Mejoró realmente o solo memorizó tus ejemplos?</a:t>
            </a:r>
            <a:endParaRPr lang="en-US" sz="1750" dirty="0"/>
          </a:p>
        </p:txBody>
      </p:sp>
      <p:sp>
        <p:nvSpPr>
          <p:cNvPr id="19" name="Shape 17"/>
          <p:cNvSpPr/>
          <p:nvPr/>
        </p:nvSpPr>
        <p:spPr>
          <a:xfrm>
            <a:off x="801410" y="5265063"/>
            <a:ext cx="13027581" cy="650319"/>
          </a:xfrm>
          <a:prstGeom prst="rect">
            <a:avLst/>
          </a:prstGeom>
          <a:solidFill>
            <a:srgbClr val="000000">
              <a:alpha val="4000"/>
            </a:srgbClr>
          </a:solidFill>
          <a:ln/>
        </p:spPr>
      </p:sp>
      <p:sp>
        <p:nvSpPr>
          <p:cNvPr id="20" name="Text 18"/>
          <p:cNvSpPr/>
          <p:nvPr/>
        </p:nvSpPr>
        <p:spPr>
          <a:xfrm>
            <a:off x="1028343" y="5408771"/>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Mantenimiento</a:t>
            </a:r>
            <a:endParaRPr lang="en-US" sz="1750" dirty="0"/>
          </a:p>
        </p:txBody>
      </p:sp>
      <p:sp>
        <p:nvSpPr>
          <p:cNvPr id="21" name="Text 19"/>
          <p:cNvSpPr/>
          <p:nvPr/>
        </p:nvSpPr>
        <p:spPr>
          <a:xfrm>
            <a:off x="4940379" y="5408771"/>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Cada nuevo modelo base requiere re-fine-tuning</a:t>
            </a:r>
            <a:endParaRPr lang="en-US" sz="1750" dirty="0"/>
          </a:p>
        </p:txBody>
      </p:sp>
      <p:sp>
        <p:nvSpPr>
          <p:cNvPr id="22" name="Shape 20"/>
          <p:cNvSpPr/>
          <p:nvPr/>
        </p:nvSpPr>
        <p:spPr>
          <a:xfrm>
            <a:off x="801410" y="5915382"/>
            <a:ext cx="13027581" cy="650319"/>
          </a:xfrm>
          <a:prstGeom prst="rect">
            <a:avLst/>
          </a:prstGeom>
          <a:solidFill>
            <a:srgbClr val="FFFFFF">
              <a:alpha val="4000"/>
            </a:srgbClr>
          </a:solidFill>
          <a:ln/>
        </p:spPr>
      </p:sp>
      <p:sp>
        <p:nvSpPr>
          <p:cNvPr id="23" name="Text 21"/>
          <p:cNvSpPr/>
          <p:nvPr/>
        </p:nvSpPr>
        <p:spPr>
          <a:xfrm>
            <a:off x="1028343" y="6059091"/>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Datos sensibles</a:t>
            </a:r>
            <a:endParaRPr lang="en-US" sz="1750" dirty="0"/>
          </a:p>
        </p:txBody>
      </p:sp>
      <p:sp>
        <p:nvSpPr>
          <p:cNvPr id="24" name="Text 22"/>
          <p:cNvSpPr/>
          <p:nvPr/>
        </p:nvSpPr>
        <p:spPr>
          <a:xfrm>
            <a:off x="4940379" y="6059091"/>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En medicina, los datos pueden contener PHI</a:t>
            </a:r>
            <a:endParaRPr lang="en-US" sz="1750" dirty="0"/>
          </a:p>
        </p:txBody>
      </p:sp>
      <p:sp>
        <p:nvSpPr>
          <p:cNvPr id="25" name="Text 23"/>
          <p:cNvSpPr/>
          <p:nvPr/>
        </p:nvSpPr>
        <p:spPr>
          <a:xfrm>
            <a:off x="793790" y="6828473"/>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3B3535"/>
                </a:solidFill>
                <a:latin typeface="Roboto" pitchFamily="34" charset="0"/>
                <a:ea typeface="Roboto" pitchFamily="34" charset="-122"/>
                <a:cs typeface="Roboto" pitchFamily="34" charset="-120"/>
              </a:rPr>
              <a:t>Catastrophic forgetting: al fine-tunear con datos médicos, puede perder habilidades generales.</a:t>
            </a:r>
            <a:endParaRPr lang="en-US" sz="1400" dirty="0"/>
          </a:p>
          <a:p>
            <a:pPr algn="l" indent="0" marL="0">
              <a:lnSpc>
                <a:spcPts val="2250"/>
              </a:lnSpc>
              <a:buNone/>
            </a:pPr>
            <a:r>
              <a:rPr lang="en-US" sz="1400" dirty="0">
                <a:solidFill>
                  <a:srgbClr val="3B3535"/>
                </a:solidFill>
                <a:latin typeface="Roboto" pitchFamily="34" charset="0"/>
                <a:ea typeface="Roboto" pitchFamily="34" charset="-122"/>
                <a:cs typeface="Roboto" pitchFamily="34" charset="-120"/>
              </a:rPr>
              <a:t>Overfitting: con pocos datos, memoriza ejemplos en lugar de generalizar.</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1383149"/>
            <a:ext cx="11253549"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Qué hacer antes de fine-tuning</a:t>
            </a:r>
            <a:endParaRPr lang="en-US" sz="4450" dirty="0"/>
          </a:p>
        </p:txBody>
      </p:sp>
      <p:sp>
        <p:nvSpPr>
          <p:cNvPr id="3" name="Text 1"/>
          <p:cNvSpPr/>
          <p:nvPr/>
        </p:nvSpPr>
        <p:spPr>
          <a:xfrm>
            <a:off x="793790" y="256841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Checklist obligatorio:</a:t>
            </a:r>
            <a:endParaRPr lang="en-US" sz="1750" dirty="0"/>
          </a:p>
        </p:txBody>
      </p:sp>
      <p:sp>
        <p:nvSpPr>
          <p:cNvPr id="4" name="Shape 2"/>
          <p:cNvSpPr/>
          <p:nvPr/>
        </p:nvSpPr>
        <p:spPr>
          <a:xfrm>
            <a:off x="793790" y="3186470"/>
            <a:ext cx="510302" cy="510302"/>
          </a:xfrm>
          <a:prstGeom prst="roundRect">
            <a:avLst>
              <a:gd name="adj" fmla="val 1792"/>
            </a:avLst>
          </a:prstGeom>
          <a:solidFill>
            <a:srgbClr val="F2EEEE"/>
          </a:solidFill>
          <a:ln w="7620">
            <a:solidFill>
              <a:srgbClr val="D8D4D4"/>
            </a:solidFill>
            <a:prstDash val="solid"/>
          </a:ln>
        </p:spPr>
      </p:sp>
      <p:sp>
        <p:nvSpPr>
          <p:cNvPr id="5" name="Text 3"/>
          <p:cNvSpPr/>
          <p:nvPr/>
        </p:nvSpPr>
        <p:spPr>
          <a:xfrm>
            <a:off x="878860" y="3228975"/>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1</a:t>
            </a:r>
            <a:endParaRPr lang="en-US" sz="2650" dirty="0"/>
          </a:p>
        </p:txBody>
      </p:sp>
      <p:sp>
        <p:nvSpPr>
          <p:cNvPr id="6" name="Text 4"/>
          <p:cNvSpPr/>
          <p:nvPr/>
        </p:nvSpPr>
        <p:spPr>
          <a:xfrm>
            <a:off x="1530906" y="326433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Mejorar prompts</a:t>
            </a:r>
            <a:endParaRPr lang="en-US" sz="2200" dirty="0"/>
          </a:p>
        </p:txBody>
      </p:sp>
      <p:sp>
        <p:nvSpPr>
          <p:cNvPr id="7" name="Text 5"/>
          <p:cNvSpPr/>
          <p:nvPr/>
        </p:nvSpPr>
        <p:spPr>
          <a:xfrm>
            <a:off x="1530906" y="3754755"/>
            <a:ext cx="564249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¿Probaste al menos 10 variaciones? ¿Few-shot? ¿Chain-of-thought?</a:t>
            </a:r>
            <a:endParaRPr lang="en-US" sz="1750" dirty="0"/>
          </a:p>
        </p:txBody>
      </p:sp>
      <p:sp>
        <p:nvSpPr>
          <p:cNvPr id="8" name="Shape 6"/>
          <p:cNvSpPr/>
          <p:nvPr/>
        </p:nvSpPr>
        <p:spPr>
          <a:xfrm>
            <a:off x="7456884" y="3186470"/>
            <a:ext cx="510302" cy="510302"/>
          </a:xfrm>
          <a:prstGeom prst="roundRect">
            <a:avLst>
              <a:gd name="adj" fmla="val 1792"/>
            </a:avLst>
          </a:prstGeom>
          <a:solidFill>
            <a:srgbClr val="F2EEEE"/>
          </a:solidFill>
          <a:ln w="7620">
            <a:solidFill>
              <a:srgbClr val="D8D4D4"/>
            </a:solidFill>
            <a:prstDash val="solid"/>
          </a:ln>
        </p:spPr>
      </p:sp>
      <p:sp>
        <p:nvSpPr>
          <p:cNvPr id="9" name="Text 7"/>
          <p:cNvSpPr/>
          <p:nvPr/>
        </p:nvSpPr>
        <p:spPr>
          <a:xfrm>
            <a:off x="7541955" y="3228975"/>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2</a:t>
            </a:r>
            <a:endParaRPr lang="en-US" sz="2650" dirty="0"/>
          </a:p>
        </p:txBody>
      </p:sp>
      <p:sp>
        <p:nvSpPr>
          <p:cNvPr id="10" name="Text 8"/>
          <p:cNvSpPr/>
          <p:nvPr/>
        </p:nvSpPr>
        <p:spPr>
          <a:xfrm>
            <a:off x="8194000" y="3264337"/>
            <a:ext cx="3741182"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Agregar contexto (RAG)</a:t>
            </a:r>
            <a:endParaRPr lang="en-US" sz="2200" dirty="0"/>
          </a:p>
        </p:txBody>
      </p:sp>
      <p:sp>
        <p:nvSpPr>
          <p:cNvPr id="11" name="Text 9"/>
          <p:cNvSpPr/>
          <p:nvPr/>
        </p:nvSpPr>
        <p:spPr>
          <a:xfrm>
            <a:off x="8194000" y="3754755"/>
            <a:ext cx="5642610"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RAG = Retrieval-Augmented Generation: le das documentos relevantes como contexto.</a:t>
            </a:r>
            <a:endParaRPr lang="en-US" sz="1750" dirty="0"/>
          </a:p>
        </p:txBody>
      </p:sp>
      <p:sp>
        <p:nvSpPr>
          <p:cNvPr id="12" name="Shape 10"/>
          <p:cNvSpPr/>
          <p:nvPr/>
        </p:nvSpPr>
        <p:spPr>
          <a:xfrm>
            <a:off x="793790" y="4934188"/>
            <a:ext cx="510302" cy="510302"/>
          </a:xfrm>
          <a:prstGeom prst="roundRect">
            <a:avLst>
              <a:gd name="adj" fmla="val 1792"/>
            </a:avLst>
          </a:prstGeom>
          <a:solidFill>
            <a:srgbClr val="F2EEEE"/>
          </a:solidFill>
          <a:ln w="7620">
            <a:solidFill>
              <a:srgbClr val="D8D4D4"/>
            </a:solidFill>
            <a:prstDash val="solid"/>
          </a:ln>
        </p:spPr>
      </p:sp>
      <p:sp>
        <p:nvSpPr>
          <p:cNvPr id="13" name="Text 11"/>
          <p:cNvSpPr/>
          <p:nvPr/>
        </p:nvSpPr>
        <p:spPr>
          <a:xfrm>
            <a:off x="878860" y="4976693"/>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3</a:t>
            </a:r>
            <a:endParaRPr lang="en-US" sz="2650" dirty="0"/>
          </a:p>
        </p:txBody>
      </p:sp>
      <p:sp>
        <p:nvSpPr>
          <p:cNvPr id="14" name="Text 12"/>
          <p:cNvSpPr/>
          <p:nvPr/>
        </p:nvSpPr>
        <p:spPr>
          <a:xfrm>
            <a:off x="1530906" y="5012055"/>
            <a:ext cx="3741182"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Definir mejor la tarea</a:t>
            </a:r>
            <a:endParaRPr lang="en-US" sz="2200" dirty="0"/>
          </a:p>
        </p:txBody>
      </p:sp>
      <p:sp>
        <p:nvSpPr>
          <p:cNvPr id="15" name="Text 13"/>
          <p:cNvSpPr/>
          <p:nvPr/>
        </p:nvSpPr>
        <p:spPr>
          <a:xfrm>
            <a:off x="1530906" y="5502473"/>
            <a:ext cx="564249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¿El problema está en el modelo o en que la tarea está mal definida?</a:t>
            </a:r>
            <a:endParaRPr lang="en-US" sz="1750" dirty="0"/>
          </a:p>
        </p:txBody>
      </p:sp>
      <p:sp>
        <p:nvSpPr>
          <p:cNvPr id="16" name="Shape 14"/>
          <p:cNvSpPr/>
          <p:nvPr/>
        </p:nvSpPr>
        <p:spPr>
          <a:xfrm>
            <a:off x="7456884" y="4934188"/>
            <a:ext cx="510302" cy="510302"/>
          </a:xfrm>
          <a:prstGeom prst="roundRect">
            <a:avLst>
              <a:gd name="adj" fmla="val 1792"/>
            </a:avLst>
          </a:prstGeom>
          <a:solidFill>
            <a:srgbClr val="F2EEEE"/>
          </a:solidFill>
          <a:ln w="7620">
            <a:solidFill>
              <a:srgbClr val="D8D4D4"/>
            </a:solidFill>
            <a:prstDash val="solid"/>
          </a:ln>
        </p:spPr>
      </p:sp>
      <p:sp>
        <p:nvSpPr>
          <p:cNvPr id="17" name="Text 15"/>
          <p:cNvSpPr/>
          <p:nvPr/>
        </p:nvSpPr>
        <p:spPr>
          <a:xfrm>
            <a:off x="7541955" y="4976693"/>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4</a:t>
            </a:r>
            <a:endParaRPr lang="en-US" sz="2650" dirty="0"/>
          </a:p>
        </p:txBody>
      </p:sp>
      <p:sp>
        <p:nvSpPr>
          <p:cNvPr id="18" name="Text 16"/>
          <p:cNvSpPr/>
          <p:nvPr/>
        </p:nvSpPr>
        <p:spPr>
          <a:xfrm>
            <a:off x="8194000" y="5012055"/>
            <a:ext cx="3571042"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Evaluar correctamente</a:t>
            </a:r>
            <a:endParaRPr lang="en-US" sz="2200" dirty="0"/>
          </a:p>
        </p:txBody>
      </p:sp>
      <p:sp>
        <p:nvSpPr>
          <p:cNvPr id="19" name="Text 17"/>
          <p:cNvSpPr/>
          <p:nvPr/>
        </p:nvSpPr>
        <p:spPr>
          <a:xfrm>
            <a:off x="8194000" y="5502473"/>
            <a:ext cx="5642610"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¿Tenés métricas? ¿Dataset de evaluación? Sin medir bien, no sabés si fine-tuning mejoró algo.</a:t>
            </a:r>
            <a:endParaRPr lang="en-US" sz="1750" dirty="0"/>
          </a:p>
        </p:txBody>
      </p:sp>
      <p:sp>
        <p:nvSpPr>
          <p:cNvPr id="20" name="Text 18"/>
          <p:cNvSpPr/>
          <p:nvPr/>
        </p:nvSpPr>
        <p:spPr>
          <a:xfrm>
            <a:off x="793790" y="6483429"/>
            <a:ext cx="13042821"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Recién cuando todo esto falla → considerar fine-tuning</a:t>
            </a:r>
            <a:endParaRPr lang="en-US" sz="1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668774"/>
            <a:ext cx="11966019" cy="660797"/>
          </a:xfrm>
          <a:prstGeom prst="rect">
            <a:avLst/>
          </a:prstGeom>
          <a:noFill/>
          <a:ln/>
        </p:spPr>
        <p:txBody>
          <a:bodyPr wrap="none" lIns="0" tIns="0" rIns="0" bIns="0" rtlCol="0" anchor="t"/>
          <a:lstStyle/>
          <a:p>
            <a:pPr algn="l" indent="0" marL="0">
              <a:lnSpc>
                <a:spcPts val="5000"/>
              </a:lnSpc>
              <a:buNone/>
            </a:pPr>
            <a:r>
              <a:rPr lang="en-US" sz="4000" dirty="0">
                <a:solidFill>
                  <a:srgbClr val="000000"/>
                </a:solidFill>
                <a:latin typeface="Roboto Mono Medium" pitchFamily="34" charset="0"/>
                <a:ea typeface="Roboto Mono Medium" pitchFamily="34" charset="-122"/>
                <a:cs typeface="Roboto Mono Medium" pitchFamily="34" charset="-120"/>
              </a:rPr>
              <a:t>🔀</a:t>
            </a:r>
            <a:pPr algn="l" indent="0" marL="0">
              <a:lnSpc>
                <a:spcPts val="5000"/>
              </a:lnSpc>
              <a:buNone/>
            </a:pPr>
            <a:r>
              <a:rPr lang="en-US" sz="4000" dirty="0">
                <a:solidFill>
                  <a:srgbClr val="1F1E1E"/>
                </a:solidFill>
                <a:latin typeface="Roboto Mono Medium" pitchFamily="34" charset="0"/>
                <a:ea typeface="Roboto Mono Medium" pitchFamily="34" charset="-122"/>
                <a:cs typeface="Roboto Mono Medium" pitchFamily="34" charset="-120"/>
              </a:rPr>
              <a:t> Framework de decisión: ¿Fine-tuning?</a:t>
            </a:r>
            <a:endParaRPr lang="en-US" sz="4000" dirty="0"/>
          </a:p>
        </p:txBody>
      </p:sp>
      <p:sp>
        <p:nvSpPr>
          <p:cNvPr id="3" name="Text 1"/>
          <p:cNvSpPr/>
          <p:nvPr/>
        </p:nvSpPr>
        <p:spPr>
          <a:xfrm>
            <a:off x="793790" y="1696998"/>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01</a:t>
            </a:r>
            <a:endParaRPr lang="en-US" sz="1600" dirty="0"/>
          </a:p>
        </p:txBody>
      </p:sp>
      <p:sp>
        <p:nvSpPr>
          <p:cNvPr id="4" name="Shape 2"/>
          <p:cNvSpPr/>
          <p:nvPr/>
        </p:nvSpPr>
        <p:spPr>
          <a:xfrm>
            <a:off x="793790" y="2020967"/>
            <a:ext cx="4225052" cy="22860"/>
          </a:xfrm>
          <a:prstGeom prst="rect">
            <a:avLst/>
          </a:prstGeom>
          <a:solidFill>
            <a:srgbClr val="DA1B2E"/>
          </a:solidFill>
          <a:ln/>
        </p:spPr>
      </p:sp>
      <p:sp>
        <p:nvSpPr>
          <p:cNvPr id="5" name="Text 3"/>
          <p:cNvSpPr/>
          <p:nvPr/>
        </p:nvSpPr>
        <p:spPr>
          <a:xfrm>
            <a:off x="793790" y="2168723"/>
            <a:ext cx="4225052" cy="1594247"/>
          </a:xfrm>
          <a:prstGeom prst="rect">
            <a:avLst/>
          </a:prstGeom>
          <a:noFill/>
          <a:ln/>
        </p:spPr>
        <p:txBody>
          <a:bodyPr wrap="squar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¿Definiste la tarea que querés resolver y tenés métricas de performance claras con las que medir como le va al modelo?</a:t>
            </a:r>
            <a:endParaRPr lang="en-US" sz="2000" dirty="0"/>
          </a:p>
        </p:txBody>
      </p:sp>
      <p:sp>
        <p:nvSpPr>
          <p:cNvPr id="6" name="Text 4"/>
          <p:cNvSpPr/>
          <p:nvPr/>
        </p:nvSpPr>
        <p:spPr>
          <a:xfrm>
            <a:off x="793790" y="3873103"/>
            <a:ext cx="4225052"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NO → Volvé a definir la tarea. No avances.</a:t>
            </a:r>
            <a:endParaRPr lang="en-US" sz="1600" dirty="0"/>
          </a:p>
        </p:txBody>
      </p:sp>
      <p:sp>
        <p:nvSpPr>
          <p:cNvPr id="7" name="Text 5"/>
          <p:cNvSpPr/>
          <p:nvPr/>
        </p:nvSpPr>
        <p:spPr>
          <a:xfrm>
            <a:off x="793790" y="4293513"/>
            <a:ext cx="4225052"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SÍ → Continuá al siguiente paso.</a:t>
            </a:r>
            <a:endParaRPr lang="en-US" sz="1600" dirty="0"/>
          </a:p>
        </p:txBody>
      </p:sp>
      <p:sp>
        <p:nvSpPr>
          <p:cNvPr id="8" name="Text 6"/>
          <p:cNvSpPr/>
          <p:nvPr/>
        </p:nvSpPr>
        <p:spPr>
          <a:xfrm>
            <a:off x="5202555" y="1696998"/>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02</a:t>
            </a:r>
            <a:endParaRPr lang="en-US" sz="1600" dirty="0"/>
          </a:p>
        </p:txBody>
      </p:sp>
      <p:sp>
        <p:nvSpPr>
          <p:cNvPr id="9" name="Shape 7"/>
          <p:cNvSpPr/>
          <p:nvPr/>
        </p:nvSpPr>
        <p:spPr>
          <a:xfrm>
            <a:off x="5202555" y="2020967"/>
            <a:ext cx="4225171" cy="22860"/>
          </a:xfrm>
          <a:prstGeom prst="rect">
            <a:avLst/>
          </a:prstGeom>
          <a:solidFill>
            <a:srgbClr val="DA1B2E"/>
          </a:solidFill>
          <a:ln/>
        </p:spPr>
      </p:sp>
      <p:sp>
        <p:nvSpPr>
          <p:cNvPr id="10" name="Text 8"/>
          <p:cNvSpPr/>
          <p:nvPr/>
        </p:nvSpPr>
        <p:spPr>
          <a:xfrm>
            <a:off x="5202555" y="2168723"/>
            <a:ext cx="4225171" cy="956548"/>
          </a:xfrm>
          <a:prstGeom prst="rect">
            <a:avLst/>
          </a:prstGeom>
          <a:noFill/>
          <a:ln/>
        </p:spPr>
        <p:txBody>
          <a:bodyPr wrap="squar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¿Probaste ≥10 variaciones de prompt (few-shot, CoT, role)?</a:t>
            </a:r>
            <a:endParaRPr lang="en-US" sz="2000" dirty="0"/>
          </a:p>
        </p:txBody>
      </p:sp>
      <p:sp>
        <p:nvSpPr>
          <p:cNvPr id="11" name="Text 9"/>
          <p:cNvSpPr/>
          <p:nvPr/>
        </p:nvSpPr>
        <p:spPr>
          <a:xfrm>
            <a:off x="5202555" y="3235404"/>
            <a:ext cx="4225171"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NO → Iterá sobre prompts primero.</a:t>
            </a:r>
            <a:endParaRPr lang="en-US" sz="1600" dirty="0"/>
          </a:p>
        </p:txBody>
      </p:sp>
      <p:sp>
        <p:nvSpPr>
          <p:cNvPr id="12" name="Text 10"/>
          <p:cNvSpPr/>
          <p:nvPr/>
        </p:nvSpPr>
        <p:spPr>
          <a:xfrm>
            <a:off x="5202555" y="3655814"/>
            <a:ext cx="4225171"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SÍ → Continuá al siguiente paso.</a:t>
            </a:r>
            <a:endParaRPr lang="en-US" sz="1600" dirty="0"/>
          </a:p>
        </p:txBody>
      </p:sp>
      <p:sp>
        <p:nvSpPr>
          <p:cNvPr id="13" name="Text 11"/>
          <p:cNvSpPr/>
          <p:nvPr/>
        </p:nvSpPr>
        <p:spPr>
          <a:xfrm>
            <a:off x="9611439" y="1696998"/>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03</a:t>
            </a:r>
            <a:endParaRPr lang="en-US" sz="1600" dirty="0"/>
          </a:p>
        </p:txBody>
      </p:sp>
      <p:sp>
        <p:nvSpPr>
          <p:cNvPr id="14" name="Shape 12"/>
          <p:cNvSpPr/>
          <p:nvPr/>
        </p:nvSpPr>
        <p:spPr>
          <a:xfrm>
            <a:off x="9611439" y="2020967"/>
            <a:ext cx="4225171" cy="22860"/>
          </a:xfrm>
          <a:prstGeom prst="rect">
            <a:avLst/>
          </a:prstGeom>
          <a:solidFill>
            <a:srgbClr val="DA1B2E"/>
          </a:solidFill>
          <a:ln/>
        </p:spPr>
      </p:sp>
      <p:sp>
        <p:nvSpPr>
          <p:cNvPr id="15" name="Text 13"/>
          <p:cNvSpPr/>
          <p:nvPr/>
        </p:nvSpPr>
        <p:spPr>
          <a:xfrm>
            <a:off x="9611439" y="2168723"/>
            <a:ext cx="4225171" cy="956548"/>
          </a:xfrm>
          <a:prstGeom prst="rect">
            <a:avLst/>
          </a:prstGeom>
          <a:noFill/>
          <a:ln/>
        </p:spPr>
        <p:txBody>
          <a:bodyPr wrap="squar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¿Probaste agregar contexto (RAG, documentos, ejemplos)?</a:t>
            </a:r>
            <a:endParaRPr lang="en-US" sz="2000" dirty="0"/>
          </a:p>
        </p:txBody>
      </p:sp>
      <p:sp>
        <p:nvSpPr>
          <p:cNvPr id="16" name="Text 14"/>
          <p:cNvSpPr/>
          <p:nvPr/>
        </p:nvSpPr>
        <p:spPr>
          <a:xfrm>
            <a:off x="9611439" y="3235404"/>
            <a:ext cx="4225171"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NO → Implementá RAG antes.</a:t>
            </a:r>
            <a:endParaRPr lang="en-US" sz="1600" dirty="0"/>
          </a:p>
        </p:txBody>
      </p:sp>
      <p:sp>
        <p:nvSpPr>
          <p:cNvPr id="17" name="Text 15"/>
          <p:cNvSpPr/>
          <p:nvPr/>
        </p:nvSpPr>
        <p:spPr>
          <a:xfrm>
            <a:off x="9611439" y="3655814"/>
            <a:ext cx="4225171"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SÍ → Continuá al siguiente paso.</a:t>
            </a:r>
            <a:endParaRPr lang="en-US" sz="1600" dirty="0"/>
          </a:p>
        </p:txBody>
      </p:sp>
      <p:sp>
        <p:nvSpPr>
          <p:cNvPr id="18" name="Text 16"/>
          <p:cNvSpPr/>
          <p:nvPr/>
        </p:nvSpPr>
        <p:spPr>
          <a:xfrm>
            <a:off x="793790" y="4940498"/>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04</a:t>
            </a:r>
            <a:endParaRPr lang="en-US" sz="1600" dirty="0"/>
          </a:p>
        </p:txBody>
      </p:sp>
      <p:sp>
        <p:nvSpPr>
          <p:cNvPr id="19" name="Shape 17"/>
          <p:cNvSpPr/>
          <p:nvPr/>
        </p:nvSpPr>
        <p:spPr>
          <a:xfrm>
            <a:off x="793790" y="5264467"/>
            <a:ext cx="6429494" cy="22860"/>
          </a:xfrm>
          <a:prstGeom prst="rect">
            <a:avLst/>
          </a:prstGeom>
          <a:solidFill>
            <a:srgbClr val="DA1B2E"/>
          </a:solidFill>
          <a:ln/>
        </p:spPr>
      </p:sp>
      <p:sp>
        <p:nvSpPr>
          <p:cNvPr id="20" name="Text 18"/>
          <p:cNvSpPr/>
          <p:nvPr/>
        </p:nvSpPr>
        <p:spPr>
          <a:xfrm>
            <a:off x="793790" y="5412224"/>
            <a:ext cx="6429494" cy="637699"/>
          </a:xfrm>
          <a:prstGeom prst="rect">
            <a:avLst/>
          </a:prstGeom>
          <a:noFill/>
          <a:ln/>
        </p:spPr>
        <p:txBody>
          <a:bodyPr wrap="squar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¿El problema es de formato, estilo o jerga específica?</a:t>
            </a:r>
            <a:endParaRPr lang="en-US" sz="2000" dirty="0"/>
          </a:p>
        </p:txBody>
      </p:sp>
      <p:sp>
        <p:nvSpPr>
          <p:cNvPr id="21" name="Text 19"/>
          <p:cNvSpPr/>
          <p:nvPr/>
        </p:nvSpPr>
        <p:spPr>
          <a:xfrm>
            <a:off x="793790" y="6160056"/>
            <a:ext cx="6429494"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NO → Probablemente no necesitás fine-tuning. Mejorá el pipeline.</a:t>
            </a:r>
            <a:endParaRPr lang="en-US" sz="1600" dirty="0"/>
          </a:p>
        </p:txBody>
      </p:sp>
      <p:sp>
        <p:nvSpPr>
          <p:cNvPr id="22" name="Text 20"/>
          <p:cNvSpPr/>
          <p:nvPr/>
        </p:nvSpPr>
        <p:spPr>
          <a:xfrm>
            <a:off x="793790" y="6580465"/>
            <a:ext cx="6429494"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SÍ → Continuá al siguiente paso.</a:t>
            </a:r>
            <a:endParaRPr lang="en-US" sz="1600" dirty="0"/>
          </a:p>
        </p:txBody>
      </p:sp>
      <p:sp>
        <p:nvSpPr>
          <p:cNvPr id="23" name="Text 21"/>
          <p:cNvSpPr/>
          <p:nvPr/>
        </p:nvSpPr>
        <p:spPr>
          <a:xfrm>
            <a:off x="7406997" y="4940498"/>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05</a:t>
            </a:r>
            <a:endParaRPr lang="en-US" sz="1600" dirty="0"/>
          </a:p>
        </p:txBody>
      </p:sp>
      <p:sp>
        <p:nvSpPr>
          <p:cNvPr id="24" name="Shape 22"/>
          <p:cNvSpPr/>
          <p:nvPr/>
        </p:nvSpPr>
        <p:spPr>
          <a:xfrm>
            <a:off x="7406997" y="5264467"/>
            <a:ext cx="6429613" cy="22860"/>
          </a:xfrm>
          <a:prstGeom prst="rect">
            <a:avLst/>
          </a:prstGeom>
          <a:solidFill>
            <a:srgbClr val="DA1B2E"/>
          </a:solidFill>
          <a:ln/>
        </p:spPr>
      </p:sp>
      <p:sp>
        <p:nvSpPr>
          <p:cNvPr id="25" name="Text 23"/>
          <p:cNvSpPr/>
          <p:nvPr/>
        </p:nvSpPr>
        <p:spPr>
          <a:xfrm>
            <a:off x="7406997" y="5412224"/>
            <a:ext cx="6429613" cy="637699"/>
          </a:xfrm>
          <a:prstGeom prst="rect">
            <a:avLst/>
          </a:prstGeom>
          <a:noFill/>
          <a:ln/>
        </p:spPr>
        <p:txBody>
          <a:bodyPr wrap="squar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¿Tenés ≥500 ejemplos de alta calidad, validados por expertos?</a:t>
            </a:r>
            <a:endParaRPr lang="en-US" sz="2000" dirty="0"/>
          </a:p>
        </p:txBody>
      </p:sp>
      <p:sp>
        <p:nvSpPr>
          <p:cNvPr id="26" name="Text 24"/>
          <p:cNvSpPr/>
          <p:nvPr/>
        </p:nvSpPr>
        <p:spPr>
          <a:xfrm>
            <a:off x="7406997" y="6160056"/>
            <a:ext cx="6429613"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NO → Conseguí mejores datos primero.</a:t>
            </a:r>
            <a:endParaRPr lang="en-US" sz="1600" dirty="0"/>
          </a:p>
        </p:txBody>
      </p:sp>
      <p:sp>
        <p:nvSpPr>
          <p:cNvPr id="27" name="Text 25"/>
          <p:cNvSpPr/>
          <p:nvPr/>
        </p:nvSpPr>
        <p:spPr>
          <a:xfrm>
            <a:off x="7406997" y="6580465"/>
            <a:ext cx="6429613"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SÍ → </a:t>
            </a:r>
            <a:pPr algn="l" indent="0" marL="0">
              <a:lnSpc>
                <a:spcPts val="2400"/>
              </a:lnSpc>
              <a:buNone/>
            </a:pPr>
            <a:r>
              <a:rPr lang="en-US" sz="1600" dirty="0">
                <a:solidFill>
                  <a:srgbClr val="000000"/>
                </a:solidFill>
                <a:latin typeface="Roboto" pitchFamily="34" charset="0"/>
                <a:ea typeface="Roboto" pitchFamily="34" charset="-122"/>
                <a:cs typeface="Roboto" pitchFamily="34" charset="-120"/>
              </a:rPr>
              <a:t>✅</a:t>
            </a:r>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 </a:t>
            </a:r>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Fine-tuning es una opción viable.</a:t>
            </a:r>
            <a:endParaRPr lang="en-US" sz="1600" dirty="0"/>
          </a:p>
        </p:txBody>
      </p:sp>
      <p:sp>
        <p:nvSpPr>
          <p:cNvPr id="28" name="Text 26"/>
          <p:cNvSpPr/>
          <p:nvPr/>
        </p:nvSpPr>
        <p:spPr>
          <a:xfrm>
            <a:off x="793790" y="7250430"/>
            <a:ext cx="13042821" cy="310277"/>
          </a:xfrm>
          <a:prstGeom prst="rect">
            <a:avLst/>
          </a:prstGeom>
          <a:noFill/>
          <a:ln/>
        </p:spPr>
        <p:txBody>
          <a:bodyPr wrap="none" lIns="0" tIns="0" rIns="0" bIns="0" rtlCol="0" anchor="t"/>
          <a:lstStyle/>
          <a:p>
            <a:pPr algn="l" indent="0" marL="0">
              <a:lnSpc>
                <a:spcPts val="2400"/>
              </a:lnSpc>
              <a:buNone/>
            </a:pPr>
            <a:r>
              <a:rPr lang="en-US" sz="1600" i="1" dirty="0">
                <a:solidFill>
                  <a:srgbClr val="3B3535"/>
                </a:solidFill>
                <a:latin typeface="Roboto" pitchFamily="34" charset="0"/>
                <a:ea typeface="Roboto" pitchFamily="34" charset="-122"/>
                <a:cs typeface="Roboto" pitchFamily="34" charset="-120"/>
              </a:rPr>
              <a:t>En cada paso, evaluá con métricas antes de avanzar al siguiente. Si no medís, no sabés si necesitás seguir.</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93790" y="1073110"/>
            <a:ext cx="9892546"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Cuándo SÍ usar fine-tuning</a:t>
            </a:r>
            <a:endParaRPr lang="en-US" sz="4450" dirty="0"/>
          </a:p>
        </p:txBody>
      </p:sp>
      <p:sp>
        <p:nvSpPr>
          <p:cNvPr id="3" name="Shape 1"/>
          <p:cNvSpPr/>
          <p:nvPr/>
        </p:nvSpPr>
        <p:spPr>
          <a:xfrm>
            <a:off x="793790" y="2258378"/>
            <a:ext cx="13042821" cy="3917156"/>
          </a:xfrm>
          <a:prstGeom prst="roundRect">
            <a:avLst>
              <a:gd name="adj" fmla="val 233"/>
            </a:avLst>
          </a:prstGeom>
          <a:noFill/>
          <a:ln w="7620">
            <a:solidFill>
              <a:srgbClr val="000000">
                <a:alpha val="8000"/>
              </a:srgbClr>
            </a:solidFill>
            <a:prstDash val="solid"/>
          </a:ln>
        </p:spPr>
      </p:sp>
      <p:sp>
        <p:nvSpPr>
          <p:cNvPr id="4" name="Shape 2"/>
          <p:cNvSpPr/>
          <p:nvPr/>
        </p:nvSpPr>
        <p:spPr>
          <a:xfrm>
            <a:off x="801410" y="2265997"/>
            <a:ext cx="13027581" cy="650319"/>
          </a:xfrm>
          <a:prstGeom prst="rect">
            <a:avLst/>
          </a:prstGeom>
          <a:solidFill>
            <a:srgbClr val="FFFFFF">
              <a:alpha val="4000"/>
            </a:srgbClr>
          </a:solidFill>
          <a:ln/>
        </p:spPr>
      </p:sp>
      <p:sp>
        <p:nvSpPr>
          <p:cNvPr id="5" name="Text 3"/>
          <p:cNvSpPr/>
          <p:nvPr/>
        </p:nvSpPr>
        <p:spPr>
          <a:xfrm>
            <a:off x="1028343" y="2409706"/>
            <a:ext cx="4102179"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Caso</a:t>
            </a:r>
            <a:endParaRPr lang="en-US" sz="1750" dirty="0"/>
          </a:p>
        </p:txBody>
      </p:sp>
      <p:sp>
        <p:nvSpPr>
          <p:cNvPr id="6" name="Text 4"/>
          <p:cNvSpPr/>
          <p:nvPr/>
        </p:nvSpPr>
        <p:spPr>
          <a:xfrm>
            <a:off x="5591770" y="2409706"/>
            <a:ext cx="8010406"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Ejemplo</a:t>
            </a:r>
            <a:endParaRPr lang="en-US" sz="1750" dirty="0"/>
          </a:p>
        </p:txBody>
      </p:sp>
      <p:sp>
        <p:nvSpPr>
          <p:cNvPr id="7" name="Shape 5"/>
          <p:cNvSpPr/>
          <p:nvPr/>
        </p:nvSpPr>
        <p:spPr>
          <a:xfrm>
            <a:off x="801410" y="2916317"/>
            <a:ext cx="13027581" cy="650319"/>
          </a:xfrm>
          <a:prstGeom prst="rect">
            <a:avLst/>
          </a:prstGeom>
          <a:solidFill>
            <a:srgbClr val="000000">
              <a:alpha val="4000"/>
            </a:srgbClr>
          </a:solidFill>
          <a:ln/>
        </p:spPr>
      </p:sp>
      <p:sp>
        <p:nvSpPr>
          <p:cNvPr id="8" name="Text 6"/>
          <p:cNvSpPr/>
          <p:nvPr/>
        </p:nvSpPr>
        <p:spPr>
          <a:xfrm>
            <a:off x="1028343" y="3060025"/>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Lenguaje muy específico</a:t>
            </a:r>
            <a:endParaRPr lang="en-US" sz="1750" dirty="0"/>
          </a:p>
        </p:txBody>
      </p:sp>
      <p:sp>
        <p:nvSpPr>
          <p:cNvPr id="9" name="Text 7"/>
          <p:cNvSpPr/>
          <p:nvPr/>
        </p:nvSpPr>
        <p:spPr>
          <a:xfrm>
            <a:off x="5591770" y="3060025"/>
            <a:ext cx="8010406"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Terminología de patología quirúrgica de un hospital argentino</a:t>
            </a:r>
            <a:endParaRPr lang="en-US" sz="1750" dirty="0"/>
          </a:p>
        </p:txBody>
      </p:sp>
      <p:sp>
        <p:nvSpPr>
          <p:cNvPr id="10" name="Shape 8"/>
          <p:cNvSpPr/>
          <p:nvPr/>
        </p:nvSpPr>
        <p:spPr>
          <a:xfrm>
            <a:off x="801410" y="3566636"/>
            <a:ext cx="13027581" cy="650319"/>
          </a:xfrm>
          <a:prstGeom prst="rect">
            <a:avLst/>
          </a:prstGeom>
          <a:solidFill>
            <a:srgbClr val="FFFFFF">
              <a:alpha val="4000"/>
            </a:srgbClr>
          </a:solidFill>
          <a:ln/>
        </p:spPr>
      </p:sp>
      <p:sp>
        <p:nvSpPr>
          <p:cNvPr id="11" name="Text 9"/>
          <p:cNvSpPr/>
          <p:nvPr/>
        </p:nvSpPr>
        <p:spPr>
          <a:xfrm>
            <a:off x="1028343" y="3710345"/>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Estilo institucional</a:t>
            </a:r>
            <a:endParaRPr lang="en-US" sz="1750" dirty="0"/>
          </a:p>
        </p:txBody>
      </p:sp>
      <p:sp>
        <p:nvSpPr>
          <p:cNvPr id="12" name="Text 10"/>
          <p:cNvSpPr/>
          <p:nvPr/>
        </p:nvSpPr>
        <p:spPr>
          <a:xfrm>
            <a:off x="5591770" y="3710345"/>
            <a:ext cx="8010406"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Reportes con formato exacto de tu institución</a:t>
            </a:r>
            <a:endParaRPr lang="en-US" sz="1750" dirty="0"/>
          </a:p>
        </p:txBody>
      </p:sp>
      <p:sp>
        <p:nvSpPr>
          <p:cNvPr id="13" name="Shape 11"/>
          <p:cNvSpPr/>
          <p:nvPr/>
        </p:nvSpPr>
        <p:spPr>
          <a:xfrm>
            <a:off x="801410" y="4216956"/>
            <a:ext cx="13027581" cy="650319"/>
          </a:xfrm>
          <a:prstGeom prst="rect">
            <a:avLst/>
          </a:prstGeom>
          <a:solidFill>
            <a:srgbClr val="000000">
              <a:alpha val="4000"/>
            </a:srgbClr>
          </a:solidFill>
          <a:ln/>
        </p:spPr>
      </p:sp>
      <p:sp>
        <p:nvSpPr>
          <p:cNvPr id="14" name="Text 12"/>
          <p:cNvSpPr/>
          <p:nvPr/>
        </p:nvSpPr>
        <p:spPr>
          <a:xfrm>
            <a:off x="1028343" y="4360664"/>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Formato estructurado</a:t>
            </a:r>
            <a:endParaRPr lang="en-US" sz="1750" dirty="0"/>
          </a:p>
        </p:txBody>
      </p:sp>
      <p:sp>
        <p:nvSpPr>
          <p:cNvPr id="15" name="Text 13"/>
          <p:cNvSpPr/>
          <p:nvPr/>
        </p:nvSpPr>
        <p:spPr>
          <a:xfrm>
            <a:off x="5591770" y="4360664"/>
            <a:ext cx="8010406"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Salida en JSON, HL7, FHIR, o plantillas específicas</a:t>
            </a:r>
            <a:endParaRPr lang="en-US" sz="1750" dirty="0"/>
          </a:p>
        </p:txBody>
      </p:sp>
      <p:sp>
        <p:nvSpPr>
          <p:cNvPr id="16" name="Shape 14"/>
          <p:cNvSpPr/>
          <p:nvPr/>
        </p:nvSpPr>
        <p:spPr>
          <a:xfrm>
            <a:off x="801410" y="4867275"/>
            <a:ext cx="13027581" cy="650319"/>
          </a:xfrm>
          <a:prstGeom prst="rect">
            <a:avLst/>
          </a:prstGeom>
          <a:solidFill>
            <a:srgbClr val="FFFFFF">
              <a:alpha val="4000"/>
            </a:srgbClr>
          </a:solidFill>
          <a:ln/>
        </p:spPr>
      </p:sp>
      <p:sp>
        <p:nvSpPr>
          <p:cNvPr id="17" name="Text 15"/>
          <p:cNvSpPr/>
          <p:nvPr/>
        </p:nvSpPr>
        <p:spPr>
          <a:xfrm>
            <a:off x="1028343" y="501098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Tarea repetitiva bien definida</a:t>
            </a:r>
            <a:endParaRPr lang="en-US" sz="1750" dirty="0"/>
          </a:p>
        </p:txBody>
      </p:sp>
      <p:sp>
        <p:nvSpPr>
          <p:cNvPr id="18" name="Text 16"/>
          <p:cNvSpPr/>
          <p:nvPr/>
        </p:nvSpPr>
        <p:spPr>
          <a:xfrm>
            <a:off x="5591770" y="5010983"/>
            <a:ext cx="8010406"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Clasificar notas de enfermería en 5 categorías</a:t>
            </a:r>
            <a:endParaRPr lang="en-US" sz="1750" dirty="0"/>
          </a:p>
        </p:txBody>
      </p:sp>
      <p:sp>
        <p:nvSpPr>
          <p:cNvPr id="19" name="Shape 17"/>
          <p:cNvSpPr/>
          <p:nvPr/>
        </p:nvSpPr>
        <p:spPr>
          <a:xfrm>
            <a:off x="801410" y="5517594"/>
            <a:ext cx="13027581" cy="650319"/>
          </a:xfrm>
          <a:prstGeom prst="rect">
            <a:avLst/>
          </a:prstGeom>
          <a:solidFill>
            <a:srgbClr val="000000">
              <a:alpha val="4000"/>
            </a:srgbClr>
          </a:solidFill>
          <a:ln/>
        </p:spPr>
      </p:sp>
      <p:sp>
        <p:nvSpPr>
          <p:cNvPr id="20" name="Text 18"/>
          <p:cNvSpPr/>
          <p:nvPr/>
        </p:nvSpPr>
        <p:spPr>
          <a:xfrm>
            <a:off x="1028343" y="566130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Idioma poco representado</a:t>
            </a:r>
            <a:endParaRPr lang="en-US" sz="1750" dirty="0"/>
          </a:p>
        </p:txBody>
      </p:sp>
      <p:sp>
        <p:nvSpPr>
          <p:cNvPr id="21" name="Text 19"/>
          <p:cNvSpPr/>
          <p:nvPr/>
        </p:nvSpPr>
        <p:spPr>
          <a:xfrm>
            <a:off x="5591770" y="5661303"/>
            <a:ext cx="8010406"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Español médico rioplatense con jerga hospitalaria</a:t>
            </a:r>
            <a:endParaRPr lang="en-US" sz="1750" dirty="0"/>
          </a:p>
        </p:txBody>
      </p:sp>
      <p:sp>
        <p:nvSpPr>
          <p:cNvPr id="22" name="Text 20"/>
          <p:cNvSpPr/>
          <p:nvPr/>
        </p:nvSpPr>
        <p:spPr>
          <a:xfrm>
            <a:off x="793790" y="643068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Denominador común: el conocimiento necesario NO está en el entrenamiento general del modelo y no se puede resolver con prompting/RAG.</a:t>
            </a:r>
            <a:endParaRPr lang="en-US" sz="1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793790" y="1935242"/>
            <a:ext cx="12274272"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Ejemplos de fine-tuning biomédico</a:t>
            </a:r>
            <a:endParaRPr lang="en-US" sz="4450" dirty="0"/>
          </a:p>
        </p:txBody>
      </p:sp>
      <p:sp>
        <p:nvSpPr>
          <p:cNvPr id="3" name="Shape 1"/>
          <p:cNvSpPr/>
          <p:nvPr/>
        </p:nvSpPr>
        <p:spPr>
          <a:xfrm>
            <a:off x="793790" y="3120509"/>
            <a:ext cx="4196358" cy="3173849"/>
          </a:xfrm>
          <a:prstGeom prst="roundRect">
            <a:avLst>
              <a:gd name="adj" fmla="val 288"/>
            </a:avLst>
          </a:prstGeom>
          <a:solidFill>
            <a:srgbClr val="FFFFFF">
              <a:alpha val="95000"/>
            </a:srgbClr>
          </a:solidFill>
          <a:ln w="30480">
            <a:solidFill>
              <a:srgbClr val="D8D4D4"/>
            </a:solidFill>
            <a:prstDash val="solid"/>
          </a:ln>
        </p:spPr>
      </p:sp>
      <p:sp>
        <p:nvSpPr>
          <p:cNvPr id="4" name="Text 2"/>
          <p:cNvSpPr/>
          <p:nvPr/>
        </p:nvSpPr>
        <p:spPr>
          <a:xfrm>
            <a:off x="1051084" y="3377803"/>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Ejemplo 1: Reportes de radiología</a:t>
            </a:r>
            <a:endParaRPr lang="en-US" sz="2200" dirty="0"/>
          </a:p>
        </p:txBody>
      </p:sp>
      <p:sp>
        <p:nvSpPr>
          <p:cNvPr id="5" name="Text 3"/>
          <p:cNvSpPr/>
          <p:nvPr/>
        </p:nvSpPr>
        <p:spPr>
          <a:xfrm>
            <a:off x="1051084" y="4222552"/>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Input: hallazgos en texto libre → Output: reporte estructurado. El formato exacto es institucional y no se logra con prompting.</a:t>
            </a:r>
            <a:endParaRPr lang="en-US" sz="1750" dirty="0"/>
          </a:p>
        </p:txBody>
      </p:sp>
      <p:sp>
        <p:nvSpPr>
          <p:cNvPr id="6" name="Shape 4"/>
          <p:cNvSpPr/>
          <p:nvPr/>
        </p:nvSpPr>
        <p:spPr>
          <a:xfrm>
            <a:off x="5216962" y="3120509"/>
            <a:ext cx="4196358" cy="3173849"/>
          </a:xfrm>
          <a:prstGeom prst="roundRect">
            <a:avLst>
              <a:gd name="adj" fmla="val 288"/>
            </a:avLst>
          </a:prstGeom>
          <a:solidFill>
            <a:srgbClr val="FFFFFF">
              <a:alpha val="95000"/>
            </a:srgbClr>
          </a:solidFill>
          <a:ln w="30480">
            <a:solidFill>
              <a:srgbClr val="D8D4D4"/>
            </a:solidFill>
            <a:prstDash val="solid"/>
          </a:ln>
        </p:spPr>
      </p:sp>
      <p:sp>
        <p:nvSpPr>
          <p:cNvPr id="7" name="Text 5"/>
          <p:cNvSpPr/>
          <p:nvPr/>
        </p:nvSpPr>
        <p:spPr>
          <a:xfrm>
            <a:off x="5474256" y="3377803"/>
            <a:ext cx="3681770" cy="106299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Ejemplo 2: Terminología clínica local</a:t>
            </a:r>
            <a:endParaRPr lang="en-US" sz="2200" dirty="0"/>
          </a:p>
        </p:txBody>
      </p:sp>
      <p:sp>
        <p:nvSpPr>
          <p:cNvPr id="8" name="Text 6"/>
          <p:cNvSpPr/>
          <p:nvPr/>
        </p:nvSpPr>
        <p:spPr>
          <a:xfrm>
            <a:off x="5474256" y="4576882"/>
            <a:ext cx="3681770" cy="1451610"/>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Input: nota clínica en español argentino informal → Output: codificación en CIE-10. Jerga local + mapeo a códigos específicos.</a:t>
            </a:r>
            <a:endParaRPr lang="en-US" sz="1750" dirty="0"/>
          </a:p>
        </p:txBody>
      </p:sp>
      <p:sp>
        <p:nvSpPr>
          <p:cNvPr id="9" name="Shape 7"/>
          <p:cNvSpPr/>
          <p:nvPr/>
        </p:nvSpPr>
        <p:spPr>
          <a:xfrm>
            <a:off x="9640133" y="3120509"/>
            <a:ext cx="4196358" cy="3173849"/>
          </a:xfrm>
          <a:prstGeom prst="roundRect">
            <a:avLst>
              <a:gd name="adj" fmla="val 288"/>
            </a:avLst>
          </a:prstGeom>
          <a:solidFill>
            <a:srgbClr val="FFFFFF">
              <a:alpha val="95000"/>
            </a:srgbClr>
          </a:solidFill>
          <a:ln w="30480">
            <a:solidFill>
              <a:srgbClr val="D8D4D4"/>
            </a:solidFill>
            <a:prstDash val="solid"/>
          </a:ln>
        </p:spPr>
      </p:sp>
      <p:sp>
        <p:nvSpPr>
          <p:cNvPr id="10" name="Text 8"/>
          <p:cNvSpPr/>
          <p:nvPr/>
        </p:nvSpPr>
        <p:spPr>
          <a:xfrm>
            <a:off x="9897427" y="3377803"/>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Ejemplo 3: FAQs médicas internas</a:t>
            </a:r>
            <a:endParaRPr lang="en-US" sz="2200" dirty="0"/>
          </a:p>
        </p:txBody>
      </p:sp>
      <p:sp>
        <p:nvSpPr>
          <p:cNvPr id="11" name="Text 9"/>
          <p:cNvSpPr/>
          <p:nvPr/>
        </p:nvSpPr>
        <p:spPr>
          <a:xfrm>
            <a:off x="9897427" y="4222552"/>
            <a:ext cx="3681770" cy="1814513"/>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Input: pregunta de paciente → Output: respuesta aprobada por comité médico. Las respuestas deben ser exactamente las aprobadas.</a:t>
            </a:r>
            <a:endParaRPr lang="en-US" sz="1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93790" y="747951"/>
            <a:ext cx="10232827"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Requisitos para fine-tuning</a:t>
            </a:r>
            <a:endParaRPr lang="en-US" sz="4450" dirty="0"/>
          </a:p>
        </p:txBody>
      </p:sp>
      <p:sp>
        <p:nvSpPr>
          <p:cNvPr id="3" name="Shape 1"/>
          <p:cNvSpPr/>
          <p:nvPr/>
        </p:nvSpPr>
        <p:spPr>
          <a:xfrm>
            <a:off x="793790" y="1933218"/>
            <a:ext cx="13042821" cy="4567476"/>
          </a:xfrm>
          <a:prstGeom prst="roundRect">
            <a:avLst>
              <a:gd name="adj" fmla="val 200"/>
            </a:avLst>
          </a:prstGeom>
          <a:noFill/>
          <a:ln w="7620">
            <a:solidFill>
              <a:srgbClr val="000000">
                <a:alpha val="8000"/>
              </a:srgbClr>
            </a:solidFill>
            <a:prstDash val="solid"/>
          </a:ln>
        </p:spPr>
      </p:sp>
      <p:sp>
        <p:nvSpPr>
          <p:cNvPr id="4" name="Shape 2"/>
          <p:cNvSpPr/>
          <p:nvPr/>
        </p:nvSpPr>
        <p:spPr>
          <a:xfrm>
            <a:off x="801410" y="1940838"/>
            <a:ext cx="13027581" cy="650319"/>
          </a:xfrm>
          <a:prstGeom prst="rect">
            <a:avLst/>
          </a:prstGeom>
          <a:solidFill>
            <a:srgbClr val="FFFFFF">
              <a:alpha val="4000"/>
            </a:srgbClr>
          </a:solidFill>
          <a:ln/>
        </p:spPr>
      </p:sp>
      <p:sp>
        <p:nvSpPr>
          <p:cNvPr id="5" name="Text 3"/>
          <p:cNvSpPr/>
          <p:nvPr/>
        </p:nvSpPr>
        <p:spPr>
          <a:xfrm>
            <a:off x="1028343" y="2084546"/>
            <a:ext cx="279939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Requisito</a:t>
            </a:r>
            <a:endParaRPr lang="en-US" sz="1750" dirty="0"/>
          </a:p>
        </p:txBody>
      </p:sp>
      <p:sp>
        <p:nvSpPr>
          <p:cNvPr id="6" name="Text 4"/>
          <p:cNvSpPr/>
          <p:nvPr/>
        </p:nvSpPr>
        <p:spPr>
          <a:xfrm>
            <a:off x="4288988" y="2084546"/>
            <a:ext cx="9313188"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Mínimo recomendado</a:t>
            </a:r>
            <a:endParaRPr lang="en-US" sz="1750" dirty="0"/>
          </a:p>
        </p:txBody>
      </p:sp>
      <p:sp>
        <p:nvSpPr>
          <p:cNvPr id="7" name="Shape 5"/>
          <p:cNvSpPr/>
          <p:nvPr/>
        </p:nvSpPr>
        <p:spPr>
          <a:xfrm>
            <a:off x="801410" y="2591157"/>
            <a:ext cx="13027581" cy="650319"/>
          </a:xfrm>
          <a:prstGeom prst="rect">
            <a:avLst/>
          </a:prstGeom>
          <a:solidFill>
            <a:srgbClr val="000000">
              <a:alpha val="4000"/>
            </a:srgbClr>
          </a:solidFill>
          <a:ln/>
        </p:spPr>
      </p:sp>
      <p:sp>
        <p:nvSpPr>
          <p:cNvPr id="8" name="Text 6"/>
          <p:cNvSpPr/>
          <p:nvPr/>
        </p:nvSpPr>
        <p:spPr>
          <a:xfrm>
            <a:off x="1028343" y="2734866"/>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Dataset</a:t>
            </a:r>
            <a:endParaRPr lang="en-US" sz="1750" dirty="0"/>
          </a:p>
        </p:txBody>
      </p:sp>
      <p:sp>
        <p:nvSpPr>
          <p:cNvPr id="9" name="Text 7"/>
          <p:cNvSpPr/>
          <p:nvPr/>
        </p:nvSpPr>
        <p:spPr>
          <a:xfrm>
            <a:off x="4288988" y="2734866"/>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Cientos a miles de ejemplos de alta calidad</a:t>
            </a:r>
            <a:endParaRPr lang="en-US" sz="1750" dirty="0"/>
          </a:p>
        </p:txBody>
      </p:sp>
      <p:sp>
        <p:nvSpPr>
          <p:cNvPr id="10" name="Shape 8"/>
          <p:cNvSpPr/>
          <p:nvPr/>
        </p:nvSpPr>
        <p:spPr>
          <a:xfrm>
            <a:off x="801410" y="3241477"/>
            <a:ext cx="13027581" cy="650319"/>
          </a:xfrm>
          <a:prstGeom prst="rect">
            <a:avLst/>
          </a:prstGeom>
          <a:solidFill>
            <a:srgbClr val="FFFFFF">
              <a:alpha val="4000"/>
            </a:srgbClr>
          </a:solidFill>
          <a:ln/>
        </p:spPr>
      </p:sp>
      <p:sp>
        <p:nvSpPr>
          <p:cNvPr id="11" name="Text 9"/>
          <p:cNvSpPr/>
          <p:nvPr/>
        </p:nvSpPr>
        <p:spPr>
          <a:xfrm>
            <a:off x="1028343" y="3385185"/>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Formato</a:t>
            </a:r>
            <a:endParaRPr lang="en-US" sz="1750" dirty="0"/>
          </a:p>
        </p:txBody>
      </p:sp>
      <p:sp>
        <p:nvSpPr>
          <p:cNvPr id="12" name="Text 10"/>
          <p:cNvSpPr/>
          <p:nvPr/>
        </p:nvSpPr>
        <p:spPr>
          <a:xfrm>
            <a:off x="4288988" y="3385185"/>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Pares claros de input → output esperado</a:t>
            </a:r>
            <a:endParaRPr lang="en-US" sz="1750" dirty="0"/>
          </a:p>
        </p:txBody>
      </p:sp>
      <p:sp>
        <p:nvSpPr>
          <p:cNvPr id="13" name="Shape 11"/>
          <p:cNvSpPr/>
          <p:nvPr/>
        </p:nvSpPr>
        <p:spPr>
          <a:xfrm>
            <a:off x="801410" y="3891796"/>
            <a:ext cx="13027581" cy="650319"/>
          </a:xfrm>
          <a:prstGeom prst="rect">
            <a:avLst/>
          </a:prstGeom>
          <a:solidFill>
            <a:srgbClr val="000000">
              <a:alpha val="4000"/>
            </a:srgbClr>
          </a:solidFill>
          <a:ln/>
        </p:spPr>
      </p:sp>
      <p:sp>
        <p:nvSpPr>
          <p:cNvPr id="14" name="Text 12"/>
          <p:cNvSpPr/>
          <p:nvPr/>
        </p:nvSpPr>
        <p:spPr>
          <a:xfrm>
            <a:off x="1028343" y="4035504"/>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Métricas</a:t>
            </a:r>
            <a:endParaRPr lang="en-US" sz="1750" dirty="0"/>
          </a:p>
        </p:txBody>
      </p:sp>
      <p:sp>
        <p:nvSpPr>
          <p:cNvPr id="15" name="Text 13"/>
          <p:cNvSpPr/>
          <p:nvPr/>
        </p:nvSpPr>
        <p:spPr>
          <a:xfrm>
            <a:off x="4288988" y="4035504"/>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Definidas ANTES de empezar</a:t>
            </a:r>
            <a:endParaRPr lang="en-US" sz="1750" dirty="0"/>
          </a:p>
        </p:txBody>
      </p:sp>
      <p:sp>
        <p:nvSpPr>
          <p:cNvPr id="16" name="Shape 14"/>
          <p:cNvSpPr/>
          <p:nvPr/>
        </p:nvSpPr>
        <p:spPr>
          <a:xfrm>
            <a:off x="801410" y="4542115"/>
            <a:ext cx="13027581" cy="650319"/>
          </a:xfrm>
          <a:prstGeom prst="rect">
            <a:avLst/>
          </a:prstGeom>
          <a:solidFill>
            <a:srgbClr val="FFFFFF">
              <a:alpha val="4000"/>
            </a:srgbClr>
          </a:solidFill>
          <a:ln/>
        </p:spPr>
      </p:sp>
      <p:sp>
        <p:nvSpPr>
          <p:cNvPr id="17" name="Text 15"/>
          <p:cNvSpPr/>
          <p:nvPr/>
        </p:nvSpPr>
        <p:spPr>
          <a:xfrm>
            <a:off x="1028343" y="4685824"/>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Eval set</a:t>
            </a:r>
            <a:endParaRPr lang="en-US" sz="1750" dirty="0"/>
          </a:p>
        </p:txBody>
      </p:sp>
      <p:sp>
        <p:nvSpPr>
          <p:cNvPr id="18" name="Text 16"/>
          <p:cNvSpPr/>
          <p:nvPr/>
        </p:nvSpPr>
        <p:spPr>
          <a:xfrm>
            <a:off x="4288988" y="4685824"/>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Dataset de evaluación separado (nunca visto)</a:t>
            </a:r>
            <a:endParaRPr lang="en-US" sz="1750" dirty="0"/>
          </a:p>
        </p:txBody>
      </p:sp>
      <p:sp>
        <p:nvSpPr>
          <p:cNvPr id="19" name="Shape 17"/>
          <p:cNvSpPr/>
          <p:nvPr/>
        </p:nvSpPr>
        <p:spPr>
          <a:xfrm>
            <a:off x="801410" y="5192435"/>
            <a:ext cx="13027581" cy="650319"/>
          </a:xfrm>
          <a:prstGeom prst="rect">
            <a:avLst/>
          </a:prstGeom>
          <a:solidFill>
            <a:srgbClr val="000000">
              <a:alpha val="4000"/>
            </a:srgbClr>
          </a:solidFill>
          <a:ln/>
        </p:spPr>
      </p:sp>
      <p:sp>
        <p:nvSpPr>
          <p:cNvPr id="20" name="Text 18"/>
          <p:cNvSpPr/>
          <p:nvPr/>
        </p:nvSpPr>
        <p:spPr>
          <a:xfrm>
            <a:off x="1028343" y="533614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Infraestructura</a:t>
            </a:r>
            <a:endParaRPr lang="en-US" sz="1750" dirty="0"/>
          </a:p>
        </p:txBody>
      </p:sp>
      <p:sp>
        <p:nvSpPr>
          <p:cNvPr id="21" name="Text 19"/>
          <p:cNvSpPr/>
          <p:nvPr/>
        </p:nvSpPr>
        <p:spPr>
          <a:xfrm>
            <a:off x="4288988" y="5336143"/>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GPU(s) con VRAM suficiente (16GB+ para LoRA)</a:t>
            </a:r>
            <a:endParaRPr lang="en-US" sz="1750" dirty="0"/>
          </a:p>
        </p:txBody>
      </p:sp>
      <p:sp>
        <p:nvSpPr>
          <p:cNvPr id="22" name="Shape 20"/>
          <p:cNvSpPr/>
          <p:nvPr/>
        </p:nvSpPr>
        <p:spPr>
          <a:xfrm>
            <a:off x="801410" y="5842754"/>
            <a:ext cx="13027581" cy="650319"/>
          </a:xfrm>
          <a:prstGeom prst="rect">
            <a:avLst/>
          </a:prstGeom>
          <a:solidFill>
            <a:srgbClr val="FFFFFF">
              <a:alpha val="4000"/>
            </a:srgbClr>
          </a:solidFill>
          <a:ln/>
        </p:spPr>
      </p:sp>
      <p:sp>
        <p:nvSpPr>
          <p:cNvPr id="23" name="Text 21"/>
          <p:cNvSpPr/>
          <p:nvPr/>
        </p:nvSpPr>
        <p:spPr>
          <a:xfrm>
            <a:off x="1028343" y="598646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Expertise</a:t>
            </a:r>
            <a:endParaRPr lang="en-US" sz="1750" dirty="0"/>
          </a:p>
        </p:txBody>
      </p:sp>
      <p:sp>
        <p:nvSpPr>
          <p:cNvPr id="24" name="Text 22"/>
          <p:cNvSpPr/>
          <p:nvPr/>
        </p:nvSpPr>
        <p:spPr>
          <a:xfrm>
            <a:off x="4288988" y="5986463"/>
            <a:ext cx="93131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Alguien que entienda NLP y el dominio médico</a:t>
            </a:r>
            <a:endParaRPr lang="en-US" sz="1750" dirty="0"/>
          </a:p>
        </p:txBody>
      </p:sp>
      <p:sp>
        <p:nvSpPr>
          <p:cNvPr id="25" name="Text 23"/>
          <p:cNvSpPr/>
          <p:nvPr/>
        </p:nvSpPr>
        <p:spPr>
          <a:xfrm>
            <a:off x="793790" y="675584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Flujo: preparar dataset → elegir modelo y método → configurar hiperparámetros → entrenar monitoreando → evaluar en test → comparar contra baseline.</a:t>
            </a:r>
            <a:endParaRPr lang="en-US" sz="1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793790" y="987743"/>
            <a:ext cx="9212104"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Requisito más importante</a:t>
            </a:r>
            <a:endParaRPr lang="en-US" sz="4450" dirty="0"/>
          </a:p>
        </p:txBody>
      </p:sp>
      <p:sp>
        <p:nvSpPr>
          <p:cNvPr id="3" name="Text 1"/>
          <p:cNvSpPr/>
          <p:nvPr/>
        </p:nvSpPr>
        <p:spPr>
          <a:xfrm>
            <a:off x="1133951" y="2428161"/>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Saber exactamente qué querés mejorar</a:t>
            </a:r>
            <a:endParaRPr lang="en-US" sz="1750" dirty="0"/>
          </a:p>
        </p:txBody>
      </p:sp>
      <p:sp>
        <p:nvSpPr>
          <p:cNvPr id="4" name="Shape 2"/>
          <p:cNvSpPr/>
          <p:nvPr/>
        </p:nvSpPr>
        <p:spPr>
          <a:xfrm>
            <a:off x="793790" y="2173010"/>
            <a:ext cx="30480" cy="873204"/>
          </a:xfrm>
          <a:prstGeom prst="rect">
            <a:avLst/>
          </a:prstGeom>
          <a:solidFill>
            <a:srgbClr val="DA1B2E"/>
          </a:solidFill>
          <a:ln/>
        </p:spPr>
      </p:sp>
      <p:sp>
        <p:nvSpPr>
          <p:cNvPr id="5" name="Text 3"/>
          <p:cNvSpPr/>
          <p:nvPr/>
        </p:nvSpPr>
        <p:spPr>
          <a:xfrm>
            <a:off x="793790" y="3301365"/>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Si no podés completar esta frase:</a:t>
            </a:r>
            <a:endParaRPr lang="en-US" sz="1750" dirty="0"/>
          </a:p>
        </p:txBody>
      </p:sp>
      <p:sp>
        <p:nvSpPr>
          <p:cNvPr id="6" name="Text 4"/>
          <p:cNvSpPr/>
          <p:nvPr/>
        </p:nvSpPr>
        <p:spPr>
          <a:xfrm>
            <a:off x="793790" y="391941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"Quiero que el modelo mejore en __________, medido por __________, usando datos de __________"</a:t>
            </a:r>
            <a:endParaRPr lang="en-US" sz="1750" dirty="0"/>
          </a:p>
        </p:txBody>
      </p:sp>
      <p:sp>
        <p:nvSpPr>
          <p:cNvPr id="7" name="Text 5"/>
          <p:cNvSpPr/>
          <p:nvPr/>
        </p:nvSpPr>
        <p:spPr>
          <a:xfrm>
            <a:off x="793790" y="453747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 No estás listo para fine-tuning.</a:t>
            </a:r>
            <a:endParaRPr lang="en-US" sz="1750" dirty="0"/>
          </a:p>
        </p:txBody>
      </p:sp>
      <p:sp>
        <p:nvSpPr>
          <p:cNvPr id="8" name="Shape 6"/>
          <p:cNvSpPr/>
          <p:nvPr/>
        </p:nvSpPr>
        <p:spPr>
          <a:xfrm>
            <a:off x="793790" y="5155525"/>
            <a:ext cx="13042821" cy="2086332"/>
          </a:xfrm>
          <a:prstGeom prst="roundRect">
            <a:avLst>
              <a:gd name="adj" fmla="val 438"/>
            </a:avLst>
          </a:prstGeom>
          <a:solidFill>
            <a:srgbClr val="F7BBC1"/>
          </a:solidFill>
          <a:ln/>
        </p:spPr>
      </p:sp>
      <p:pic>
        <p:nvPicPr>
          <p:cNvPr id="9" name="Image 0" descr="preencoded.png">    </p:cNvPr>
          <p:cNvPicPr>
            <a:picLocks noChangeAspect="1"/>
          </p:cNvPicPr>
          <p:nvPr/>
        </p:nvPicPr>
        <p:blipFill>
          <a:blip r:embed="rId1"/>
          <a:stretch>
            <a:fillRect/>
          </a:stretch>
        </p:blipFill>
        <p:spPr>
          <a:xfrm>
            <a:off x="1020604" y="5499616"/>
            <a:ext cx="283488" cy="226814"/>
          </a:xfrm>
          <a:prstGeom prst="rect">
            <a:avLst/>
          </a:prstGeom>
        </p:spPr>
      </p:pic>
      <p:sp>
        <p:nvSpPr>
          <p:cNvPr id="10" name="Text 7"/>
          <p:cNvSpPr/>
          <p:nvPr/>
        </p:nvSpPr>
        <p:spPr>
          <a:xfrm>
            <a:off x="1530906" y="5439013"/>
            <a:ext cx="12078891" cy="161020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"Quiero que genere reportes de ECG en formato SOAP, medido por adherencia al formato y corrección médica (evaluada por cardiólogos), usando 2000 reportes del Hospital X"</a:t>
            </a:r>
            <a:endParaRPr lang="en-US" sz="1750" dirty="0"/>
          </a:p>
          <a:p>
            <a:pPr algn="l" marL="342900" indent="-342900">
              <a:lnSpc>
                <a:spcPts val="2850"/>
              </a:lnSpc>
              <a:buSzPct val="100000"/>
              <a:buChar char="•"/>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"Quiero que sea mejor en medicina" (demasiado vago)</a:t>
            </a:r>
            <a:endParaRPr lang="en-US" sz="1750" dirty="0"/>
          </a:p>
          <a:p>
            <a:pPr algn="l" marL="342900" indent="-342900">
              <a:lnSpc>
                <a:spcPts val="2850"/>
              </a:lnSpc>
              <a:buSzPct val="100000"/>
              <a:buChar char="•"/>
            </a:pPr>
            <a:r>
              <a:rPr lang="en-US" sz="1750" dirty="0">
                <a:solidFill>
                  <a:srgbClr val="000000"/>
                </a:solidFill>
                <a:latin typeface="Roboto" pitchFamily="34" charset="0"/>
                <a:ea typeface="Roboto" pitchFamily="34" charset="-122"/>
                <a:cs typeface="Roboto" pitchFamily="34" charset="-120"/>
              </a:rPr>
              <a:t>❌</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"Quiero que no alucine" (no es medible sin más contexto)</a:t>
            </a:r>
            <a:endParaRPr lang="en-US" sz="1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793790" y="691515"/>
            <a:ext cx="9720262" cy="660797"/>
          </a:xfrm>
          <a:prstGeom prst="rect">
            <a:avLst/>
          </a:prstGeom>
          <a:noFill/>
          <a:ln/>
        </p:spPr>
        <p:txBody>
          <a:bodyPr wrap="none" lIns="0" tIns="0" rIns="0" bIns="0" rtlCol="0" anchor="t"/>
          <a:lstStyle/>
          <a:p>
            <a:pPr algn="l" indent="0" marL="0">
              <a:lnSpc>
                <a:spcPts val="5000"/>
              </a:lnSpc>
              <a:buNone/>
            </a:pPr>
            <a:r>
              <a:rPr lang="en-US" sz="4000" dirty="0">
                <a:solidFill>
                  <a:srgbClr val="000000"/>
                </a:solidFill>
                <a:latin typeface="Roboto Mono Medium" pitchFamily="34" charset="0"/>
                <a:ea typeface="Roboto Mono Medium" pitchFamily="34" charset="-122"/>
                <a:cs typeface="Roboto Mono Medium" pitchFamily="34" charset="-120"/>
              </a:rPr>
              <a:t>📊</a:t>
            </a:r>
            <a:pPr algn="l" indent="0" marL="0">
              <a:lnSpc>
                <a:spcPts val="5000"/>
              </a:lnSpc>
              <a:buNone/>
            </a:pPr>
            <a:r>
              <a:rPr lang="en-US" sz="4000" dirty="0">
                <a:solidFill>
                  <a:srgbClr val="1F1E1E"/>
                </a:solidFill>
                <a:latin typeface="Roboto Mono Medium" pitchFamily="34" charset="0"/>
                <a:ea typeface="Roboto Mono Medium" pitchFamily="34" charset="-122"/>
                <a:cs typeface="Roboto Mono Medium" pitchFamily="34" charset="-120"/>
              </a:rPr>
              <a:t> Sin métricas → no hay mejora</a:t>
            </a:r>
            <a:endParaRPr lang="en-US" sz="4000" dirty="0"/>
          </a:p>
        </p:txBody>
      </p:sp>
      <p:sp>
        <p:nvSpPr>
          <p:cNvPr id="3" name="Text 1"/>
          <p:cNvSpPr/>
          <p:nvPr/>
        </p:nvSpPr>
        <p:spPr>
          <a:xfrm>
            <a:off x="1099899" y="1926431"/>
            <a:ext cx="12736711" cy="310277"/>
          </a:xfrm>
          <a:prstGeom prst="rect">
            <a:avLst/>
          </a:prstGeom>
          <a:noFill/>
          <a:ln/>
        </p:spPr>
        <p:txBody>
          <a:bodyPr wrap="none" lIns="0" tIns="0" rIns="0" bIns="0" rtlCol="0" anchor="t"/>
          <a:lstStyle/>
          <a:p>
            <a:pPr algn="l" indent="0" marL="0">
              <a:lnSpc>
                <a:spcPts val="2400"/>
              </a:lnSpc>
              <a:buNone/>
            </a:pPr>
            <a:r>
              <a:rPr lang="en-US" sz="1600" i="1" dirty="0">
                <a:solidFill>
                  <a:srgbClr val="3B3535"/>
                </a:solidFill>
                <a:latin typeface="Roboto" pitchFamily="34" charset="0"/>
                <a:ea typeface="Roboto" pitchFamily="34" charset="-122"/>
                <a:cs typeface="Roboto" pitchFamily="34" charset="-120"/>
              </a:rPr>
              <a:t>Si no podés medir → no podés optimizar</a:t>
            </a:r>
            <a:endParaRPr lang="en-US" sz="1600" dirty="0"/>
          </a:p>
        </p:txBody>
      </p:sp>
      <p:sp>
        <p:nvSpPr>
          <p:cNvPr id="4" name="Shape 2"/>
          <p:cNvSpPr/>
          <p:nvPr/>
        </p:nvSpPr>
        <p:spPr>
          <a:xfrm>
            <a:off x="793790" y="1719739"/>
            <a:ext cx="22860" cy="723662"/>
          </a:xfrm>
          <a:prstGeom prst="rect">
            <a:avLst/>
          </a:prstGeom>
          <a:solidFill>
            <a:srgbClr val="DA1B2E"/>
          </a:solidFill>
          <a:ln/>
        </p:spPr>
      </p:sp>
      <p:sp>
        <p:nvSpPr>
          <p:cNvPr id="5" name="Text 3"/>
          <p:cNvSpPr/>
          <p:nvPr/>
        </p:nvSpPr>
        <p:spPr>
          <a:xfrm>
            <a:off x="793790" y="2650093"/>
            <a:ext cx="13042821"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Especialmente crítico con LLMs porque:</a:t>
            </a:r>
            <a:endParaRPr lang="en-US" sz="1600" dirty="0"/>
          </a:p>
        </p:txBody>
      </p:sp>
      <p:sp>
        <p:nvSpPr>
          <p:cNvPr id="6" name="Text 4"/>
          <p:cNvSpPr/>
          <p:nvPr/>
        </p:nvSpPr>
        <p:spPr>
          <a:xfrm>
            <a:off x="793790" y="3167063"/>
            <a:ext cx="13042821" cy="1059418"/>
          </a:xfrm>
          <a:prstGeom prst="rect">
            <a:avLst/>
          </a:prstGeom>
          <a:noFill/>
          <a:ln/>
        </p:spPr>
        <p:txBody>
          <a:bodyPr wrap="square" lIns="0" tIns="0" rIns="0" bIns="0" rtlCol="0" anchor="t"/>
          <a:lstStyle/>
          <a:p>
            <a:pPr algn="l" marL="342900" indent="-342900">
              <a:lnSpc>
                <a:spcPts val="2400"/>
              </a:lnSpc>
              <a:buSzPct val="100000"/>
              <a:buChar char="•"/>
            </a:pPr>
            <a:r>
              <a:rPr lang="en-US" sz="1600" dirty="0">
                <a:solidFill>
                  <a:srgbClr val="3B3535"/>
                </a:solidFill>
                <a:latin typeface="Roboto" pitchFamily="34" charset="0"/>
                <a:ea typeface="Roboto" pitchFamily="34" charset="-122"/>
                <a:cs typeface="Roboto" pitchFamily="34" charset="-120"/>
              </a:rPr>
              <a:t>Los outputs son texto libre → más difíciles de evaluar que clasificación binaria</a:t>
            </a:r>
            <a:endParaRPr lang="en-US" sz="1600" dirty="0"/>
          </a:p>
          <a:p>
            <a:pPr algn="l" marL="342900" indent="-342900">
              <a:lnSpc>
                <a:spcPts val="2400"/>
              </a:lnSpc>
              <a:buSzPct val="100000"/>
              <a:buChar char="•"/>
            </a:pPr>
            <a:r>
              <a:rPr lang="en-US" sz="1600" dirty="0">
                <a:solidFill>
                  <a:srgbClr val="3B3535"/>
                </a:solidFill>
                <a:latin typeface="Roboto" pitchFamily="34" charset="0"/>
                <a:ea typeface="Roboto" pitchFamily="34" charset="-122"/>
                <a:cs typeface="Roboto" pitchFamily="34" charset="-120"/>
              </a:rPr>
              <a:t>"Bueno" es subjetivo sin criterios claros</a:t>
            </a:r>
            <a:endParaRPr lang="en-US" sz="1600" dirty="0"/>
          </a:p>
          <a:p>
            <a:pPr algn="l" marL="342900" indent="-342900">
              <a:lnSpc>
                <a:spcPts val="2400"/>
              </a:lnSpc>
              <a:buSzPct val="100000"/>
              <a:buChar char="•"/>
            </a:pPr>
            <a:r>
              <a:rPr lang="en-US" sz="1600" dirty="0">
                <a:solidFill>
                  <a:srgbClr val="3B3535"/>
                </a:solidFill>
                <a:latin typeface="Roboto" pitchFamily="34" charset="0"/>
                <a:ea typeface="Roboto" pitchFamily="34" charset="-122"/>
                <a:cs typeface="Roboto" pitchFamily="34" charset="-120"/>
              </a:rPr>
              <a:t>Es fácil engañarse con respuestas que suenan bien pero son incorrectas</a:t>
            </a:r>
            <a:endParaRPr lang="en-US" sz="1600" dirty="0"/>
          </a:p>
        </p:txBody>
      </p:sp>
      <p:sp>
        <p:nvSpPr>
          <p:cNvPr id="7" name="Text 5"/>
          <p:cNvSpPr/>
          <p:nvPr/>
        </p:nvSpPr>
        <p:spPr>
          <a:xfrm>
            <a:off x="793790" y="4433173"/>
            <a:ext cx="13042821"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Flujo correcto:</a:t>
            </a:r>
            <a:endParaRPr lang="en-US" sz="1600" dirty="0"/>
          </a:p>
        </p:txBody>
      </p:sp>
      <p:sp>
        <p:nvSpPr>
          <p:cNvPr id="8" name="Text 6"/>
          <p:cNvSpPr/>
          <p:nvPr/>
        </p:nvSpPr>
        <p:spPr>
          <a:xfrm>
            <a:off x="793790" y="4950143"/>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01</a:t>
            </a:r>
            <a:endParaRPr lang="en-US" sz="1600" dirty="0"/>
          </a:p>
        </p:txBody>
      </p:sp>
      <p:sp>
        <p:nvSpPr>
          <p:cNvPr id="9" name="Shape 7"/>
          <p:cNvSpPr/>
          <p:nvPr/>
        </p:nvSpPr>
        <p:spPr>
          <a:xfrm>
            <a:off x="793790" y="5274112"/>
            <a:ext cx="4225052" cy="22860"/>
          </a:xfrm>
          <a:prstGeom prst="rect">
            <a:avLst/>
          </a:prstGeom>
          <a:solidFill>
            <a:srgbClr val="DA1B2E"/>
          </a:solidFill>
          <a:ln/>
        </p:spPr>
      </p:sp>
      <p:sp>
        <p:nvSpPr>
          <p:cNvPr id="10" name="Text 8"/>
          <p:cNvSpPr/>
          <p:nvPr/>
        </p:nvSpPr>
        <p:spPr>
          <a:xfrm>
            <a:off x="793790" y="5421868"/>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Definir métricas</a:t>
            </a:r>
            <a:endParaRPr lang="en-US" sz="2000" dirty="0"/>
          </a:p>
        </p:txBody>
      </p:sp>
      <p:sp>
        <p:nvSpPr>
          <p:cNvPr id="11" name="Text 9"/>
          <p:cNvSpPr/>
          <p:nvPr/>
        </p:nvSpPr>
        <p:spPr>
          <a:xfrm>
            <a:off x="5202555" y="4950143"/>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02</a:t>
            </a:r>
            <a:endParaRPr lang="en-US" sz="1600" dirty="0"/>
          </a:p>
        </p:txBody>
      </p:sp>
      <p:sp>
        <p:nvSpPr>
          <p:cNvPr id="12" name="Shape 10"/>
          <p:cNvSpPr/>
          <p:nvPr/>
        </p:nvSpPr>
        <p:spPr>
          <a:xfrm>
            <a:off x="5202555" y="5274112"/>
            <a:ext cx="4225171" cy="22860"/>
          </a:xfrm>
          <a:prstGeom prst="rect">
            <a:avLst/>
          </a:prstGeom>
          <a:solidFill>
            <a:srgbClr val="DA1B2E"/>
          </a:solidFill>
          <a:ln/>
        </p:spPr>
      </p:sp>
      <p:sp>
        <p:nvSpPr>
          <p:cNvPr id="13" name="Text 11"/>
          <p:cNvSpPr/>
          <p:nvPr/>
        </p:nvSpPr>
        <p:spPr>
          <a:xfrm>
            <a:off x="5202555" y="5421868"/>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Medir baseline</a:t>
            </a:r>
            <a:endParaRPr lang="en-US" sz="2000" dirty="0"/>
          </a:p>
        </p:txBody>
      </p:sp>
      <p:sp>
        <p:nvSpPr>
          <p:cNvPr id="14" name="Text 12"/>
          <p:cNvSpPr/>
          <p:nvPr/>
        </p:nvSpPr>
        <p:spPr>
          <a:xfrm>
            <a:off x="9611439" y="4950143"/>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03</a:t>
            </a:r>
            <a:endParaRPr lang="en-US" sz="1600" dirty="0"/>
          </a:p>
        </p:txBody>
      </p:sp>
      <p:sp>
        <p:nvSpPr>
          <p:cNvPr id="15" name="Shape 13"/>
          <p:cNvSpPr/>
          <p:nvPr/>
        </p:nvSpPr>
        <p:spPr>
          <a:xfrm>
            <a:off x="9611439" y="5274112"/>
            <a:ext cx="4225171" cy="22860"/>
          </a:xfrm>
          <a:prstGeom prst="rect">
            <a:avLst/>
          </a:prstGeom>
          <a:solidFill>
            <a:srgbClr val="DA1B2E"/>
          </a:solidFill>
          <a:ln/>
        </p:spPr>
      </p:sp>
      <p:sp>
        <p:nvSpPr>
          <p:cNvPr id="16" name="Text 14"/>
          <p:cNvSpPr/>
          <p:nvPr/>
        </p:nvSpPr>
        <p:spPr>
          <a:xfrm>
            <a:off x="9611439" y="5421868"/>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Hacer cambio</a:t>
            </a:r>
            <a:endParaRPr lang="en-US" sz="2000" dirty="0"/>
          </a:p>
        </p:txBody>
      </p:sp>
      <p:sp>
        <p:nvSpPr>
          <p:cNvPr id="17" name="Text 15"/>
          <p:cNvSpPr/>
          <p:nvPr/>
        </p:nvSpPr>
        <p:spPr>
          <a:xfrm>
            <a:off x="793790" y="6077426"/>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04</a:t>
            </a:r>
            <a:endParaRPr lang="en-US" sz="1600" dirty="0"/>
          </a:p>
        </p:txBody>
      </p:sp>
      <p:sp>
        <p:nvSpPr>
          <p:cNvPr id="18" name="Shape 16"/>
          <p:cNvSpPr/>
          <p:nvPr/>
        </p:nvSpPr>
        <p:spPr>
          <a:xfrm>
            <a:off x="793790" y="6401395"/>
            <a:ext cx="6429494" cy="22860"/>
          </a:xfrm>
          <a:prstGeom prst="rect">
            <a:avLst/>
          </a:prstGeom>
          <a:solidFill>
            <a:srgbClr val="DA1B2E"/>
          </a:solidFill>
          <a:ln/>
        </p:spPr>
      </p:sp>
      <p:sp>
        <p:nvSpPr>
          <p:cNvPr id="19" name="Text 17"/>
          <p:cNvSpPr/>
          <p:nvPr/>
        </p:nvSpPr>
        <p:spPr>
          <a:xfrm>
            <a:off x="793790" y="654915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Medir de nuevo</a:t>
            </a:r>
            <a:endParaRPr lang="en-US" sz="2000" dirty="0"/>
          </a:p>
        </p:txBody>
      </p:sp>
      <p:sp>
        <p:nvSpPr>
          <p:cNvPr id="20" name="Text 18"/>
          <p:cNvSpPr/>
          <p:nvPr/>
        </p:nvSpPr>
        <p:spPr>
          <a:xfrm>
            <a:off x="7406997" y="6077426"/>
            <a:ext cx="204073" cy="255151"/>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Mono Light" pitchFamily="34" charset="0"/>
                <a:ea typeface="Roboto Mono Light" pitchFamily="34" charset="-122"/>
                <a:cs typeface="Roboto Mono Light" pitchFamily="34" charset="-120"/>
              </a:rPr>
              <a:t>05</a:t>
            </a:r>
            <a:endParaRPr lang="en-US" sz="1600" dirty="0"/>
          </a:p>
        </p:txBody>
      </p:sp>
      <p:sp>
        <p:nvSpPr>
          <p:cNvPr id="21" name="Shape 19"/>
          <p:cNvSpPr/>
          <p:nvPr/>
        </p:nvSpPr>
        <p:spPr>
          <a:xfrm>
            <a:off x="7406997" y="6401395"/>
            <a:ext cx="6429613" cy="22860"/>
          </a:xfrm>
          <a:prstGeom prst="rect">
            <a:avLst/>
          </a:prstGeom>
          <a:solidFill>
            <a:srgbClr val="DA1B2E"/>
          </a:solidFill>
          <a:ln/>
        </p:spPr>
      </p:sp>
      <p:sp>
        <p:nvSpPr>
          <p:cNvPr id="22" name="Text 20"/>
          <p:cNvSpPr/>
          <p:nvPr/>
        </p:nvSpPr>
        <p:spPr>
          <a:xfrm>
            <a:off x="7406997" y="654915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B3535"/>
                </a:solidFill>
                <a:latin typeface="Roboto Mono Medium" pitchFamily="34" charset="0"/>
                <a:ea typeface="Roboto Mono Medium" pitchFamily="34" charset="-122"/>
                <a:cs typeface="Roboto Mono Medium" pitchFamily="34" charset="-120"/>
              </a:rPr>
              <a:t>¿Mejoró?</a:t>
            </a:r>
            <a:endParaRPr lang="en-US" sz="2000" dirty="0"/>
          </a:p>
        </p:txBody>
      </p:sp>
      <p:sp>
        <p:nvSpPr>
          <p:cNvPr id="23" name="Text 21"/>
          <p:cNvSpPr/>
          <p:nvPr/>
        </p:nvSpPr>
        <p:spPr>
          <a:xfrm>
            <a:off x="793790" y="7227689"/>
            <a:ext cx="13042821"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Sin los pasos 1 y 2, los pasos 3-5 no tienen sentido.</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793790" y="16860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Agenda</a:t>
            </a:r>
            <a:endParaRPr lang="en-US" sz="4450" dirty="0"/>
          </a:p>
        </p:txBody>
      </p:sp>
      <p:sp>
        <p:nvSpPr>
          <p:cNvPr id="3" name="Text 1"/>
          <p:cNvSpPr/>
          <p:nvPr/>
        </p:nvSpPr>
        <p:spPr>
          <a:xfrm>
            <a:off x="793790"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01</a:t>
            </a:r>
            <a:endParaRPr lang="en-US" sz="1750" dirty="0"/>
          </a:p>
        </p:txBody>
      </p:sp>
      <p:sp>
        <p:nvSpPr>
          <p:cNvPr id="4" name="Shape 2"/>
          <p:cNvSpPr/>
          <p:nvPr/>
        </p:nvSpPr>
        <p:spPr>
          <a:xfrm>
            <a:off x="793790" y="3203496"/>
            <a:ext cx="4196358" cy="30480"/>
          </a:xfrm>
          <a:prstGeom prst="rect">
            <a:avLst/>
          </a:prstGeom>
          <a:solidFill>
            <a:srgbClr val="DA1B2E"/>
          </a:solidFill>
          <a:ln/>
        </p:spPr>
      </p:sp>
      <p:sp>
        <p:nvSpPr>
          <p:cNvPr id="5" name="Text 3"/>
          <p:cNvSpPr/>
          <p:nvPr/>
        </p:nvSpPr>
        <p:spPr>
          <a:xfrm>
            <a:off x="793790"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Repaso</a:t>
            </a:r>
            <a:endParaRPr lang="en-US" sz="2200" dirty="0"/>
          </a:p>
        </p:txBody>
      </p:sp>
      <p:sp>
        <p:nvSpPr>
          <p:cNvPr id="6" name="Text 4"/>
          <p:cNvSpPr/>
          <p:nvPr/>
        </p:nvSpPr>
        <p:spPr>
          <a:xfrm>
            <a:off x="793790"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¿Qué es un LLM y cómo se entrena?</a:t>
            </a:r>
            <a:endParaRPr lang="en-US" sz="1750" dirty="0"/>
          </a:p>
        </p:txBody>
      </p:sp>
      <p:sp>
        <p:nvSpPr>
          <p:cNvPr id="7" name="Text 5"/>
          <p:cNvSpPr/>
          <p:nvPr/>
        </p:nvSpPr>
        <p:spPr>
          <a:xfrm>
            <a:off x="5216962"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02</a:t>
            </a:r>
            <a:endParaRPr lang="en-US" sz="1750" dirty="0"/>
          </a:p>
        </p:txBody>
      </p:sp>
      <p:sp>
        <p:nvSpPr>
          <p:cNvPr id="8" name="Shape 6"/>
          <p:cNvSpPr/>
          <p:nvPr/>
        </p:nvSpPr>
        <p:spPr>
          <a:xfrm>
            <a:off x="5216962" y="3203496"/>
            <a:ext cx="4196358" cy="30480"/>
          </a:xfrm>
          <a:prstGeom prst="rect">
            <a:avLst/>
          </a:prstGeom>
          <a:solidFill>
            <a:srgbClr val="DA1B2E"/>
          </a:solidFill>
          <a:ln/>
        </p:spPr>
      </p:sp>
      <p:sp>
        <p:nvSpPr>
          <p:cNvPr id="9" name="Text 7"/>
          <p:cNvSpPr/>
          <p:nvPr/>
        </p:nvSpPr>
        <p:spPr>
          <a:xfrm>
            <a:off x="5216962"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Evaluación</a:t>
            </a:r>
            <a:endParaRPr lang="en-US" sz="2200" dirty="0"/>
          </a:p>
        </p:txBody>
      </p:sp>
      <p:sp>
        <p:nvSpPr>
          <p:cNvPr id="10" name="Text 8"/>
          <p:cNvSpPr/>
          <p:nvPr/>
        </p:nvSpPr>
        <p:spPr>
          <a:xfrm>
            <a:off x="5216962" y="3868222"/>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Métricas, benchmarks y evaluación humana</a:t>
            </a:r>
            <a:endParaRPr lang="en-US" sz="1750" dirty="0"/>
          </a:p>
        </p:txBody>
      </p:sp>
      <p:sp>
        <p:nvSpPr>
          <p:cNvPr id="11" name="Text 9"/>
          <p:cNvSpPr/>
          <p:nvPr/>
        </p:nvSpPr>
        <p:spPr>
          <a:xfrm>
            <a:off x="9640133" y="2848451"/>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03</a:t>
            </a:r>
            <a:endParaRPr lang="en-US" sz="1750" dirty="0"/>
          </a:p>
        </p:txBody>
      </p:sp>
      <p:sp>
        <p:nvSpPr>
          <p:cNvPr id="12" name="Shape 10"/>
          <p:cNvSpPr/>
          <p:nvPr/>
        </p:nvSpPr>
        <p:spPr>
          <a:xfrm>
            <a:off x="9640133" y="3203496"/>
            <a:ext cx="4196358" cy="30480"/>
          </a:xfrm>
          <a:prstGeom prst="rect">
            <a:avLst/>
          </a:prstGeom>
          <a:solidFill>
            <a:srgbClr val="DA1B2E"/>
          </a:solidFill>
          <a:ln/>
        </p:spPr>
      </p:sp>
      <p:sp>
        <p:nvSpPr>
          <p:cNvPr id="13" name="Text 11"/>
          <p:cNvSpPr/>
          <p:nvPr/>
        </p:nvSpPr>
        <p:spPr>
          <a:xfrm>
            <a:off x="9640133" y="337780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Prompting</a:t>
            </a:r>
            <a:endParaRPr lang="en-US" sz="2200" dirty="0"/>
          </a:p>
        </p:txBody>
      </p:sp>
      <p:sp>
        <p:nvSpPr>
          <p:cNvPr id="14" name="Text 12"/>
          <p:cNvSpPr/>
          <p:nvPr/>
        </p:nvSpPr>
        <p:spPr>
          <a:xfrm>
            <a:off x="9640133" y="3868222"/>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Primera herramienta de mejora</a:t>
            </a:r>
            <a:endParaRPr lang="en-US" sz="1750" dirty="0"/>
          </a:p>
        </p:txBody>
      </p:sp>
      <p:sp>
        <p:nvSpPr>
          <p:cNvPr id="15" name="Text 13"/>
          <p:cNvSpPr/>
          <p:nvPr/>
        </p:nvSpPr>
        <p:spPr>
          <a:xfrm>
            <a:off x="793790"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04</a:t>
            </a:r>
            <a:endParaRPr lang="en-US" sz="1750" dirty="0"/>
          </a:p>
        </p:txBody>
      </p:sp>
      <p:sp>
        <p:nvSpPr>
          <p:cNvPr id="16" name="Shape 14"/>
          <p:cNvSpPr/>
          <p:nvPr/>
        </p:nvSpPr>
        <p:spPr>
          <a:xfrm>
            <a:off x="793790" y="5345906"/>
            <a:ext cx="6407944" cy="30480"/>
          </a:xfrm>
          <a:prstGeom prst="rect">
            <a:avLst/>
          </a:prstGeom>
          <a:solidFill>
            <a:srgbClr val="DA1B2E"/>
          </a:solidFill>
          <a:ln/>
        </p:spPr>
      </p:sp>
      <p:sp>
        <p:nvSpPr>
          <p:cNvPr id="17" name="Text 15"/>
          <p:cNvSpPr/>
          <p:nvPr/>
        </p:nvSpPr>
        <p:spPr>
          <a:xfrm>
            <a:off x="793790"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Fine-tuning</a:t>
            </a:r>
            <a:endParaRPr lang="en-US" sz="2200" dirty="0"/>
          </a:p>
        </p:txBody>
      </p:sp>
      <p:sp>
        <p:nvSpPr>
          <p:cNvPr id="18" name="Text 16"/>
          <p:cNvSpPr/>
          <p:nvPr/>
        </p:nvSpPr>
        <p:spPr>
          <a:xfrm>
            <a:off x="793790"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Cuándo sí, cuándo no, y requisitos</a:t>
            </a:r>
            <a:endParaRPr lang="en-US" sz="1750" dirty="0"/>
          </a:p>
        </p:txBody>
      </p:sp>
      <p:sp>
        <p:nvSpPr>
          <p:cNvPr id="19" name="Text 17"/>
          <p:cNvSpPr/>
          <p:nvPr/>
        </p:nvSpPr>
        <p:spPr>
          <a:xfrm>
            <a:off x="7428548" y="4990862"/>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Mono Light" pitchFamily="34" charset="0"/>
                <a:ea typeface="Roboto Mono Light" pitchFamily="34" charset="-122"/>
                <a:cs typeface="Roboto Mono Light" pitchFamily="34" charset="-120"/>
              </a:rPr>
              <a:t>05</a:t>
            </a:r>
            <a:endParaRPr lang="en-US" sz="1750" dirty="0"/>
          </a:p>
        </p:txBody>
      </p:sp>
      <p:sp>
        <p:nvSpPr>
          <p:cNvPr id="20" name="Shape 18"/>
          <p:cNvSpPr/>
          <p:nvPr/>
        </p:nvSpPr>
        <p:spPr>
          <a:xfrm>
            <a:off x="7428548" y="5345906"/>
            <a:ext cx="6407944" cy="30480"/>
          </a:xfrm>
          <a:prstGeom prst="rect">
            <a:avLst/>
          </a:prstGeom>
          <a:solidFill>
            <a:srgbClr val="DA1B2E"/>
          </a:solidFill>
          <a:ln/>
        </p:spPr>
      </p:sp>
      <p:sp>
        <p:nvSpPr>
          <p:cNvPr id="21" name="Text 19"/>
          <p:cNvSpPr/>
          <p:nvPr/>
        </p:nvSpPr>
        <p:spPr>
          <a:xfrm>
            <a:off x="7428548" y="5520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Calidad de datos</a:t>
            </a:r>
            <a:endParaRPr lang="en-US" sz="2200" dirty="0"/>
          </a:p>
        </p:txBody>
      </p:sp>
      <p:sp>
        <p:nvSpPr>
          <p:cNvPr id="22" name="Text 20"/>
          <p:cNvSpPr/>
          <p:nvPr/>
        </p:nvSpPr>
        <p:spPr>
          <a:xfrm>
            <a:off x="7428548" y="6010632"/>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Garbage in → garbage out, datos sintéticos</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93790" y="1753195"/>
            <a:ext cx="9892546"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Calidad de datos (CRÍTICO)</a:t>
            </a:r>
            <a:endParaRPr lang="en-US" sz="4450" dirty="0"/>
          </a:p>
        </p:txBody>
      </p:sp>
      <p:sp>
        <p:nvSpPr>
          <p:cNvPr id="3" name="Text 1"/>
          <p:cNvSpPr/>
          <p:nvPr/>
        </p:nvSpPr>
        <p:spPr>
          <a:xfrm>
            <a:off x="793790" y="2575560"/>
            <a:ext cx="6712982" cy="566976"/>
          </a:xfrm>
          <a:prstGeom prst="rect">
            <a:avLst/>
          </a:prstGeom>
          <a:noFill/>
          <a:ln/>
        </p:spPr>
        <p:txBody>
          <a:bodyPr wrap="none" lIns="0" tIns="0" rIns="0" bIns="0" rtlCol="0" anchor="t"/>
          <a:lstStyle/>
          <a:p>
            <a:pPr algn="l" indent="0" marL="0">
              <a:lnSpc>
                <a:spcPts val="4450"/>
              </a:lnSpc>
              <a:buNone/>
            </a:pPr>
            <a:r>
              <a:rPr lang="en-US" sz="3550" dirty="0">
                <a:solidFill>
                  <a:srgbClr val="1F1E1E"/>
                </a:solidFill>
                <a:latin typeface="Roboto Mono Medium" pitchFamily="34" charset="0"/>
                <a:ea typeface="Roboto Mono Medium" pitchFamily="34" charset="-122"/>
                <a:cs typeface="Roboto Mono Medium" pitchFamily="34" charset="-120"/>
              </a:rPr>
              <a:t>Garbage in → Garbage out</a:t>
            </a:r>
            <a:endParaRPr lang="en-US" sz="3550" dirty="0"/>
          </a:p>
        </p:txBody>
      </p:sp>
      <p:sp>
        <p:nvSpPr>
          <p:cNvPr id="4" name="Text 2"/>
          <p:cNvSpPr/>
          <p:nvPr/>
        </p:nvSpPr>
        <p:spPr>
          <a:xfrm>
            <a:off x="793790" y="348269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Aplica doblemente en LLMs:</a:t>
            </a:r>
            <a:endParaRPr lang="en-US" sz="1750" dirty="0"/>
          </a:p>
        </p:txBody>
      </p:sp>
      <p:sp>
        <p:nvSpPr>
          <p:cNvPr id="5" name="Text 3"/>
          <p:cNvSpPr/>
          <p:nvPr/>
        </p:nvSpPr>
        <p:spPr>
          <a:xfrm>
            <a:off x="793790" y="4100751"/>
            <a:ext cx="13042821"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En fine-tuning: datos de entrenamiento malos → modelo aprende basura</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En prompting/RAG: contexto incorrecto → respuesta incorrecta</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En evaluación: dataset de eval con errores → métricas sin significado</a:t>
            </a:r>
            <a:endParaRPr lang="en-US" sz="1750" dirty="0"/>
          </a:p>
        </p:txBody>
      </p:sp>
      <p:sp>
        <p:nvSpPr>
          <p:cNvPr id="6" name="Text 4"/>
          <p:cNvSpPr/>
          <p:nvPr/>
        </p:nvSpPr>
        <p:spPr>
          <a:xfrm>
            <a:off x="1133951" y="5858351"/>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La calidad de datos no es un detalle técnico → es la base de todo</a:t>
            </a:r>
            <a:endParaRPr lang="en-US" sz="1750" dirty="0"/>
          </a:p>
        </p:txBody>
      </p:sp>
      <p:sp>
        <p:nvSpPr>
          <p:cNvPr id="7" name="Shape 5"/>
          <p:cNvSpPr/>
          <p:nvPr/>
        </p:nvSpPr>
        <p:spPr>
          <a:xfrm>
            <a:off x="793790" y="5603200"/>
            <a:ext cx="30480" cy="873204"/>
          </a:xfrm>
          <a:prstGeom prst="rect">
            <a:avLst/>
          </a:prstGeom>
          <a:solidFill>
            <a:srgbClr val="DA1B2E"/>
          </a:solid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793790" y="834866"/>
            <a:ext cx="7349609" cy="637937"/>
          </a:xfrm>
          <a:prstGeom prst="rect">
            <a:avLst/>
          </a:prstGeom>
          <a:noFill/>
          <a:ln/>
        </p:spPr>
        <p:txBody>
          <a:bodyPr wrap="none" lIns="0" tIns="0" rIns="0" bIns="0" rtlCol="0" anchor="t"/>
          <a:lstStyle/>
          <a:p>
            <a:pPr algn="l" indent="0" marL="0">
              <a:lnSpc>
                <a:spcPts val="5000"/>
              </a:lnSpc>
              <a:buNone/>
            </a:pPr>
            <a:r>
              <a:rPr lang="en-US" sz="4000" dirty="0">
                <a:solidFill>
                  <a:srgbClr val="1F1E1E"/>
                </a:solidFill>
                <a:latin typeface="Roboto Mono Medium" pitchFamily="34" charset="0"/>
                <a:ea typeface="Roboto Mono Medium" pitchFamily="34" charset="-122"/>
                <a:cs typeface="Roboto Mono Medium" pitchFamily="34" charset="-120"/>
              </a:rPr>
              <a:t>Los 3 conjuntos de datos</a:t>
            </a:r>
            <a:endParaRPr lang="en-US" sz="4000" dirty="0"/>
          </a:p>
        </p:txBody>
      </p:sp>
      <p:sp>
        <p:nvSpPr>
          <p:cNvPr id="3" name="Shape 1"/>
          <p:cNvSpPr/>
          <p:nvPr/>
        </p:nvSpPr>
        <p:spPr>
          <a:xfrm>
            <a:off x="793790" y="1840230"/>
            <a:ext cx="13042821" cy="3439478"/>
          </a:xfrm>
          <a:prstGeom prst="roundRect">
            <a:avLst>
              <a:gd name="adj" fmla="val 266"/>
            </a:avLst>
          </a:prstGeom>
          <a:noFill/>
          <a:ln w="7620">
            <a:solidFill>
              <a:srgbClr val="000000">
                <a:alpha val="8000"/>
              </a:srgbClr>
            </a:solidFill>
            <a:prstDash val="solid"/>
          </a:ln>
        </p:spPr>
      </p:sp>
      <p:sp>
        <p:nvSpPr>
          <p:cNvPr id="4" name="Shape 2"/>
          <p:cNvSpPr/>
          <p:nvPr/>
        </p:nvSpPr>
        <p:spPr>
          <a:xfrm>
            <a:off x="801410" y="1847850"/>
            <a:ext cx="13027581" cy="545783"/>
          </a:xfrm>
          <a:prstGeom prst="rect">
            <a:avLst/>
          </a:prstGeom>
          <a:solidFill>
            <a:srgbClr val="FFFFFF">
              <a:alpha val="4000"/>
            </a:srgbClr>
          </a:solidFill>
          <a:ln/>
        </p:spPr>
      </p:sp>
      <p:sp>
        <p:nvSpPr>
          <p:cNvPr id="5" name="Text 3"/>
          <p:cNvSpPr/>
          <p:nvPr/>
        </p:nvSpPr>
        <p:spPr>
          <a:xfrm>
            <a:off x="1005721" y="1965603"/>
            <a:ext cx="2844879" cy="310277"/>
          </a:xfrm>
          <a:prstGeom prst="rect">
            <a:avLst/>
          </a:prstGeom>
          <a:noFill/>
          <a:ln/>
        </p:spPr>
        <p:txBody>
          <a:bodyPr wrap="none" lIns="0" tIns="0" rIns="0" bIns="0" rtlCol="0" anchor="t"/>
          <a:lstStyle/>
          <a:p>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Set</a:t>
            </a:r>
            <a:endParaRPr lang="en-US" sz="1600" dirty="0"/>
          </a:p>
        </p:txBody>
      </p:sp>
      <p:sp>
        <p:nvSpPr>
          <p:cNvPr id="6" name="Text 4"/>
          <p:cNvSpPr/>
          <p:nvPr/>
        </p:nvSpPr>
        <p:spPr>
          <a:xfrm>
            <a:off x="4266367" y="1965603"/>
            <a:ext cx="2841069" cy="310277"/>
          </a:xfrm>
          <a:prstGeom prst="rect">
            <a:avLst/>
          </a:prstGeom>
          <a:noFill/>
          <a:ln/>
        </p:spPr>
        <p:txBody>
          <a:bodyPr wrap="none" lIns="0" tIns="0" rIns="0" bIns="0" rtlCol="0" anchor="t"/>
          <a:lstStyle/>
          <a:p>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Para qué se usa</a:t>
            </a:r>
            <a:endParaRPr lang="en-US" sz="1600" dirty="0"/>
          </a:p>
        </p:txBody>
      </p:sp>
      <p:sp>
        <p:nvSpPr>
          <p:cNvPr id="7" name="Text 5"/>
          <p:cNvSpPr/>
          <p:nvPr/>
        </p:nvSpPr>
        <p:spPr>
          <a:xfrm>
            <a:off x="7523202" y="1965603"/>
            <a:ext cx="2841069" cy="310277"/>
          </a:xfrm>
          <a:prstGeom prst="rect">
            <a:avLst/>
          </a:prstGeom>
          <a:noFill/>
          <a:ln/>
        </p:spPr>
        <p:txBody>
          <a:bodyPr wrap="none" lIns="0" tIns="0" rIns="0" bIns="0" rtlCol="0" anchor="t"/>
          <a:lstStyle/>
          <a:p>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Cuándo</a:t>
            </a:r>
            <a:endParaRPr lang="en-US" sz="1600" dirty="0"/>
          </a:p>
        </p:txBody>
      </p:sp>
      <p:sp>
        <p:nvSpPr>
          <p:cNvPr id="8" name="Text 6"/>
          <p:cNvSpPr/>
          <p:nvPr/>
        </p:nvSpPr>
        <p:spPr>
          <a:xfrm>
            <a:off x="10780038" y="1965603"/>
            <a:ext cx="2844879" cy="310277"/>
          </a:xfrm>
          <a:prstGeom prst="rect">
            <a:avLst/>
          </a:prstGeom>
          <a:noFill/>
          <a:ln/>
        </p:spPr>
        <p:txBody>
          <a:bodyPr wrap="none" lIns="0" tIns="0" rIns="0" bIns="0" rtlCol="0" anchor="t"/>
          <a:lstStyle/>
          <a:p>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Regla clave</a:t>
            </a:r>
            <a:endParaRPr lang="en-US" sz="1600" dirty="0"/>
          </a:p>
        </p:txBody>
      </p:sp>
      <p:sp>
        <p:nvSpPr>
          <p:cNvPr id="9" name="Shape 7"/>
          <p:cNvSpPr/>
          <p:nvPr/>
        </p:nvSpPr>
        <p:spPr>
          <a:xfrm>
            <a:off x="801410" y="2393633"/>
            <a:ext cx="13027581" cy="856059"/>
          </a:xfrm>
          <a:prstGeom prst="rect">
            <a:avLst/>
          </a:prstGeom>
          <a:solidFill>
            <a:srgbClr val="000000">
              <a:alpha val="4000"/>
            </a:srgbClr>
          </a:solidFill>
          <a:ln/>
        </p:spPr>
      </p:sp>
      <p:sp>
        <p:nvSpPr>
          <p:cNvPr id="10" name="Text 8"/>
          <p:cNvSpPr/>
          <p:nvPr/>
        </p:nvSpPr>
        <p:spPr>
          <a:xfrm>
            <a:off x="1005721" y="2511385"/>
            <a:ext cx="2844879" cy="310277"/>
          </a:xfrm>
          <a:prstGeom prst="rect">
            <a:avLst/>
          </a:prstGeom>
          <a:noFill/>
          <a:ln/>
        </p:spPr>
        <p:txBody>
          <a:bodyPr wrap="none" lIns="0" tIns="0" rIns="0" bIns="0" rtlCol="0" anchor="t"/>
          <a:lstStyle/>
          <a:p>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Training</a:t>
            </a:r>
            <a:endParaRPr lang="en-US" sz="1600" dirty="0"/>
          </a:p>
        </p:txBody>
      </p:sp>
      <p:sp>
        <p:nvSpPr>
          <p:cNvPr id="11" name="Text 9"/>
          <p:cNvSpPr/>
          <p:nvPr/>
        </p:nvSpPr>
        <p:spPr>
          <a:xfrm>
            <a:off x="4266367" y="2511385"/>
            <a:ext cx="2841069" cy="620554"/>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Entrenar / fine-tunear el modelo</a:t>
            </a:r>
            <a:endParaRPr lang="en-US" sz="1600" dirty="0"/>
          </a:p>
        </p:txBody>
      </p:sp>
      <p:sp>
        <p:nvSpPr>
          <p:cNvPr id="12" name="Text 10"/>
          <p:cNvSpPr/>
          <p:nvPr/>
        </p:nvSpPr>
        <p:spPr>
          <a:xfrm>
            <a:off x="7523202" y="2511385"/>
            <a:ext cx="2841069"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Durante el entrenamiento</a:t>
            </a:r>
            <a:endParaRPr lang="en-US" sz="1600" dirty="0"/>
          </a:p>
        </p:txBody>
      </p:sp>
      <p:sp>
        <p:nvSpPr>
          <p:cNvPr id="13" name="Text 11"/>
          <p:cNvSpPr/>
          <p:nvPr/>
        </p:nvSpPr>
        <p:spPr>
          <a:xfrm>
            <a:off x="10780038" y="2511385"/>
            <a:ext cx="2844879" cy="620554"/>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El modelo aprende de estos datos</a:t>
            </a:r>
            <a:endParaRPr lang="en-US" sz="1600" dirty="0"/>
          </a:p>
        </p:txBody>
      </p:sp>
      <p:sp>
        <p:nvSpPr>
          <p:cNvPr id="14" name="Shape 12"/>
          <p:cNvSpPr/>
          <p:nvPr/>
        </p:nvSpPr>
        <p:spPr>
          <a:xfrm>
            <a:off x="801410" y="3249692"/>
            <a:ext cx="13027581" cy="856059"/>
          </a:xfrm>
          <a:prstGeom prst="rect">
            <a:avLst/>
          </a:prstGeom>
          <a:solidFill>
            <a:srgbClr val="FFFFFF">
              <a:alpha val="4000"/>
            </a:srgbClr>
          </a:solidFill>
          <a:ln/>
        </p:spPr>
      </p:sp>
      <p:sp>
        <p:nvSpPr>
          <p:cNvPr id="15" name="Text 13"/>
          <p:cNvSpPr/>
          <p:nvPr/>
        </p:nvSpPr>
        <p:spPr>
          <a:xfrm>
            <a:off x="1005721" y="3367445"/>
            <a:ext cx="2844879" cy="310277"/>
          </a:xfrm>
          <a:prstGeom prst="rect">
            <a:avLst/>
          </a:prstGeom>
          <a:noFill/>
          <a:ln/>
        </p:spPr>
        <p:txBody>
          <a:bodyPr wrap="none" lIns="0" tIns="0" rIns="0" bIns="0" rtlCol="0" anchor="t"/>
          <a:lstStyle/>
          <a:p>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Validation</a:t>
            </a:r>
            <a:endParaRPr lang="en-US" sz="1600" dirty="0"/>
          </a:p>
        </p:txBody>
      </p:sp>
      <p:sp>
        <p:nvSpPr>
          <p:cNvPr id="16" name="Text 14"/>
          <p:cNvSpPr/>
          <p:nvPr/>
        </p:nvSpPr>
        <p:spPr>
          <a:xfrm>
            <a:off x="4266367" y="3367445"/>
            <a:ext cx="2841069" cy="620554"/>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Monitorear el entrenamiento, ajustar hiperparámetros</a:t>
            </a:r>
            <a:endParaRPr lang="en-US" sz="1600" dirty="0"/>
          </a:p>
        </p:txBody>
      </p:sp>
      <p:sp>
        <p:nvSpPr>
          <p:cNvPr id="17" name="Text 15"/>
          <p:cNvSpPr/>
          <p:nvPr/>
        </p:nvSpPr>
        <p:spPr>
          <a:xfrm>
            <a:off x="7523202" y="3367445"/>
            <a:ext cx="2841069" cy="620554"/>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Durante el entrenamiento (no aprende de ellos)</a:t>
            </a:r>
            <a:endParaRPr lang="en-US" sz="1600" dirty="0"/>
          </a:p>
        </p:txBody>
      </p:sp>
      <p:sp>
        <p:nvSpPr>
          <p:cNvPr id="18" name="Text 16"/>
          <p:cNvSpPr/>
          <p:nvPr/>
        </p:nvSpPr>
        <p:spPr>
          <a:xfrm>
            <a:off x="10780038" y="3367445"/>
            <a:ext cx="2844879" cy="620554"/>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Si loss de training baja pero validation sube → overfitting</a:t>
            </a:r>
            <a:endParaRPr lang="en-US" sz="1600" dirty="0"/>
          </a:p>
        </p:txBody>
      </p:sp>
      <p:sp>
        <p:nvSpPr>
          <p:cNvPr id="19" name="Shape 17"/>
          <p:cNvSpPr/>
          <p:nvPr/>
        </p:nvSpPr>
        <p:spPr>
          <a:xfrm>
            <a:off x="801410" y="4105751"/>
            <a:ext cx="13027581" cy="1166336"/>
          </a:xfrm>
          <a:prstGeom prst="rect">
            <a:avLst/>
          </a:prstGeom>
          <a:solidFill>
            <a:srgbClr val="000000">
              <a:alpha val="4000"/>
            </a:srgbClr>
          </a:solidFill>
          <a:ln/>
        </p:spPr>
      </p:sp>
      <p:sp>
        <p:nvSpPr>
          <p:cNvPr id="20" name="Text 18"/>
          <p:cNvSpPr/>
          <p:nvPr/>
        </p:nvSpPr>
        <p:spPr>
          <a:xfrm>
            <a:off x="1005721" y="4223504"/>
            <a:ext cx="2844879" cy="310277"/>
          </a:xfrm>
          <a:prstGeom prst="rect">
            <a:avLst/>
          </a:prstGeom>
          <a:noFill/>
          <a:ln/>
        </p:spPr>
        <p:txBody>
          <a:bodyPr wrap="none" lIns="0" tIns="0" rIns="0" bIns="0" rtlCol="0" anchor="t"/>
          <a:lstStyle/>
          <a:p>
            <a:pPr algn="l" indent="0" marL="0">
              <a:lnSpc>
                <a:spcPts val="2400"/>
              </a:lnSpc>
              <a:buNone/>
            </a:pPr>
            <a:r>
              <a:rPr lang="en-US" sz="1600" b="1" dirty="0">
                <a:solidFill>
                  <a:srgbClr val="3B3535"/>
                </a:solidFill>
                <a:latin typeface="Roboto" pitchFamily="34" charset="0"/>
                <a:ea typeface="Roboto" pitchFamily="34" charset="-122"/>
                <a:cs typeface="Roboto" pitchFamily="34" charset="-120"/>
              </a:rPr>
              <a:t>Test</a:t>
            </a:r>
            <a:endParaRPr lang="en-US" sz="1600" dirty="0"/>
          </a:p>
        </p:txBody>
      </p:sp>
      <p:sp>
        <p:nvSpPr>
          <p:cNvPr id="21" name="Text 19"/>
          <p:cNvSpPr/>
          <p:nvPr/>
        </p:nvSpPr>
        <p:spPr>
          <a:xfrm>
            <a:off x="4266367" y="4223504"/>
            <a:ext cx="2841069" cy="620554"/>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Evaluar el rendimiento final del modelo</a:t>
            </a:r>
            <a:endParaRPr lang="en-US" sz="1600" dirty="0"/>
          </a:p>
        </p:txBody>
      </p:sp>
      <p:sp>
        <p:nvSpPr>
          <p:cNvPr id="22" name="Text 20"/>
          <p:cNvSpPr/>
          <p:nvPr/>
        </p:nvSpPr>
        <p:spPr>
          <a:xfrm>
            <a:off x="7523202" y="4223504"/>
            <a:ext cx="2841069" cy="310277"/>
          </a:xfrm>
          <a:prstGeom prst="rect">
            <a:avLst/>
          </a:prstGeom>
          <a:noFill/>
          <a:ln/>
        </p:spPr>
        <p:txBody>
          <a:bodyPr wrap="non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Solo al final, una única vez</a:t>
            </a:r>
            <a:endParaRPr lang="en-US" sz="1600" dirty="0"/>
          </a:p>
        </p:txBody>
      </p:sp>
      <p:sp>
        <p:nvSpPr>
          <p:cNvPr id="23" name="Text 21"/>
          <p:cNvSpPr/>
          <p:nvPr/>
        </p:nvSpPr>
        <p:spPr>
          <a:xfrm>
            <a:off x="10780038" y="4223504"/>
            <a:ext cx="2844879" cy="930831"/>
          </a:xfrm>
          <a:prstGeom prst="rect">
            <a:avLst/>
          </a:prstGeom>
          <a:noFill/>
          <a:ln/>
        </p:spPr>
        <p:txBody>
          <a:bodyPr wrap="square" lIns="0" tIns="0" rIns="0" bIns="0" rtlCol="0" anchor="t"/>
          <a:lstStyle/>
          <a:p>
            <a:pPr algn="l" indent="0" marL="0">
              <a:lnSpc>
                <a:spcPts val="2400"/>
              </a:lnSpc>
              <a:buNone/>
            </a:pPr>
            <a:r>
              <a:rPr lang="en-US" sz="1600" dirty="0">
                <a:solidFill>
                  <a:srgbClr val="3B3535"/>
                </a:solidFill>
                <a:latin typeface="Roboto" pitchFamily="34" charset="0"/>
                <a:ea typeface="Roboto" pitchFamily="34" charset="-122"/>
                <a:cs typeface="Roboto" pitchFamily="34" charset="-120"/>
              </a:rPr>
              <a:t>Nunca visto en entrenamiento. Si lo usás para ajustar, deja de ser test</a:t>
            </a:r>
            <a:endParaRPr lang="en-US" sz="1600" dirty="0"/>
          </a:p>
        </p:txBody>
      </p:sp>
      <p:sp>
        <p:nvSpPr>
          <p:cNvPr id="24" name="Shape 22"/>
          <p:cNvSpPr/>
          <p:nvPr/>
        </p:nvSpPr>
        <p:spPr>
          <a:xfrm>
            <a:off x="793790" y="5486400"/>
            <a:ext cx="13042821" cy="1908334"/>
          </a:xfrm>
          <a:prstGeom prst="roundRect">
            <a:avLst>
              <a:gd name="adj" fmla="val 479"/>
            </a:avLst>
          </a:prstGeom>
          <a:solidFill>
            <a:srgbClr val="F7BBC1"/>
          </a:solidFill>
          <a:ln/>
        </p:spPr>
      </p:sp>
      <p:pic>
        <p:nvPicPr>
          <p:cNvPr id="25" name="Image 0" descr="preencoded.png">    </p:cNvPr>
          <p:cNvPicPr>
            <a:picLocks noChangeAspect="1"/>
          </p:cNvPicPr>
          <p:nvPr/>
        </p:nvPicPr>
        <p:blipFill>
          <a:blip r:embed="rId1"/>
          <a:stretch>
            <a:fillRect/>
          </a:stretch>
        </p:blipFill>
        <p:spPr>
          <a:xfrm>
            <a:off x="997863" y="5783818"/>
            <a:ext cx="255151" cy="204073"/>
          </a:xfrm>
          <a:prstGeom prst="rect">
            <a:avLst/>
          </a:prstGeom>
        </p:spPr>
      </p:pic>
      <p:sp>
        <p:nvSpPr>
          <p:cNvPr id="26" name="Text 23"/>
          <p:cNvSpPr/>
          <p:nvPr/>
        </p:nvSpPr>
        <p:spPr>
          <a:xfrm>
            <a:off x="1457087" y="5721072"/>
            <a:ext cx="12175450" cy="620554"/>
          </a:xfrm>
          <a:prstGeom prst="rect">
            <a:avLst/>
          </a:prstGeom>
          <a:noFill/>
          <a:ln/>
        </p:spPr>
        <p:txBody>
          <a:bodyPr wrap="square" lIns="0" tIns="0" rIns="0" bIns="0" rtlCol="0" anchor="t"/>
          <a:lstStyle/>
          <a:p>
            <a:pPr algn="l" indent="0" marL="0">
              <a:lnSpc>
                <a:spcPts val="2400"/>
              </a:lnSpc>
              <a:buNone/>
            </a:pPr>
            <a:r>
              <a:rPr lang="en-US" sz="1600" b="1" dirty="0">
                <a:solidFill>
                  <a:srgbClr val="000000"/>
                </a:solidFill>
                <a:latin typeface="Roboto" pitchFamily="34" charset="0"/>
                <a:ea typeface="Roboto" pitchFamily="34" charset="-122"/>
                <a:cs typeface="Roboto" pitchFamily="34" charset="-120"/>
              </a:rPr>
              <a:t>Error común:</a:t>
            </a:r>
            <a:pPr algn="l" indent="0" marL="0">
              <a:lnSpc>
                <a:spcPts val="2400"/>
              </a:lnSpc>
              <a:buNone/>
            </a:pPr>
            <a:r>
              <a:rPr lang="en-US" sz="1600" dirty="0">
                <a:solidFill>
                  <a:srgbClr val="000000"/>
                </a:solidFill>
                <a:latin typeface="Roboto" pitchFamily="34" charset="0"/>
                <a:ea typeface="Roboto" pitchFamily="34" charset="-122"/>
                <a:cs typeface="Roboto" pitchFamily="34" charset="-120"/>
              </a:rPr>
              <a:t> Usar el mismo dataset para entrenar y evaluar. Si el modelo memoriza los ejemplos, va a dar métricas perfectas pero fallar con datos nuevos. El test set simula el mundo real.</a:t>
            </a:r>
            <a:endParaRPr lang="en-US" sz="1600" dirty="0"/>
          </a:p>
        </p:txBody>
      </p:sp>
      <p:sp>
        <p:nvSpPr>
          <p:cNvPr id="27" name="Text 24"/>
          <p:cNvSpPr/>
          <p:nvPr/>
        </p:nvSpPr>
        <p:spPr>
          <a:xfrm>
            <a:off x="1457087" y="6506885"/>
            <a:ext cx="12175450" cy="620554"/>
          </a:xfrm>
          <a:prstGeom prst="rect">
            <a:avLst/>
          </a:prstGeom>
          <a:noFill/>
          <a:ln/>
        </p:spPr>
        <p:txBody>
          <a:bodyPr wrap="square" lIns="0" tIns="0" rIns="0" bIns="0" rtlCol="0" anchor="t"/>
          <a:lstStyle/>
          <a:p>
            <a:pPr algn="l" indent="0" marL="0">
              <a:lnSpc>
                <a:spcPts val="2400"/>
              </a:lnSpc>
              <a:buNone/>
            </a:pPr>
            <a:r>
              <a:rPr lang="en-US" sz="1600" dirty="0">
                <a:solidFill>
                  <a:srgbClr val="000000"/>
                </a:solidFill>
                <a:latin typeface="Roboto" pitchFamily="34" charset="0"/>
                <a:ea typeface="Roboto" pitchFamily="34" charset="-122"/>
                <a:cs typeface="Roboto" pitchFamily="34" charset="-120"/>
              </a:rPr>
              <a:t>En LLMs esto es especialmente importante: con pocos datos de fine-tuning (cientos/miles de ejemplos), el riesgo de overfitting es alto.</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793790" y="1313736"/>
            <a:ext cx="12954714"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Ejemplo: datos malos en fine-tuning</a:t>
            </a:r>
            <a:endParaRPr lang="en-US" sz="4450" dirty="0"/>
          </a:p>
        </p:txBody>
      </p:sp>
      <p:sp>
        <p:nvSpPr>
          <p:cNvPr id="3" name="Text 1"/>
          <p:cNvSpPr/>
          <p:nvPr/>
        </p:nvSpPr>
        <p:spPr>
          <a:xfrm>
            <a:off x="793790" y="249900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Si entrenás un LLM con textos que tienen:</a:t>
            </a:r>
            <a:endParaRPr lang="en-US" sz="1750" dirty="0"/>
          </a:p>
        </p:txBody>
      </p:sp>
      <p:sp>
        <p:nvSpPr>
          <p:cNvPr id="4" name="Text 2"/>
          <p:cNvSpPr/>
          <p:nvPr/>
        </p:nvSpPr>
        <p:spPr>
          <a:xfrm>
            <a:off x="793790" y="3117056"/>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Errores clínicos: "metformina para asma" → el modelo lo aprende como válido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Inconsistencias: mismo paciente con dos diagnósticos sin explicación</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Texto mal estructurado: notas ilegibles, abreviaturas ambiguas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Información desactualizada: guías clínicas de hace 20 años</a:t>
            </a:r>
            <a:endParaRPr lang="en-US" sz="1750" dirty="0"/>
          </a:p>
        </p:txBody>
      </p:sp>
      <p:sp>
        <p:nvSpPr>
          <p:cNvPr id="5" name="Text 3"/>
          <p:cNvSpPr/>
          <p:nvPr/>
        </p:nvSpPr>
        <p:spPr>
          <a:xfrm>
            <a:off x="1133951" y="5316855"/>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El modelo no distingue error de dato correcto. Todo es un patrón a replicar.</a:t>
            </a:r>
            <a:endParaRPr lang="en-US" sz="1750" dirty="0"/>
          </a:p>
        </p:txBody>
      </p:sp>
      <p:sp>
        <p:nvSpPr>
          <p:cNvPr id="6" name="Shape 4"/>
          <p:cNvSpPr/>
          <p:nvPr/>
        </p:nvSpPr>
        <p:spPr>
          <a:xfrm>
            <a:off x="793790" y="5061704"/>
            <a:ext cx="30480" cy="873204"/>
          </a:xfrm>
          <a:prstGeom prst="rect">
            <a:avLst/>
          </a:prstGeom>
          <a:solidFill>
            <a:srgbClr val="DA1B2E"/>
          </a:solidFill>
          <a:ln/>
        </p:spPr>
      </p:sp>
      <p:sp>
        <p:nvSpPr>
          <p:cNvPr id="7" name="Text 5"/>
          <p:cNvSpPr/>
          <p:nvPr/>
        </p:nvSpPr>
        <p:spPr>
          <a:xfrm>
            <a:off x="793790" y="619005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Ejemplo real: modelo fine-tuneado con notas que usaban "PCR" para proteína C reactiva y reacción en cadena de la polimerasa indistintamente → confusión sistemática.</a:t>
            </a:r>
            <a:endParaRPr lang="en-US" sz="17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793790" y="1254562"/>
            <a:ext cx="11933992"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Riesgos de datos de baja calidad</a:t>
            </a:r>
            <a:endParaRPr lang="en-US" sz="4450" dirty="0"/>
          </a:p>
        </p:txBody>
      </p:sp>
      <p:sp>
        <p:nvSpPr>
          <p:cNvPr id="3" name="Shape 1"/>
          <p:cNvSpPr/>
          <p:nvPr/>
        </p:nvSpPr>
        <p:spPr>
          <a:xfrm>
            <a:off x="793790" y="2439829"/>
            <a:ext cx="13042821" cy="3917156"/>
          </a:xfrm>
          <a:prstGeom prst="roundRect">
            <a:avLst>
              <a:gd name="adj" fmla="val 233"/>
            </a:avLst>
          </a:prstGeom>
          <a:noFill/>
          <a:ln w="7620">
            <a:solidFill>
              <a:srgbClr val="000000">
                <a:alpha val="8000"/>
              </a:srgbClr>
            </a:solidFill>
            <a:prstDash val="solid"/>
          </a:ln>
        </p:spPr>
      </p:sp>
      <p:sp>
        <p:nvSpPr>
          <p:cNvPr id="4" name="Shape 2"/>
          <p:cNvSpPr/>
          <p:nvPr/>
        </p:nvSpPr>
        <p:spPr>
          <a:xfrm>
            <a:off x="801410" y="2447449"/>
            <a:ext cx="13027581" cy="650319"/>
          </a:xfrm>
          <a:prstGeom prst="rect">
            <a:avLst/>
          </a:prstGeom>
          <a:solidFill>
            <a:srgbClr val="FFFFFF">
              <a:alpha val="4000"/>
            </a:srgbClr>
          </a:solidFill>
          <a:ln/>
        </p:spPr>
      </p:sp>
      <p:sp>
        <p:nvSpPr>
          <p:cNvPr id="5" name="Text 3"/>
          <p:cNvSpPr/>
          <p:nvPr/>
        </p:nvSpPr>
        <p:spPr>
          <a:xfrm>
            <a:off x="1028343" y="2591157"/>
            <a:ext cx="214800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Riesgo</a:t>
            </a:r>
            <a:endParaRPr lang="en-US" sz="1750" dirty="0"/>
          </a:p>
        </p:txBody>
      </p:sp>
      <p:sp>
        <p:nvSpPr>
          <p:cNvPr id="6" name="Text 4"/>
          <p:cNvSpPr/>
          <p:nvPr/>
        </p:nvSpPr>
        <p:spPr>
          <a:xfrm>
            <a:off x="3637598" y="2591157"/>
            <a:ext cx="4749760"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Descripción</a:t>
            </a:r>
            <a:endParaRPr lang="en-US" sz="1750" dirty="0"/>
          </a:p>
        </p:txBody>
      </p:sp>
      <p:sp>
        <p:nvSpPr>
          <p:cNvPr id="7" name="Text 5"/>
          <p:cNvSpPr/>
          <p:nvPr/>
        </p:nvSpPr>
        <p:spPr>
          <a:xfrm>
            <a:off x="8848606" y="2591157"/>
            <a:ext cx="4753570"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Ejemplo</a:t>
            </a:r>
            <a:endParaRPr lang="en-US" sz="1750" dirty="0"/>
          </a:p>
        </p:txBody>
      </p:sp>
      <p:sp>
        <p:nvSpPr>
          <p:cNvPr id="8" name="Shape 6"/>
          <p:cNvSpPr/>
          <p:nvPr/>
        </p:nvSpPr>
        <p:spPr>
          <a:xfrm>
            <a:off x="801410" y="3097768"/>
            <a:ext cx="13027581" cy="650319"/>
          </a:xfrm>
          <a:prstGeom prst="rect">
            <a:avLst/>
          </a:prstGeom>
          <a:solidFill>
            <a:srgbClr val="000000">
              <a:alpha val="4000"/>
            </a:srgbClr>
          </a:solidFill>
          <a:ln/>
        </p:spPr>
      </p:sp>
      <p:sp>
        <p:nvSpPr>
          <p:cNvPr id="9" name="Text 7"/>
          <p:cNvSpPr/>
          <p:nvPr/>
        </p:nvSpPr>
        <p:spPr>
          <a:xfrm>
            <a:off x="1028343" y="3241477"/>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Alucinaciones</a:t>
            </a:r>
            <a:endParaRPr lang="en-US" sz="1750" dirty="0"/>
          </a:p>
        </p:txBody>
      </p:sp>
      <p:sp>
        <p:nvSpPr>
          <p:cNvPr id="10" name="Text 8"/>
          <p:cNvSpPr/>
          <p:nvPr/>
        </p:nvSpPr>
        <p:spPr>
          <a:xfrm>
            <a:off x="3637598" y="3241477"/>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Inventa información con apariencia de verdad</a:t>
            </a:r>
            <a:endParaRPr lang="en-US" sz="1750" dirty="0"/>
          </a:p>
        </p:txBody>
      </p:sp>
      <p:sp>
        <p:nvSpPr>
          <p:cNvPr id="11" name="Text 9"/>
          <p:cNvSpPr/>
          <p:nvPr/>
        </p:nvSpPr>
        <p:spPr>
          <a:xfrm>
            <a:off x="8848606" y="3241477"/>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Cita un paper que no existe</a:t>
            </a:r>
            <a:endParaRPr lang="en-US" sz="1750" dirty="0"/>
          </a:p>
        </p:txBody>
      </p:sp>
      <p:sp>
        <p:nvSpPr>
          <p:cNvPr id="12" name="Shape 10"/>
          <p:cNvSpPr/>
          <p:nvPr/>
        </p:nvSpPr>
        <p:spPr>
          <a:xfrm>
            <a:off x="801410" y="3748088"/>
            <a:ext cx="13027581" cy="650319"/>
          </a:xfrm>
          <a:prstGeom prst="rect">
            <a:avLst/>
          </a:prstGeom>
          <a:solidFill>
            <a:srgbClr val="FFFFFF">
              <a:alpha val="4000"/>
            </a:srgbClr>
          </a:solidFill>
          <a:ln/>
        </p:spPr>
      </p:sp>
      <p:sp>
        <p:nvSpPr>
          <p:cNvPr id="13" name="Text 11"/>
          <p:cNvSpPr/>
          <p:nvPr/>
        </p:nvSpPr>
        <p:spPr>
          <a:xfrm>
            <a:off x="1028343" y="3891796"/>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Info incorrecta</a:t>
            </a:r>
            <a:endParaRPr lang="en-US" sz="1750" dirty="0"/>
          </a:p>
        </p:txBody>
      </p:sp>
      <p:sp>
        <p:nvSpPr>
          <p:cNvPr id="14" name="Text 12"/>
          <p:cNvSpPr/>
          <p:nvPr/>
        </p:nvSpPr>
        <p:spPr>
          <a:xfrm>
            <a:off x="3637598" y="3891796"/>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Genera datos médicos erróneos</a:t>
            </a:r>
            <a:endParaRPr lang="en-US" sz="1750" dirty="0"/>
          </a:p>
        </p:txBody>
      </p:sp>
      <p:sp>
        <p:nvSpPr>
          <p:cNvPr id="15" name="Text 13"/>
          <p:cNvSpPr/>
          <p:nvPr/>
        </p:nvSpPr>
        <p:spPr>
          <a:xfrm>
            <a:off x="8848606" y="3891796"/>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Dosis equivocada</a:t>
            </a:r>
            <a:endParaRPr lang="en-US" sz="1750" dirty="0"/>
          </a:p>
        </p:txBody>
      </p:sp>
      <p:sp>
        <p:nvSpPr>
          <p:cNvPr id="16" name="Shape 14"/>
          <p:cNvSpPr/>
          <p:nvPr/>
        </p:nvSpPr>
        <p:spPr>
          <a:xfrm>
            <a:off x="801410" y="4398407"/>
            <a:ext cx="13027581" cy="650319"/>
          </a:xfrm>
          <a:prstGeom prst="rect">
            <a:avLst/>
          </a:prstGeom>
          <a:solidFill>
            <a:srgbClr val="000000">
              <a:alpha val="4000"/>
            </a:srgbClr>
          </a:solidFill>
          <a:ln/>
        </p:spPr>
      </p:sp>
      <p:sp>
        <p:nvSpPr>
          <p:cNvPr id="17" name="Text 15"/>
          <p:cNvSpPr/>
          <p:nvPr/>
        </p:nvSpPr>
        <p:spPr>
          <a:xfrm>
            <a:off x="1028343" y="4542115"/>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Falsa confianza</a:t>
            </a:r>
            <a:endParaRPr lang="en-US" sz="1750" dirty="0"/>
          </a:p>
        </p:txBody>
      </p:sp>
      <p:sp>
        <p:nvSpPr>
          <p:cNvPr id="18" name="Text 16"/>
          <p:cNvSpPr/>
          <p:nvPr/>
        </p:nvSpPr>
        <p:spPr>
          <a:xfrm>
            <a:off x="3637598" y="4542115"/>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Responde con seguridad aunque esté mal</a:t>
            </a:r>
            <a:endParaRPr lang="en-US" sz="1750" dirty="0"/>
          </a:p>
        </p:txBody>
      </p:sp>
      <p:sp>
        <p:nvSpPr>
          <p:cNvPr id="19" name="Text 17"/>
          <p:cNvSpPr/>
          <p:nvPr/>
        </p:nvSpPr>
        <p:spPr>
          <a:xfrm>
            <a:off x="8848606" y="4542115"/>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"La dosis correcta es 500mg" (es 50mg)</a:t>
            </a:r>
            <a:endParaRPr lang="en-US" sz="1750" dirty="0"/>
          </a:p>
        </p:txBody>
      </p:sp>
      <p:sp>
        <p:nvSpPr>
          <p:cNvPr id="20" name="Shape 18"/>
          <p:cNvSpPr/>
          <p:nvPr/>
        </p:nvSpPr>
        <p:spPr>
          <a:xfrm>
            <a:off x="801410" y="5048726"/>
            <a:ext cx="13027581" cy="650319"/>
          </a:xfrm>
          <a:prstGeom prst="rect">
            <a:avLst/>
          </a:prstGeom>
          <a:solidFill>
            <a:srgbClr val="FFFFFF">
              <a:alpha val="4000"/>
            </a:srgbClr>
          </a:solidFill>
          <a:ln/>
        </p:spPr>
      </p:sp>
      <p:sp>
        <p:nvSpPr>
          <p:cNvPr id="21" name="Text 19"/>
          <p:cNvSpPr/>
          <p:nvPr/>
        </p:nvSpPr>
        <p:spPr>
          <a:xfrm>
            <a:off x="1028343" y="5192435"/>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Sesgo aprendido</a:t>
            </a:r>
            <a:endParaRPr lang="en-US" sz="1750" dirty="0"/>
          </a:p>
        </p:txBody>
      </p:sp>
      <p:sp>
        <p:nvSpPr>
          <p:cNvPr id="22" name="Text 20"/>
          <p:cNvSpPr/>
          <p:nvPr/>
        </p:nvSpPr>
        <p:spPr>
          <a:xfrm>
            <a:off x="3637598" y="5192435"/>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Reproduce sesgos de los datos</a:t>
            </a:r>
            <a:endParaRPr lang="en-US" sz="1750" dirty="0"/>
          </a:p>
        </p:txBody>
      </p:sp>
      <p:sp>
        <p:nvSpPr>
          <p:cNvPr id="23" name="Text 21"/>
          <p:cNvSpPr/>
          <p:nvPr/>
        </p:nvSpPr>
        <p:spPr>
          <a:xfrm>
            <a:off x="8848606" y="5192435"/>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Sub-diagnostica en mujeres</a:t>
            </a:r>
            <a:endParaRPr lang="en-US" sz="1750" dirty="0"/>
          </a:p>
        </p:txBody>
      </p:sp>
      <p:sp>
        <p:nvSpPr>
          <p:cNvPr id="24" name="Shape 22"/>
          <p:cNvSpPr/>
          <p:nvPr/>
        </p:nvSpPr>
        <p:spPr>
          <a:xfrm>
            <a:off x="801410" y="5699046"/>
            <a:ext cx="13027581" cy="650319"/>
          </a:xfrm>
          <a:prstGeom prst="rect">
            <a:avLst/>
          </a:prstGeom>
          <a:solidFill>
            <a:srgbClr val="000000">
              <a:alpha val="4000"/>
            </a:srgbClr>
          </a:solidFill>
          <a:ln/>
        </p:spPr>
      </p:sp>
      <p:sp>
        <p:nvSpPr>
          <p:cNvPr id="25" name="Text 23"/>
          <p:cNvSpPr/>
          <p:nvPr/>
        </p:nvSpPr>
        <p:spPr>
          <a:xfrm>
            <a:off x="1028343" y="5842754"/>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Inconsistencia</a:t>
            </a:r>
            <a:endParaRPr lang="en-US" sz="1750" dirty="0"/>
          </a:p>
        </p:txBody>
      </p:sp>
      <p:sp>
        <p:nvSpPr>
          <p:cNvPr id="26" name="Text 24"/>
          <p:cNvSpPr/>
          <p:nvPr/>
        </p:nvSpPr>
        <p:spPr>
          <a:xfrm>
            <a:off x="3637598" y="5842754"/>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Respuestas contradictorias</a:t>
            </a:r>
            <a:endParaRPr lang="en-US" sz="1750" dirty="0"/>
          </a:p>
        </p:txBody>
      </p:sp>
      <p:sp>
        <p:nvSpPr>
          <p:cNvPr id="27" name="Text 25"/>
          <p:cNvSpPr/>
          <p:nvPr/>
        </p:nvSpPr>
        <p:spPr>
          <a:xfrm>
            <a:off x="8848606" y="5842754"/>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Recomienda y contraindica el mismo fármaco</a:t>
            </a:r>
            <a:endParaRPr lang="en-US" sz="1750" dirty="0"/>
          </a:p>
        </p:txBody>
      </p:sp>
      <p:sp>
        <p:nvSpPr>
          <p:cNvPr id="28" name="Text 26"/>
          <p:cNvSpPr/>
          <p:nvPr/>
        </p:nvSpPr>
        <p:spPr>
          <a:xfrm>
            <a:off x="793790" y="661213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En medicina, estos riesgos no son teóricos → son peligros reales para pacientes.</a:t>
            </a:r>
            <a:endParaRPr lang="en-US" sz="1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793790" y="1014055"/>
            <a:ext cx="12953643" cy="696278"/>
          </a:xfrm>
          <a:prstGeom prst="rect">
            <a:avLst/>
          </a:prstGeom>
          <a:noFill/>
          <a:ln/>
        </p:spPr>
        <p:txBody>
          <a:bodyPr wrap="none" lIns="0" tIns="0" rIns="0" bIns="0" rtlCol="0" anchor="t"/>
          <a:lstStyle/>
          <a:p>
            <a:pPr algn="l" indent="0" marL="0">
              <a:lnSpc>
                <a:spcPts val="5300"/>
              </a:lnSpc>
              <a:buNone/>
            </a:pPr>
            <a:r>
              <a:rPr lang="en-US" sz="4200" dirty="0">
                <a:solidFill>
                  <a:srgbClr val="000000"/>
                </a:solidFill>
                <a:latin typeface="Roboto Mono Medium" pitchFamily="34" charset="0"/>
                <a:ea typeface="Roboto Mono Medium" pitchFamily="34" charset="-122"/>
                <a:cs typeface="Roboto Mono Medium" pitchFamily="34" charset="-120"/>
              </a:rPr>
              <a:t>📊</a:t>
            </a:r>
            <a:pPr algn="l" indent="0" marL="0">
              <a:lnSpc>
                <a:spcPts val="5300"/>
              </a:lnSpc>
              <a:buNone/>
            </a:pPr>
            <a:r>
              <a:rPr lang="en-US" sz="4200" dirty="0">
                <a:solidFill>
                  <a:srgbClr val="1F1E1E"/>
                </a:solidFill>
                <a:latin typeface="Roboto Mono Medium" pitchFamily="34" charset="0"/>
                <a:ea typeface="Roboto Mono Medium" pitchFamily="34" charset="-122"/>
                <a:cs typeface="Roboto Mono Medium" pitchFamily="34" charset="-120"/>
              </a:rPr>
              <a:t> Problemas comunes en datasets médicos</a:t>
            </a:r>
            <a:endParaRPr lang="en-US" sz="4200" dirty="0"/>
          </a:p>
        </p:txBody>
      </p:sp>
      <p:sp>
        <p:nvSpPr>
          <p:cNvPr id="3" name="Shape 1"/>
          <p:cNvSpPr/>
          <p:nvPr/>
        </p:nvSpPr>
        <p:spPr>
          <a:xfrm>
            <a:off x="793790" y="2119670"/>
            <a:ext cx="13042821" cy="4193262"/>
          </a:xfrm>
          <a:prstGeom prst="roundRect">
            <a:avLst>
              <a:gd name="adj" fmla="val 218"/>
            </a:avLst>
          </a:prstGeom>
          <a:noFill/>
          <a:ln w="7620">
            <a:solidFill>
              <a:srgbClr val="000000">
                <a:alpha val="8000"/>
              </a:srgbClr>
            </a:solidFill>
            <a:prstDash val="solid"/>
          </a:ln>
        </p:spPr>
      </p:sp>
      <p:sp>
        <p:nvSpPr>
          <p:cNvPr id="4" name="Shape 2"/>
          <p:cNvSpPr/>
          <p:nvPr/>
        </p:nvSpPr>
        <p:spPr>
          <a:xfrm>
            <a:off x="801410" y="2127290"/>
            <a:ext cx="13027581" cy="596860"/>
          </a:xfrm>
          <a:prstGeom prst="rect">
            <a:avLst/>
          </a:prstGeom>
          <a:solidFill>
            <a:srgbClr val="FFFFFF">
              <a:alpha val="4000"/>
            </a:srgbClr>
          </a:solidFill>
          <a:ln/>
        </p:spPr>
      </p:sp>
      <p:sp>
        <p:nvSpPr>
          <p:cNvPr id="5" name="Text 3"/>
          <p:cNvSpPr/>
          <p:nvPr/>
        </p:nvSpPr>
        <p:spPr>
          <a:xfrm>
            <a:off x="1016913" y="2257663"/>
            <a:ext cx="3473648" cy="336113"/>
          </a:xfrm>
          <a:prstGeom prst="rect">
            <a:avLst/>
          </a:prstGeom>
          <a:noFill/>
          <a:ln/>
        </p:spPr>
        <p:txBody>
          <a:bodyPr wrap="none" lIns="0" tIns="0" rIns="0" bIns="0" rtlCol="0" anchor="t"/>
          <a:lstStyle/>
          <a:p>
            <a:pPr algn="l" indent="0" marL="0">
              <a:lnSpc>
                <a:spcPts val="2600"/>
              </a:lnSpc>
              <a:buNone/>
            </a:pPr>
            <a:r>
              <a:rPr lang="en-US" sz="1650" b="1" dirty="0">
                <a:solidFill>
                  <a:srgbClr val="3B3535"/>
                </a:solidFill>
                <a:latin typeface="Roboto" pitchFamily="34" charset="0"/>
                <a:ea typeface="Roboto" pitchFamily="34" charset="-122"/>
                <a:cs typeface="Roboto" pitchFamily="34" charset="-120"/>
              </a:rPr>
              <a:t>Problema</a:t>
            </a:r>
            <a:endParaRPr lang="en-US" sz="1650" dirty="0"/>
          </a:p>
        </p:txBody>
      </p:sp>
      <p:sp>
        <p:nvSpPr>
          <p:cNvPr id="6" name="Text 4"/>
          <p:cNvSpPr/>
          <p:nvPr/>
        </p:nvSpPr>
        <p:spPr>
          <a:xfrm>
            <a:off x="4928949" y="2257663"/>
            <a:ext cx="8684657" cy="336113"/>
          </a:xfrm>
          <a:prstGeom prst="rect">
            <a:avLst/>
          </a:prstGeom>
          <a:noFill/>
          <a:ln/>
        </p:spPr>
        <p:txBody>
          <a:bodyPr wrap="none" lIns="0" tIns="0" rIns="0" bIns="0" rtlCol="0" anchor="t"/>
          <a:lstStyle/>
          <a:p>
            <a:pPr algn="l" indent="0" marL="0">
              <a:lnSpc>
                <a:spcPts val="2600"/>
              </a:lnSpc>
              <a:buNone/>
            </a:pPr>
            <a:r>
              <a:rPr lang="en-US" sz="1650" b="1" dirty="0">
                <a:solidFill>
                  <a:srgbClr val="3B3535"/>
                </a:solidFill>
                <a:latin typeface="Roboto" pitchFamily="34" charset="0"/>
                <a:ea typeface="Roboto" pitchFamily="34" charset="-122"/>
                <a:cs typeface="Roboto" pitchFamily="34" charset="-120"/>
              </a:rPr>
              <a:t>Descripción</a:t>
            </a:r>
            <a:endParaRPr lang="en-US" sz="1650" dirty="0"/>
          </a:p>
        </p:txBody>
      </p:sp>
      <p:sp>
        <p:nvSpPr>
          <p:cNvPr id="7" name="Shape 5"/>
          <p:cNvSpPr/>
          <p:nvPr/>
        </p:nvSpPr>
        <p:spPr>
          <a:xfrm>
            <a:off x="801410" y="2724150"/>
            <a:ext cx="13027581" cy="596860"/>
          </a:xfrm>
          <a:prstGeom prst="rect">
            <a:avLst/>
          </a:prstGeom>
          <a:solidFill>
            <a:srgbClr val="000000">
              <a:alpha val="4000"/>
            </a:srgbClr>
          </a:solidFill>
          <a:ln/>
        </p:spPr>
      </p:sp>
      <p:sp>
        <p:nvSpPr>
          <p:cNvPr id="8" name="Text 6"/>
          <p:cNvSpPr/>
          <p:nvPr/>
        </p:nvSpPr>
        <p:spPr>
          <a:xfrm>
            <a:off x="1016913" y="2854523"/>
            <a:ext cx="3473648"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Datasets chicos</a:t>
            </a:r>
            <a:endParaRPr lang="en-US" sz="1650" dirty="0"/>
          </a:p>
        </p:txBody>
      </p:sp>
      <p:sp>
        <p:nvSpPr>
          <p:cNvPr id="9" name="Text 7"/>
          <p:cNvSpPr/>
          <p:nvPr/>
        </p:nvSpPr>
        <p:spPr>
          <a:xfrm>
            <a:off x="4928949" y="2854523"/>
            <a:ext cx="8684657"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&lt;100 ejemplos no alcanza para fine-tuning robusto</a:t>
            </a:r>
            <a:endParaRPr lang="en-US" sz="1650" dirty="0"/>
          </a:p>
        </p:txBody>
      </p:sp>
      <p:sp>
        <p:nvSpPr>
          <p:cNvPr id="10" name="Shape 8"/>
          <p:cNvSpPr/>
          <p:nvPr/>
        </p:nvSpPr>
        <p:spPr>
          <a:xfrm>
            <a:off x="801410" y="3321010"/>
            <a:ext cx="13027581" cy="596860"/>
          </a:xfrm>
          <a:prstGeom prst="rect">
            <a:avLst/>
          </a:prstGeom>
          <a:solidFill>
            <a:srgbClr val="FFFFFF">
              <a:alpha val="4000"/>
            </a:srgbClr>
          </a:solidFill>
          <a:ln/>
        </p:spPr>
      </p:sp>
      <p:sp>
        <p:nvSpPr>
          <p:cNvPr id="11" name="Text 9"/>
          <p:cNvSpPr/>
          <p:nvPr/>
        </p:nvSpPr>
        <p:spPr>
          <a:xfrm>
            <a:off x="1016913" y="3451384"/>
            <a:ext cx="3473648"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Mala anotación</a:t>
            </a:r>
            <a:endParaRPr lang="en-US" sz="1650" dirty="0"/>
          </a:p>
        </p:txBody>
      </p:sp>
      <p:sp>
        <p:nvSpPr>
          <p:cNvPr id="12" name="Text 10"/>
          <p:cNvSpPr/>
          <p:nvPr/>
        </p:nvSpPr>
        <p:spPr>
          <a:xfrm>
            <a:off x="4928949" y="3451384"/>
            <a:ext cx="8684657"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Etiquetas incorrectas o hechas por no-expertos</a:t>
            </a:r>
            <a:endParaRPr lang="en-US" sz="1650" dirty="0"/>
          </a:p>
        </p:txBody>
      </p:sp>
      <p:sp>
        <p:nvSpPr>
          <p:cNvPr id="13" name="Shape 11"/>
          <p:cNvSpPr/>
          <p:nvPr/>
        </p:nvSpPr>
        <p:spPr>
          <a:xfrm>
            <a:off x="801410" y="3917871"/>
            <a:ext cx="13027581" cy="596860"/>
          </a:xfrm>
          <a:prstGeom prst="rect">
            <a:avLst/>
          </a:prstGeom>
          <a:solidFill>
            <a:srgbClr val="000000">
              <a:alpha val="4000"/>
            </a:srgbClr>
          </a:solidFill>
          <a:ln/>
        </p:spPr>
      </p:sp>
      <p:sp>
        <p:nvSpPr>
          <p:cNvPr id="14" name="Text 12"/>
          <p:cNvSpPr/>
          <p:nvPr/>
        </p:nvSpPr>
        <p:spPr>
          <a:xfrm>
            <a:off x="1016913" y="4048244"/>
            <a:ext cx="3473648"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Sesgos demográficos</a:t>
            </a:r>
            <a:endParaRPr lang="en-US" sz="1650" dirty="0"/>
          </a:p>
        </p:txBody>
      </p:sp>
      <p:sp>
        <p:nvSpPr>
          <p:cNvPr id="15" name="Text 13"/>
          <p:cNvSpPr/>
          <p:nvPr/>
        </p:nvSpPr>
        <p:spPr>
          <a:xfrm>
            <a:off x="4928949" y="4048244"/>
            <a:ext cx="8684657"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Sobrerrepresentación de ciertos grupos</a:t>
            </a:r>
            <a:endParaRPr lang="en-US" sz="1650" dirty="0"/>
          </a:p>
        </p:txBody>
      </p:sp>
      <p:sp>
        <p:nvSpPr>
          <p:cNvPr id="16" name="Shape 14"/>
          <p:cNvSpPr/>
          <p:nvPr/>
        </p:nvSpPr>
        <p:spPr>
          <a:xfrm>
            <a:off x="801410" y="4514731"/>
            <a:ext cx="13027581" cy="596860"/>
          </a:xfrm>
          <a:prstGeom prst="rect">
            <a:avLst/>
          </a:prstGeom>
          <a:solidFill>
            <a:srgbClr val="FFFFFF">
              <a:alpha val="4000"/>
            </a:srgbClr>
          </a:solidFill>
          <a:ln/>
        </p:spPr>
      </p:sp>
      <p:sp>
        <p:nvSpPr>
          <p:cNvPr id="17" name="Text 15"/>
          <p:cNvSpPr/>
          <p:nvPr/>
        </p:nvSpPr>
        <p:spPr>
          <a:xfrm>
            <a:off x="1016913" y="4645104"/>
            <a:ext cx="3473648"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Falta de validación</a:t>
            </a:r>
            <a:endParaRPr lang="en-US" sz="1650" dirty="0"/>
          </a:p>
        </p:txBody>
      </p:sp>
      <p:sp>
        <p:nvSpPr>
          <p:cNvPr id="18" name="Text 16"/>
          <p:cNvSpPr/>
          <p:nvPr/>
        </p:nvSpPr>
        <p:spPr>
          <a:xfrm>
            <a:off x="4928949" y="4645104"/>
            <a:ext cx="8684657"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Nadie verificó que los datos sean correctos</a:t>
            </a:r>
            <a:endParaRPr lang="en-US" sz="1650" dirty="0"/>
          </a:p>
        </p:txBody>
      </p:sp>
      <p:sp>
        <p:nvSpPr>
          <p:cNvPr id="19" name="Shape 17"/>
          <p:cNvSpPr/>
          <p:nvPr/>
        </p:nvSpPr>
        <p:spPr>
          <a:xfrm>
            <a:off x="801410" y="5111591"/>
            <a:ext cx="13027581" cy="596860"/>
          </a:xfrm>
          <a:prstGeom prst="rect">
            <a:avLst/>
          </a:prstGeom>
          <a:solidFill>
            <a:srgbClr val="000000">
              <a:alpha val="4000"/>
            </a:srgbClr>
          </a:solidFill>
          <a:ln/>
        </p:spPr>
      </p:sp>
      <p:sp>
        <p:nvSpPr>
          <p:cNvPr id="20" name="Text 18"/>
          <p:cNvSpPr/>
          <p:nvPr/>
        </p:nvSpPr>
        <p:spPr>
          <a:xfrm>
            <a:off x="1016913" y="5241965"/>
            <a:ext cx="3473648"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Datos desbalanceados</a:t>
            </a:r>
            <a:endParaRPr lang="en-US" sz="1650" dirty="0"/>
          </a:p>
        </p:txBody>
      </p:sp>
      <p:sp>
        <p:nvSpPr>
          <p:cNvPr id="21" name="Text 19"/>
          <p:cNvSpPr/>
          <p:nvPr/>
        </p:nvSpPr>
        <p:spPr>
          <a:xfrm>
            <a:off x="4928949" y="5241965"/>
            <a:ext cx="8684657"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95% de una clase, 5% de otra</a:t>
            </a:r>
            <a:endParaRPr lang="en-US" sz="1650" dirty="0"/>
          </a:p>
        </p:txBody>
      </p:sp>
      <p:sp>
        <p:nvSpPr>
          <p:cNvPr id="22" name="Shape 20"/>
          <p:cNvSpPr/>
          <p:nvPr/>
        </p:nvSpPr>
        <p:spPr>
          <a:xfrm>
            <a:off x="801410" y="5708452"/>
            <a:ext cx="13027581" cy="596860"/>
          </a:xfrm>
          <a:prstGeom prst="rect">
            <a:avLst/>
          </a:prstGeom>
          <a:solidFill>
            <a:srgbClr val="FFFFFF">
              <a:alpha val="4000"/>
            </a:srgbClr>
          </a:solidFill>
          <a:ln/>
        </p:spPr>
      </p:sp>
      <p:sp>
        <p:nvSpPr>
          <p:cNvPr id="23" name="Text 21"/>
          <p:cNvSpPr/>
          <p:nvPr/>
        </p:nvSpPr>
        <p:spPr>
          <a:xfrm>
            <a:off x="1016913" y="5838825"/>
            <a:ext cx="3473648"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Info sensible</a:t>
            </a:r>
            <a:endParaRPr lang="en-US" sz="1650" dirty="0"/>
          </a:p>
        </p:txBody>
      </p:sp>
      <p:sp>
        <p:nvSpPr>
          <p:cNvPr id="24" name="Text 22"/>
          <p:cNvSpPr/>
          <p:nvPr/>
        </p:nvSpPr>
        <p:spPr>
          <a:xfrm>
            <a:off x="4928949" y="5838825"/>
            <a:ext cx="8684657" cy="336113"/>
          </a:xfrm>
          <a:prstGeom prst="rect">
            <a:avLst/>
          </a:prstGeom>
          <a:noFill/>
          <a:ln/>
        </p:spPr>
        <p:txBody>
          <a:bodyPr wrap="non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PHI sin anonimizar</a:t>
            </a:r>
            <a:endParaRPr lang="en-US" sz="1650" dirty="0"/>
          </a:p>
        </p:txBody>
      </p:sp>
      <p:sp>
        <p:nvSpPr>
          <p:cNvPr id="25" name="Text 23"/>
          <p:cNvSpPr/>
          <p:nvPr/>
        </p:nvSpPr>
        <p:spPr>
          <a:xfrm>
            <a:off x="793790" y="6543199"/>
            <a:ext cx="13042821" cy="672227"/>
          </a:xfrm>
          <a:prstGeom prst="rect">
            <a:avLst/>
          </a:prstGeom>
          <a:noFill/>
          <a:ln/>
        </p:spPr>
        <p:txBody>
          <a:bodyPr wrap="square" lIns="0" tIns="0" rIns="0" bIns="0" rtlCol="0" anchor="t"/>
          <a:lstStyle/>
          <a:p>
            <a:pPr algn="l" indent="0" marL="0">
              <a:lnSpc>
                <a:spcPts val="2600"/>
              </a:lnSpc>
              <a:buNone/>
            </a:pPr>
            <a:r>
              <a:rPr lang="en-US" sz="1650" dirty="0">
                <a:solidFill>
                  <a:srgbClr val="3B3535"/>
                </a:solidFill>
                <a:latin typeface="Roboto" pitchFamily="34" charset="0"/>
                <a:ea typeface="Roboto" pitchFamily="34" charset="-122"/>
                <a:cs typeface="Roboto" pitchFamily="34" charset="-120"/>
              </a:rPr>
              <a:t>Recomendaciones: revisión manual de muestra, medir inter-annotator agreement (Cohen's kappa), documentar proceso de recolección, verificar representatividad demográfica.</a:t>
            </a:r>
            <a:endParaRPr lang="en-US" sz="16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793790" y="1069896"/>
            <a:ext cx="6490216"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Datos sintéticos</a:t>
            </a:r>
            <a:endParaRPr lang="en-US" sz="4450" dirty="0"/>
          </a:p>
        </p:txBody>
      </p:sp>
      <p:sp>
        <p:nvSpPr>
          <p:cNvPr id="3" name="Text 1"/>
          <p:cNvSpPr/>
          <p:nvPr/>
        </p:nvSpPr>
        <p:spPr>
          <a:xfrm>
            <a:off x="793790" y="225516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Cuando no hay datos suficientes (muy común en medicina):</a:t>
            </a:r>
            <a:endParaRPr lang="en-US" sz="1750" dirty="0"/>
          </a:p>
        </p:txBody>
      </p:sp>
      <p:sp>
        <p:nvSpPr>
          <p:cNvPr id="4" name="Text 2"/>
          <p:cNvSpPr/>
          <p:nvPr/>
        </p:nvSpPr>
        <p:spPr>
          <a:xfrm>
            <a:off x="1133951" y="3128367"/>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Se pueden generar datos artificiales usando LLMs u otras técnicas</a:t>
            </a:r>
            <a:endParaRPr lang="en-US" sz="1750" dirty="0"/>
          </a:p>
        </p:txBody>
      </p:sp>
      <p:sp>
        <p:nvSpPr>
          <p:cNvPr id="5" name="Shape 3"/>
          <p:cNvSpPr/>
          <p:nvPr/>
        </p:nvSpPr>
        <p:spPr>
          <a:xfrm>
            <a:off x="793790" y="2873216"/>
            <a:ext cx="30480" cy="873204"/>
          </a:xfrm>
          <a:prstGeom prst="rect">
            <a:avLst/>
          </a:prstGeom>
          <a:solidFill>
            <a:srgbClr val="DA1B2E"/>
          </a:solidFill>
          <a:ln/>
        </p:spPr>
      </p:sp>
      <p:sp>
        <p:nvSpPr>
          <p:cNvPr id="6" name="Text 4"/>
          <p:cNvSpPr/>
          <p:nvPr/>
        </p:nvSpPr>
        <p:spPr>
          <a:xfrm>
            <a:off x="793790" y="4086582"/>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1F1E1E"/>
                </a:solidFill>
                <a:latin typeface="Roboto Mono Medium" pitchFamily="34" charset="0"/>
                <a:ea typeface="Roboto Mono Medium" pitchFamily="34" charset="-122"/>
                <a:cs typeface="Roboto Mono Medium" pitchFamily="34" charset="-120"/>
              </a:rPr>
              <a:t>¿Cómo?</a:t>
            </a:r>
            <a:endParaRPr lang="en-US" sz="2650" dirty="0"/>
          </a:p>
        </p:txBody>
      </p:sp>
      <p:sp>
        <p:nvSpPr>
          <p:cNvPr id="7" name="Text 5"/>
          <p:cNvSpPr/>
          <p:nvPr/>
        </p:nvSpPr>
        <p:spPr>
          <a:xfrm>
            <a:off x="793790" y="4852035"/>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Usar un LLM potente (ej: GPT-4) para generar ejemplos de entrenamiento</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Parafrasear datos existentes para aumentar el dataset</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Crear escenarios clínicos ficticios basados en guías médicas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Usar templates + variaciones para generar diversidad</a:t>
            </a:r>
            <a:endParaRPr lang="en-US" sz="1750" dirty="0"/>
          </a:p>
        </p:txBody>
      </p:sp>
      <p:sp>
        <p:nvSpPr>
          <p:cNvPr id="8" name="Text 6"/>
          <p:cNvSpPr/>
          <p:nvPr/>
        </p:nvSpPr>
        <p:spPr>
          <a:xfrm>
            <a:off x="793790" y="679668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Ventajas: escala rápido, no requiere datos reales (menos problemas de privacidad), permite controlar distribución de casos.</a:t>
            </a:r>
            <a:endParaRPr lang="en-US" sz="1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793790" y="2001203"/>
            <a:ext cx="10573107"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Ejemplos de datos sintéticos</a:t>
            </a:r>
            <a:endParaRPr lang="en-US" sz="4450" dirty="0"/>
          </a:p>
        </p:txBody>
      </p:sp>
      <p:sp>
        <p:nvSpPr>
          <p:cNvPr id="3" name="Shape 1"/>
          <p:cNvSpPr/>
          <p:nvPr/>
        </p:nvSpPr>
        <p:spPr>
          <a:xfrm>
            <a:off x="793790" y="3186470"/>
            <a:ext cx="510302" cy="510302"/>
          </a:xfrm>
          <a:prstGeom prst="roundRect">
            <a:avLst>
              <a:gd name="adj" fmla="val 1792"/>
            </a:avLst>
          </a:prstGeom>
          <a:solidFill>
            <a:srgbClr val="F2EEEE"/>
          </a:solidFill>
          <a:ln w="7620">
            <a:solidFill>
              <a:srgbClr val="D8D4D4"/>
            </a:solidFill>
            <a:prstDash val="solid"/>
          </a:ln>
        </p:spPr>
      </p:sp>
      <p:sp>
        <p:nvSpPr>
          <p:cNvPr id="4" name="Text 2"/>
          <p:cNvSpPr/>
          <p:nvPr/>
        </p:nvSpPr>
        <p:spPr>
          <a:xfrm>
            <a:off x="878860" y="3228975"/>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1</a:t>
            </a:r>
            <a:endParaRPr lang="en-US" sz="2650" dirty="0"/>
          </a:p>
        </p:txBody>
      </p:sp>
      <p:sp>
        <p:nvSpPr>
          <p:cNvPr id="5" name="Text 3"/>
          <p:cNvSpPr/>
          <p:nvPr/>
        </p:nvSpPr>
        <p:spPr>
          <a:xfrm>
            <a:off x="1530906" y="3264337"/>
            <a:ext cx="4251246"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Generar preguntas médicas</a:t>
            </a:r>
            <a:endParaRPr lang="en-US" sz="2200" dirty="0"/>
          </a:p>
        </p:txBody>
      </p:sp>
      <p:sp>
        <p:nvSpPr>
          <p:cNvPr id="6" name="Text 4"/>
          <p:cNvSpPr/>
          <p:nvPr/>
        </p:nvSpPr>
        <p:spPr>
          <a:xfrm>
            <a:off x="1530906" y="3754755"/>
            <a:ext cx="564249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Prompt a GPT-4: "Generá 50 preguntas de farmacología nivel USMLE con 5 opciones"</a:t>
            </a:r>
            <a:endParaRPr lang="en-US" sz="1750" dirty="0"/>
          </a:p>
        </p:txBody>
      </p:sp>
      <p:sp>
        <p:nvSpPr>
          <p:cNvPr id="7" name="Shape 5"/>
          <p:cNvSpPr/>
          <p:nvPr/>
        </p:nvSpPr>
        <p:spPr>
          <a:xfrm>
            <a:off x="7456884" y="3186470"/>
            <a:ext cx="510302" cy="510302"/>
          </a:xfrm>
          <a:prstGeom prst="roundRect">
            <a:avLst>
              <a:gd name="adj" fmla="val 1792"/>
            </a:avLst>
          </a:prstGeom>
          <a:solidFill>
            <a:srgbClr val="F2EEEE"/>
          </a:solidFill>
          <a:ln w="7620">
            <a:solidFill>
              <a:srgbClr val="D8D4D4"/>
            </a:solidFill>
            <a:prstDash val="solid"/>
          </a:ln>
        </p:spPr>
      </p:sp>
      <p:sp>
        <p:nvSpPr>
          <p:cNvPr id="8" name="Text 6"/>
          <p:cNvSpPr/>
          <p:nvPr/>
        </p:nvSpPr>
        <p:spPr>
          <a:xfrm>
            <a:off x="7541955" y="3228975"/>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2</a:t>
            </a:r>
            <a:endParaRPr lang="en-US" sz="2650" dirty="0"/>
          </a:p>
        </p:txBody>
      </p:sp>
      <p:sp>
        <p:nvSpPr>
          <p:cNvPr id="9" name="Text 7"/>
          <p:cNvSpPr/>
          <p:nvPr/>
        </p:nvSpPr>
        <p:spPr>
          <a:xfrm>
            <a:off x="8194000" y="3264337"/>
            <a:ext cx="4591407"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Diálogos clínicos simulados</a:t>
            </a:r>
            <a:endParaRPr lang="en-US" sz="2200" dirty="0"/>
          </a:p>
        </p:txBody>
      </p:sp>
      <p:sp>
        <p:nvSpPr>
          <p:cNvPr id="10" name="Text 8"/>
          <p:cNvSpPr/>
          <p:nvPr/>
        </p:nvSpPr>
        <p:spPr>
          <a:xfrm>
            <a:off x="8194000" y="3754755"/>
            <a:ext cx="5642610"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Simulá diálogo médico-paciente con sospecha de diabetes tipo 2. Uso: chatbot de triage.</a:t>
            </a:r>
            <a:endParaRPr lang="en-US" sz="1750" dirty="0"/>
          </a:p>
        </p:txBody>
      </p:sp>
      <p:sp>
        <p:nvSpPr>
          <p:cNvPr id="11" name="Shape 9"/>
          <p:cNvSpPr/>
          <p:nvPr/>
        </p:nvSpPr>
        <p:spPr>
          <a:xfrm>
            <a:off x="793790" y="4934188"/>
            <a:ext cx="510302" cy="510302"/>
          </a:xfrm>
          <a:prstGeom prst="roundRect">
            <a:avLst>
              <a:gd name="adj" fmla="val 1792"/>
            </a:avLst>
          </a:prstGeom>
          <a:solidFill>
            <a:srgbClr val="F2EEEE"/>
          </a:solidFill>
          <a:ln w="7620">
            <a:solidFill>
              <a:srgbClr val="D8D4D4"/>
            </a:solidFill>
            <a:prstDash val="solid"/>
          </a:ln>
        </p:spPr>
      </p:sp>
      <p:sp>
        <p:nvSpPr>
          <p:cNvPr id="12" name="Text 10"/>
          <p:cNvSpPr/>
          <p:nvPr/>
        </p:nvSpPr>
        <p:spPr>
          <a:xfrm>
            <a:off x="878860" y="4976693"/>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3</a:t>
            </a:r>
            <a:endParaRPr lang="en-US" sz="2650" dirty="0"/>
          </a:p>
        </p:txBody>
      </p:sp>
      <p:sp>
        <p:nvSpPr>
          <p:cNvPr id="13" name="Text 11"/>
          <p:cNvSpPr/>
          <p:nvPr/>
        </p:nvSpPr>
        <p:spPr>
          <a:xfrm>
            <a:off x="1530906" y="5012055"/>
            <a:ext cx="3741182"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Expandir dataset de QA</a:t>
            </a:r>
            <a:endParaRPr lang="en-US" sz="2200" dirty="0"/>
          </a:p>
        </p:txBody>
      </p:sp>
      <p:sp>
        <p:nvSpPr>
          <p:cNvPr id="14" name="Text 12"/>
          <p:cNvSpPr/>
          <p:nvPr/>
        </p:nvSpPr>
        <p:spPr>
          <a:xfrm>
            <a:off x="1530906" y="5502473"/>
            <a:ext cx="564249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100 preguntas reales → LLM genera 5 variaciones de cada una → 600 preguntas.</a:t>
            </a:r>
            <a:endParaRPr lang="en-US" sz="1750" dirty="0"/>
          </a:p>
        </p:txBody>
      </p:sp>
      <p:sp>
        <p:nvSpPr>
          <p:cNvPr id="15" name="Shape 13"/>
          <p:cNvSpPr/>
          <p:nvPr/>
        </p:nvSpPr>
        <p:spPr>
          <a:xfrm>
            <a:off x="7456884" y="4934188"/>
            <a:ext cx="510302" cy="510302"/>
          </a:xfrm>
          <a:prstGeom prst="roundRect">
            <a:avLst>
              <a:gd name="adj" fmla="val 1792"/>
            </a:avLst>
          </a:prstGeom>
          <a:solidFill>
            <a:srgbClr val="F2EEEE"/>
          </a:solidFill>
          <a:ln w="7620">
            <a:solidFill>
              <a:srgbClr val="D8D4D4"/>
            </a:solidFill>
            <a:prstDash val="solid"/>
          </a:ln>
        </p:spPr>
      </p:sp>
      <p:sp>
        <p:nvSpPr>
          <p:cNvPr id="16" name="Text 14"/>
          <p:cNvSpPr/>
          <p:nvPr/>
        </p:nvSpPr>
        <p:spPr>
          <a:xfrm>
            <a:off x="7541955" y="4976693"/>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B3535"/>
                </a:solidFill>
                <a:latin typeface="Roboto Mono Medium" pitchFamily="34" charset="0"/>
                <a:ea typeface="Roboto Mono Medium" pitchFamily="34" charset="-122"/>
                <a:cs typeface="Roboto Mono Medium" pitchFamily="34" charset="-120"/>
              </a:rPr>
              <a:t>4</a:t>
            </a:r>
            <a:endParaRPr lang="en-US" sz="2650" dirty="0"/>
          </a:p>
        </p:txBody>
      </p:sp>
      <p:sp>
        <p:nvSpPr>
          <p:cNvPr id="17" name="Text 15"/>
          <p:cNvSpPr/>
          <p:nvPr/>
        </p:nvSpPr>
        <p:spPr>
          <a:xfrm>
            <a:off x="8194000" y="5012055"/>
            <a:ext cx="5611654" cy="354330"/>
          </a:xfrm>
          <a:prstGeom prst="rect">
            <a:avLst/>
          </a:prstGeom>
          <a:noFill/>
          <a:ln/>
        </p:spPr>
        <p:txBody>
          <a:bodyPr wrap="none" lIns="0" tIns="0" rIns="0" bIns="0" rtlCol="0" anchor="t"/>
          <a:lstStyle/>
          <a:p>
            <a:pPr algn="l" indent="0" marL="0">
              <a:lnSpc>
                <a:spcPts val="2750"/>
              </a:lnSpc>
              <a:buNone/>
            </a:pPr>
            <a:r>
              <a:rPr lang="en-US" sz="2200" dirty="0">
                <a:solidFill>
                  <a:srgbClr val="3B3535"/>
                </a:solidFill>
                <a:latin typeface="Roboto Mono Medium" pitchFamily="34" charset="0"/>
                <a:ea typeface="Roboto Mono Medium" pitchFamily="34" charset="-122"/>
                <a:cs typeface="Roboto Mono Medium" pitchFamily="34" charset="-120"/>
              </a:rPr>
              <a:t>Casos clínicos para entrenamiento</a:t>
            </a:r>
            <a:endParaRPr lang="en-US" sz="2200" dirty="0"/>
          </a:p>
        </p:txBody>
      </p:sp>
      <p:sp>
        <p:nvSpPr>
          <p:cNvPr id="18" name="Text 16"/>
          <p:cNvSpPr/>
          <p:nvPr/>
        </p:nvSpPr>
        <p:spPr>
          <a:xfrm>
            <a:off x="8194000" y="5502473"/>
            <a:ext cx="5642610"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Generar caso de insuficiencia cardíaca con HC, estudios y diagnóstico diferencial.</a:t>
            </a:r>
            <a:endParaRPr lang="en-US" sz="17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93790" y="1073110"/>
            <a:ext cx="10232827"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Riesgos de datos sintéticos</a:t>
            </a:r>
            <a:endParaRPr lang="en-US" sz="4450" dirty="0"/>
          </a:p>
        </p:txBody>
      </p:sp>
      <p:sp>
        <p:nvSpPr>
          <p:cNvPr id="3" name="Shape 1"/>
          <p:cNvSpPr/>
          <p:nvPr/>
        </p:nvSpPr>
        <p:spPr>
          <a:xfrm>
            <a:off x="793790" y="2258378"/>
            <a:ext cx="13042821" cy="3917156"/>
          </a:xfrm>
          <a:prstGeom prst="roundRect">
            <a:avLst>
              <a:gd name="adj" fmla="val 233"/>
            </a:avLst>
          </a:prstGeom>
          <a:noFill/>
          <a:ln w="7620">
            <a:solidFill>
              <a:srgbClr val="000000">
                <a:alpha val="8000"/>
              </a:srgbClr>
            </a:solidFill>
            <a:prstDash val="solid"/>
          </a:ln>
        </p:spPr>
      </p:sp>
      <p:sp>
        <p:nvSpPr>
          <p:cNvPr id="4" name="Shape 2"/>
          <p:cNvSpPr/>
          <p:nvPr/>
        </p:nvSpPr>
        <p:spPr>
          <a:xfrm>
            <a:off x="801410" y="2265997"/>
            <a:ext cx="13027581" cy="650319"/>
          </a:xfrm>
          <a:prstGeom prst="rect">
            <a:avLst/>
          </a:prstGeom>
          <a:solidFill>
            <a:srgbClr val="FFFFFF">
              <a:alpha val="4000"/>
            </a:srgbClr>
          </a:solidFill>
          <a:ln/>
        </p:spPr>
      </p:sp>
      <p:sp>
        <p:nvSpPr>
          <p:cNvPr id="5" name="Text 3"/>
          <p:cNvSpPr/>
          <p:nvPr/>
        </p:nvSpPr>
        <p:spPr>
          <a:xfrm>
            <a:off x="1028343" y="2409706"/>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Riesgo</a:t>
            </a:r>
            <a:endParaRPr lang="en-US" sz="1750" dirty="0"/>
          </a:p>
        </p:txBody>
      </p:sp>
      <p:sp>
        <p:nvSpPr>
          <p:cNvPr id="6" name="Text 4"/>
          <p:cNvSpPr/>
          <p:nvPr/>
        </p:nvSpPr>
        <p:spPr>
          <a:xfrm>
            <a:off x="4940379" y="2409706"/>
            <a:ext cx="8661797"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Descripción</a:t>
            </a:r>
            <a:endParaRPr lang="en-US" sz="1750" dirty="0"/>
          </a:p>
        </p:txBody>
      </p:sp>
      <p:sp>
        <p:nvSpPr>
          <p:cNvPr id="7" name="Shape 5"/>
          <p:cNvSpPr/>
          <p:nvPr/>
        </p:nvSpPr>
        <p:spPr>
          <a:xfrm>
            <a:off x="801410" y="2916317"/>
            <a:ext cx="13027581" cy="650319"/>
          </a:xfrm>
          <a:prstGeom prst="rect">
            <a:avLst/>
          </a:prstGeom>
          <a:solidFill>
            <a:srgbClr val="000000">
              <a:alpha val="4000"/>
            </a:srgbClr>
          </a:solidFill>
          <a:ln/>
        </p:spPr>
      </p:sp>
      <p:sp>
        <p:nvSpPr>
          <p:cNvPr id="8" name="Text 6"/>
          <p:cNvSpPr/>
          <p:nvPr/>
        </p:nvSpPr>
        <p:spPr>
          <a:xfrm>
            <a:off x="1028343" y="3060025"/>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Amplificar errores</a:t>
            </a:r>
            <a:endParaRPr lang="en-US" sz="1750" dirty="0"/>
          </a:p>
        </p:txBody>
      </p:sp>
      <p:sp>
        <p:nvSpPr>
          <p:cNvPr id="9" name="Text 7"/>
          <p:cNvSpPr/>
          <p:nvPr/>
        </p:nvSpPr>
        <p:spPr>
          <a:xfrm>
            <a:off x="4940379" y="3060025"/>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Si el LLM generador tiene errores, se propagan al dataset</a:t>
            </a:r>
            <a:endParaRPr lang="en-US" sz="1750" dirty="0"/>
          </a:p>
        </p:txBody>
      </p:sp>
      <p:sp>
        <p:nvSpPr>
          <p:cNvPr id="10" name="Shape 8"/>
          <p:cNvSpPr/>
          <p:nvPr/>
        </p:nvSpPr>
        <p:spPr>
          <a:xfrm>
            <a:off x="801410" y="3566636"/>
            <a:ext cx="13027581" cy="650319"/>
          </a:xfrm>
          <a:prstGeom prst="rect">
            <a:avLst/>
          </a:prstGeom>
          <a:solidFill>
            <a:srgbClr val="FFFFFF">
              <a:alpha val="4000"/>
            </a:srgbClr>
          </a:solidFill>
          <a:ln/>
        </p:spPr>
      </p:sp>
      <p:sp>
        <p:nvSpPr>
          <p:cNvPr id="11" name="Text 9"/>
          <p:cNvSpPr/>
          <p:nvPr/>
        </p:nvSpPr>
        <p:spPr>
          <a:xfrm>
            <a:off x="1028343" y="3710345"/>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Datos irreales</a:t>
            </a:r>
            <a:endParaRPr lang="en-US" sz="1750" dirty="0"/>
          </a:p>
        </p:txBody>
      </p:sp>
      <p:sp>
        <p:nvSpPr>
          <p:cNvPr id="12" name="Text 10"/>
          <p:cNvSpPr/>
          <p:nvPr/>
        </p:nvSpPr>
        <p:spPr>
          <a:xfrm>
            <a:off x="4940379" y="3710345"/>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Combinaciones clínicas que no ocurren en la realidad</a:t>
            </a:r>
            <a:endParaRPr lang="en-US" sz="1750" dirty="0"/>
          </a:p>
        </p:txBody>
      </p:sp>
      <p:sp>
        <p:nvSpPr>
          <p:cNvPr id="13" name="Shape 11"/>
          <p:cNvSpPr/>
          <p:nvPr/>
        </p:nvSpPr>
        <p:spPr>
          <a:xfrm>
            <a:off x="801410" y="4216956"/>
            <a:ext cx="13027581" cy="650319"/>
          </a:xfrm>
          <a:prstGeom prst="rect">
            <a:avLst/>
          </a:prstGeom>
          <a:solidFill>
            <a:srgbClr val="000000">
              <a:alpha val="4000"/>
            </a:srgbClr>
          </a:solidFill>
          <a:ln/>
        </p:spPr>
      </p:sp>
      <p:sp>
        <p:nvSpPr>
          <p:cNvPr id="14" name="Text 12"/>
          <p:cNvSpPr/>
          <p:nvPr/>
        </p:nvSpPr>
        <p:spPr>
          <a:xfrm>
            <a:off x="1028343" y="4360664"/>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Sesgos ocultos</a:t>
            </a:r>
            <a:endParaRPr lang="en-US" sz="1750" dirty="0"/>
          </a:p>
        </p:txBody>
      </p:sp>
      <p:sp>
        <p:nvSpPr>
          <p:cNvPr id="15" name="Text 13"/>
          <p:cNvSpPr/>
          <p:nvPr/>
        </p:nvSpPr>
        <p:spPr>
          <a:xfrm>
            <a:off x="4940379" y="4360664"/>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El LLM generador tiene sesgos que se heredan</a:t>
            </a:r>
            <a:endParaRPr lang="en-US" sz="1750" dirty="0"/>
          </a:p>
        </p:txBody>
      </p:sp>
      <p:sp>
        <p:nvSpPr>
          <p:cNvPr id="16" name="Shape 14"/>
          <p:cNvSpPr/>
          <p:nvPr/>
        </p:nvSpPr>
        <p:spPr>
          <a:xfrm>
            <a:off x="801410" y="4867275"/>
            <a:ext cx="13027581" cy="650319"/>
          </a:xfrm>
          <a:prstGeom prst="rect">
            <a:avLst/>
          </a:prstGeom>
          <a:solidFill>
            <a:srgbClr val="FFFFFF">
              <a:alpha val="4000"/>
            </a:srgbClr>
          </a:solidFill>
          <a:ln/>
        </p:spPr>
      </p:sp>
      <p:sp>
        <p:nvSpPr>
          <p:cNvPr id="17" name="Text 15"/>
          <p:cNvSpPr/>
          <p:nvPr/>
        </p:nvSpPr>
        <p:spPr>
          <a:xfrm>
            <a:off x="1028343" y="5010983"/>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Falta diversidad real</a:t>
            </a:r>
            <a:endParaRPr lang="en-US" sz="1750" dirty="0"/>
          </a:p>
        </p:txBody>
      </p:sp>
      <p:sp>
        <p:nvSpPr>
          <p:cNvPr id="18" name="Text 16"/>
          <p:cNvSpPr/>
          <p:nvPr/>
        </p:nvSpPr>
        <p:spPr>
          <a:xfrm>
            <a:off x="4940379" y="5010983"/>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Datos sintéticos tienden a ser más "limpios" que los reales</a:t>
            </a:r>
            <a:endParaRPr lang="en-US" sz="1750" dirty="0"/>
          </a:p>
        </p:txBody>
      </p:sp>
      <p:sp>
        <p:nvSpPr>
          <p:cNvPr id="19" name="Shape 17"/>
          <p:cNvSpPr/>
          <p:nvPr/>
        </p:nvSpPr>
        <p:spPr>
          <a:xfrm>
            <a:off x="801410" y="5517594"/>
            <a:ext cx="13027581" cy="650319"/>
          </a:xfrm>
          <a:prstGeom prst="rect">
            <a:avLst/>
          </a:prstGeom>
          <a:solidFill>
            <a:srgbClr val="000000">
              <a:alpha val="4000"/>
            </a:srgbClr>
          </a:solidFill>
          <a:ln/>
        </p:spPr>
      </p:sp>
      <p:sp>
        <p:nvSpPr>
          <p:cNvPr id="20" name="Text 18"/>
          <p:cNvSpPr/>
          <p:nvPr/>
        </p:nvSpPr>
        <p:spPr>
          <a:xfrm>
            <a:off x="1028343" y="5661303"/>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Colapso de modelos</a:t>
            </a:r>
            <a:endParaRPr lang="en-US" sz="1750" dirty="0"/>
          </a:p>
        </p:txBody>
      </p:sp>
      <p:sp>
        <p:nvSpPr>
          <p:cNvPr id="21" name="Text 19"/>
          <p:cNvSpPr/>
          <p:nvPr/>
        </p:nvSpPr>
        <p:spPr>
          <a:xfrm>
            <a:off x="4940379" y="5661303"/>
            <a:ext cx="8661797"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Entrenar LLM con output de otro LLM puede degradar calidad</a:t>
            </a:r>
            <a:endParaRPr lang="en-US" sz="1750" dirty="0"/>
          </a:p>
        </p:txBody>
      </p:sp>
      <p:sp>
        <p:nvSpPr>
          <p:cNvPr id="22" name="Text 20"/>
          <p:cNvSpPr/>
          <p:nvPr/>
        </p:nvSpPr>
        <p:spPr>
          <a:xfrm>
            <a:off x="793790" y="643068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Buenas prácticas: validar muestra con expertos, mezclar sintéticos con reales, documentar qué modelo generó los datos, evaluar en datos reales.</a:t>
            </a:r>
            <a:endParaRPr lang="en-US" sz="1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793790" y="1313736"/>
            <a:ext cx="9552384"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Insight: datos sintéticos</a:t>
            </a:r>
            <a:endParaRPr lang="en-US" sz="4450" dirty="0"/>
          </a:p>
        </p:txBody>
      </p:sp>
      <p:sp>
        <p:nvSpPr>
          <p:cNvPr id="3" name="Text 1"/>
          <p:cNvSpPr/>
          <p:nvPr/>
        </p:nvSpPr>
        <p:spPr>
          <a:xfrm>
            <a:off x="1133951" y="2754154"/>
            <a:ext cx="12702659" cy="362903"/>
          </a:xfrm>
          <a:prstGeom prst="rect">
            <a:avLst/>
          </a:prstGeom>
          <a:noFill/>
          <a:ln/>
        </p:spPr>
        <p:txBody>
          <a:bodyPr wrap="none" lIns="0" tIns="0" rIns="0" bIns="0" rtlCol="0" anchor="t"/>
          <a:lstStyle/>
          <a:p>
            <a:pPr algn="l" indent="0" marL="0">
              <a:lnSpc>
                <a:spcPts val="2850"/>
              </a:lnSpc>
              <a:buNone/>
            </a:pPr>
            <a:r>
              <a:rPr lang="en-US" sz="1750" i="1" dirty="0">
                <a:solidFill>
                  <a:srgbClr val="3B3535"/>
                </a:solidFill>
                <a:latin typeface="Roboto" pitchFamily="34" charset="0"/>
                <a:ea typeface="Roboto" pitchFamily="34" charset="-122"/>
                <a:cs typeface="Roboto" pitchFamily="34" charset="-120"/>
              </a:rPr>
              <a:t>Datos sintéticos pueden ayudar… o arruinar el modelo</a:t>
            </a:r>
            <a:endParaRPr lang="en-US" sz="1750" dirty="0"/>
          </a:p>
        </p:txBody>
      </p:sp>
      <p:sp>
        <p:nvSpPr>
          <p:cNvPr id="4" name="Shape 2"/>
          <p:cNvSpPr/>
          <p:nvPr/>
        </p:nvSpPr>
        <p:spPr>
          <a:xfrm>
            <a:off x="793790" y="2499003"/>
            <a:ext cx="30480" cy="873204"/>
          </a:xfrm>
          <a:prstGeom prst="rect">
            <a:avLst/>
          </a:prstGeom>
          <a:solidFill>
            <a:srgbClr val="DA1B2E"/>
          </a:solidFill>
          <a:ln/>
        </p:spPr>
      </p:sp>
      <p:sp>
        <p:nvSpPr>
          <p:cNvPr id="5" name="Text 3"/>
          <p:cNvSpPr/>
          <p:nvPr/>
        </p:nvSpPr>
        <p:spPr>
          <a:xfrm>
            <a:off x="793790" y="362735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La diferencia está en:</a:t>
            </a:r>
            <a:endParaRPr lang="en-US" sz="1750" dirty="0"/>
          </a:p>
        </p:txBody>
      </p:sp>
      <p:sp>
        <p:nvSpPr>
          <p:cNvPr id="6" name="Text 4"/>
          <p:cNvSpPr/>
          <p:nvPr/>
        </p:nvSpPr>
        <p:spPr>
          <a:xfrm>
            <a:off x="793790" y="4245412"/>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Calidad del generador: un modelo más capaz genera mejores datos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Validación humana: alguien del dominio revisó los datos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Proporción: no reemplazar todos los datos reales por sintéticos</a:t>
            </a:r>
            <a:endParaRPr lang="en-US" sz="1750" dirty="0"/>
          </a:p>
          <a:p>
            <a:pPr algn="l" marL="342900" indent="-342900">
              <a:lnSpc>
                <a:spcPts val="2850"/>
              </a:lnSpc>
              <a:buSzPct val="100000"/>
              <a:buChar char="•"/>
            </a:pPr>
            <a:r>
              <a:rPr lang="en-US" sz="1750" dirty="0">
                <a:solidFill>
                  <a:srgbClr val="3B3535"/>
                </a:solidFill>
                <a:latin typeface="Roboto" pitchFamily="34" charset="0"/>
                <a:ea typeface="Roboto" pitchFamily="34" charset="-122"/>
                <a:cs typeface="Roboto" pitchFamily="34" charset="-120"/>
              </a:rPr>
              <a:t>Evaluación final: siempre evaluar en datos reales del mundo real</a:t>
            </a:r>
            <a:endParaRPr lang="en-US" sz="1750" dirty="0"/>
          </a:p>
        </p:txBody>
      </p:sp>
      <p:sp>
        <p:nvSpPr>
          <p:cNvPr id="7" name="Text 5"/>
          <p:cNvSpPr/>
          <p:nvPr/>
        </p:nvSpPr>
        <p:spPr>
          <a:xfrm>
            <a:off x="793790" y="619005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Analogía: es como un simulador de vuelo para entrenar pilotos. Ayuda mucho, pero no reemplaza horas de vuelo real. Y si el simulador tiene errores, genera malos hábitos.</a:t>
            </a:r>
            <a:endParaRPr lang="en-US" sz="1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793790" y="788789"/>
            <a:ext cx="5670590" cy="731639"/>
          </a:xfrm>
          <a:prstGeom prst="rect">
            <a:avLst/>
          </a:prstGeom>
          <a:noFill/>
          <a:ln/>
        </p:spPr>
        <p:txBody>
          <a:bodyPr wrap="none" lIns="0" tIns="0" rIns="0" bIns="0" rtlCol="0" anchor="t"/>
          <a:lstStyle/>
          <a:p>
            <a:pPr algn="l" indent="0" marL="0">
              <a:lnSpc>
                <a:spcPts val="5550"/>
              </a:lnSpc>
              <a:buNone/>
            </a:pPr>
            <a:r>
              <a:rPr lang="en-US" sz="4450" dirty="0">
                <a:solidFill>
                  <a:srgbClr val="000000"/>
                </a:solidFill>
                <a:latin typeface="Roboto Mono Medium" pitchFamily="34" charset="0"/>
                <a:ea typeface="Roboto Mono Medium" pitchFamily="34" charset="-122"/>
                <a:cs typeface="Roboto Mono Medium" pitchFamily="34" charset="-120"/>
              </a:rPr>
              <a:t>🧠</a:t>
            </a:r>
            <a:pPr algn="l" indent="0" marL="0">
              <a:lnSpc>
                <a:spcPts val="5550"/>
              </a:lnSpc>
              <a:buNone/>
            </a:pPr>
            <a:r>
              <a:rPr lang="en-US" sz="4450" dirty="0">
                <a:solidFill>
                  <a:srgbClr val="1F1E1E"/>
                </a:solidFill>
                <a:latin typeface="Roboto Mono Medium" pitchFamily="34" charset="0"/>
                <a:ea typeface="Roboto Mono Medium" pitchFamily="34" charset="-122"/>
                <a:cs typeface="Roboto Mono Medium" pitchFamily="34" charset="-120"/>
              </a:rPr>
              <a:t> Resumen final</a:t>
            </a:r>
            <a:endParaRPr lang="en-US" sz="4450" dirty="0"/>
          </a:p>
        </p:txBody>
      </p:sp>
      <p:sp>
        <p:nvSpPr>
          <p:cNvPr id="3" name="Shape 1"/>
          <p:cNvSpPr/>
          <p:nvPr/>
        </p:nvSpPr>
        <p:spPr>
          <a:xfrm>
            <a:off x="793790" y="1974056"/>
            <a:ext cx="13042821" cy="3266837"/>
          </a:xfrm>
          <a:prstGeom prst="roundRect">
            <a:avLst>
              <a:gd name="adj" fmla="val 280"/>
            </a:avLst>
          </a:prstGeom>
          <a:noFill/>
          <a:ln w="7620">
            <a:solidFill>
              <a:srgbClr val="000000">
                <a:alpha val="8000"/>
              </a:srgbClr>
            </a:solidFill>
            <a:prstDash val="solid"/>
          </a:ln>
        </p:spPr>
      </p:sp>
      <p:sp>
        <p:nvSpPr>
          <p:cNvPr id="4" name="Shape 2"/>
          <p:cNvSpPr/>
          <p:nvPr/>
        </p:nvSpPr>
        <p:spPr>
          <a:xfrm>
            <a:off x="801410" y="1981676"/>
            <a:ext cx="13027581" cy="650319"/>
          </a:xfrm>
          <a:prstGeom prst="rect">
            <a:avLst/>
          </a:prstGeom>
          <a:solidFill>
            <a:srgbClr val="FFFFFF">
              <a:alpha val="4000"/>
            </a:srgbClr>
          </a:solidFill>
          <a:ln/>
        </p:spPr>
      </p:sp>
      <p:sp>
        <p:nvSpPr>
          <p:cNvPr id="5" name="Text 3"/>
          <p:cNvSpPr/>
          <p:nvPr/>
        </p:nvSpPr>
        <p:spPr>
          <a:xfrm>
            <a:off x="1028343" y="2125385"/>
            <a:ext cx="4753570"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Concepto</a:t>
            </a:r>
            <a:endParaRPr lang="en-US" sz="1750" dirty="0"/>
          </a:p>
        </p:txBody>
      </p:sp>
      <p:sp>
        <p:nvSpPr>
          <p:cNvPr id="6" name="Text 4"/>
          <p:cNvSpPr/>
          <p:nvPr/>
        </p:nvSpPr>
        <p:spPr>
          <a:xfrm>
            <a:off x="6243161" y="2125385"/>
            <a:ext cx="7359015" cy="362903"/>
          </a:xfrm>
          <a:prstGeom prst="rect">
            <a:avLst/>
          </a:prstGeom>
          <a:noFill/>
          <a:ln/>
        </p:spPr>
        <p:txBody>
          <a:bodyPr wrap="non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Mensaje clave</a:t>
            </a:r>
            <a:endParaRPr lang="en-US" sz="1750" dirty="0"/>
          </a:p>
        </p:txBody>
      </p:sp>
      <p:sp>
        <p:nvSpPr>
          <p:cNvPr id="7" name="Shape 5"/>
          <p:cNvSpPr/>
          <p:nvPr/>
        </p:nvSpPr>
        <p:spPr>
          <a:xfrm>
            <a:off x="801410" y="2631996"/>
            <a:ext cx="13027581" cy="650319"/>
          </a:xfrm>
          <a:prstGeom prst="rect">
            <a:avLst/>
          </a:prstGeom>
          <a:solidFill>
            <a:srgbClr val="000000">
              <a:alpha val="4000"/>
            </a:srgbClr>
          </a:solidFill>
          <a:ln/>
        </p:spPr>
      </p:sp>
      <p:sp>
        <p:nvSpPr>
          <p:cNvPr id="8" name="Text 6"/>
          <p:cNvSpPr/>
          <p:nvPr/>
        </p:nvSpPr>
        <p:spPr>
          <a:xfrm>
            <a:off x="1028343" y="2775704"/>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El modelo no es el problema</a:t>
            </a:r>
            <a:endParaRPr lang="en-US" sz="1750" dirty="0"/>
          </a:p>
        </p:txBody>
      </p:sp>
      <p:sp>
        <p:nvSpPr>
          <p:cNvPr id="9" name="Text 7"/>
          <p:cNvSpPr/>
          <p:nvPr/>
        </p:nvSpPr>
        <p:spPr>
          <a:xfrm>
            <a:off x="6243161" y="2775704"/>
            <a:ext cx="7359015"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Antes de cambiarlo, revisá el setup completo</a:t>
            </a:r>
            <a:endParaRPr lang="en-US" sz="1750" dirty="0"/>
          </a:p>
        </p:txBody>
      </p:sp>
      <p:sp>
        <p:nvSpPr>
          <p:cNvPr id="10" name="Shape 8"/>
          <p:cNvSpPr/>
          <p:nvPr/>
        </p:nvSpPr>
        <p:spPr>
          <a:xfrm>
            <a:off x="801410" y="3282315"/>
            <a:ext cx="13027581" cy="650319"/>
          </a:xfrm>
          <a:prstGeom prst="rect">
            <a:avLst/>
          </a:prstGeom>
          <a:solidFill>
            <a:srgbClr val="FFFFFF">
              <a:alpha val="4000"/>
            </a:srgbClr>
          </a:solidFill>
          <a:ln/>
        </p:spPr>
      </p:sp>
      <p:sp>
        <p:nvSpPr>
          <p:cNvPr id="11" name="Text 9"/>
          <p:cNvSpPr/>
          <p:nvPr/>
        </p:nvSpPr>
        <p:spPr>
          <a:xfrm>
            <a:off x="1028343" y="3426023"/>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Prompting &gt; Fine-tuning</a:t>
            </a:r>
            <a:endParaRPr lang="en-US" sz="1750" dirty="0"/>
          </a:p>
        </p:txBody>
      </p:sp>
      <p:sp>
        <p:nvSpPr>
          <p:cNvPr id="12" name="Text 10"/>
          <p:cNvSpPr/>
          <p:nvPr/>
        </p:nvSpPr>
        <p:spPr>
          <a:xfrm>
            <a:off x="6243161" y="3426023"/>
            <a:ext cx="7359015"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En la mayoría de casos, un buen prompt resuelve más</a:t>
            </a:r>
            <a:endParaRPr lang="en-US" sz="1750" dirty="0"/>
          </a:p>
        </p:txBody>
      </p:sp>
      <p:sp>
        <p:nvSpPr>
          <p:cNvPr id="13" name="Shape 11"/>
          <p:cNvSpPr/>
          <p:nvPr/>
        </p:nvSpPr>
        <p:spPr>
          <a:xfrm>
            <a:off x="801410" y="3932634"/>
            <a:ext cx="13027581" cy="650319"/>
          </a:xfrm>
          <a:prstGeom prst="rect">
            <a:avLst/>
          </a:prstGeom>
          <a:solidFill>
            <a:srgbClr val="000000">
              <a:alpha val="4000"/>
            </a:srgbClr>
          </a:solidFill>
          <a:ln/>
        </p:spPr>
      </p:sp>
      <p:sp>
        <p:nvSpPr>
          <p:cNvPr id="14" name="Text 12"/>
          <p:cNvSpPr/>
          <p:nvPr/>
        </p:nvSpPr>
        <p:spPr>
          <a:xfrm>
            <a:off x="1028343" y="4076343"/>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Evaluar bien es clave</a:t>
            </a:r>
            <a:endParaRPr lang="en-US" sz="1750" dirty="0"/>
          </a:p>
        </p:txBody>
      </p:sp>
      <p:sp>
        <p:nvSpPr>
          <p:cNvPr id="15" name="Text 13"/>
          <p:cNvSpPr/>
          <p:nvPr/>
        </p:nvSpPr>
        <p:spPr>
          <a:xfrm>
            <a:off x="6243161" y="4076343"/>
            <a:ext cx="7359015"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Sin métricas, estás navegando a ciegas</a:t>
            </a:r>
            <a:endParaRPr lang="en-US" sz="1750" dirty="0"/>
          </a:p>
        </p:txBody>
      </p:sp>
      <p:sp>
        <p:nvSpPr>
          <p:cNvPr id="16" name="Shape 14"/>
          <p:cNvSpPr/>
          <p:nvPr/>
        </p:nvSpPr>
        <p:spPr>
          <a:xfrm>
            <a:off x="801410" y="4582954"/>
            <a:ext cx="13027581" cy="650319"/>
          </a:xfrm>
          <a:prstGeom prst="rect">
            <a:avLst/>
          </a:prstGeom>
          <a:solidFill>
            <a:srgbClr val="FFFFFF">
              <a:alpha val="4000"/>
            </a:srgbClr>
          </a:solidFill>
          <a:ln/>
        </p:spPr>
      </p:sp>
      <p:sp>
        <p:nvSpPr>
          <p:cNvPr id="17" name="Text 15"/>
          <p:cNvSpPr/>
          <p:nvPr/>
        </p:nvSpPr>
        <p:spPr>
          <a:xfrm>
            <a:off x="1028343" y="4726662"/>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Datos de calidad</a:t>
            </a:r>
            <a:endParaRPr lang="en-US" sz="1750" dirty="0"/>
          </a:p>
        </p:txBody>
      </p:sp>
      <p:sp>
        <p:nvSpPr>
          <p:cNvPr id="18" name="Text 16"/>
          <p:cNvSpPr/>
          <p:nvPr/>
        </p:nvSpPr>
        <p:spPr>
          <a:xfrm>
            <a:off x="6243161" y="4726662"/>
            <a:ext cx="7359015" cy="362903"/>
          </a:xfrm>
          <a:prstGeom prst="rect">
            <a:avLst/>
          </a:prstGeom>
          <a:noFill/>
          <a:ln/>
        </p:spPr>
        <p:txBody>
          <a:bodyPr wrap="none" lIns="0" tIns="0" rIns="0" bIns="0" rtlCol="0" anchor="t"/>
          <a:lstStyle/>
          <a:p>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Garbage in → garbage out, especialmente en medicina</a:t>
            </a:r>
            <a:endParaRPr lang="en-US" sz="1750" dirty="0"/>
          </a:p>
        </p:txBody>
      </p:sp>
      <p:sp>
        <p:nvSpPr>
          <p:cNvPr id="19" name="Text 17"/>
          <p:cNvSpPr/>
          <p:nvPr/>
        </p:nvSpPr>
        <p:spPr>
          <a:xfrm>
            <a:off x="793790" y="5496044"/>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3B3535"/>
                </a:solidFill>
                <a:latin typeface="Roboto" pitchFamily="34" charset="0"/>
                <a:ea typeface="Roboto" pitchFamily="34" charset="-122"/>
                <a:cs typeface="Roboto" pitchFamily="34" charset="-120"/>
              </a:rPr>
              <a:t>Flujo recomendado:</a:t>
            </a:r>
            <a:pPr algn="l" indent="0" marL="0">
              <a:lnSpc>
                <a:spcPts val="2850"/>
              </a:lnSpc>
              <a:buNone/>
            </a:pPr>
            <a:r>
              <a:rPr lang="en-US" sz="1750" dirty="0">
                <a:solidFill>
                  <a:srgbClr val="3B3535"/>
                </a:solidFill>
                <a:latin typeface="Roboto" pitchFamily="34" charset="0"/>
                <a:ea typeface="Roboto" pitchFamily="34" charset="-122"/>
                <a:cs typeface="Roboto" pitchFamily="34" charset="-120"/>
              </a:rPr>
              <a:t>1. Definir tarea → 2. Métricas → 3. Prompting → 4. RAG → 5. Fine-tuning → 6. Evaluar en datos reales</a:t>
            </a:r>
            <a:endParaRPr lang="en-US" sz="1750" dirty="0"/>
          </a:p>
        </p:txBody>
      </p:sp>
      <p:sp>
        <p:nvSpPr>
          <p:cNvPr id="20" name="Shape 18"/>
          <p:cNvSpPr/>
          <p:nvPr/>
        </p:nvSpPr>
        <p:spPr>
          <a:xfrm>
            <a:off x="793790" y="6477000"/>
            <a:ext cx="13042821" cy="963811"/>
          </a:xfrm>
          <a:prstGeom prst="roundRect">
            <a:avLst>
              <a:gd name="adj" fmla="val 949"/>
            </a:avLst>
          </a:prstGeom>
          <a:solidFill>
            <a:srgbClr val="F7BBC1"/>
          </a:solidFill>
          <a:ln/>
        </p:spPr>
      </p:sp>
      <p:pic>
        <p:nvPicPr>
          <p:cNvPr id="21" name="Image 0" descr="preencoded.png">    </p:cNvPr>
          <p:cNvPicPr>
            <a:picLocks noChangeAspect="1"/>
          </p:cNvPicPr>
          <p:nvPr/>
        </p:nvPicPr>
        <p:blipFill>
          <a:blip r:embed="rId1"/>
          <a:stretch>
            <a:fillRect/>
          </a:stretch>
        </p:blipFill>
        <p:spPr>
          <a:xfrm>
            <a:off x="1020604" y="6821091"/>
            <a:ext cx="283488" cy="226814"/>
          </a:xfrm>
          <a:prstGeom prst="rect">
            <a:avLst/>
          </a:prstGeom>
        </p:spPr>
      </p:pic>
      <p:sp>
        <p:nvSpPr>
          <p:cNvPr id="22" name="Text 19"/>
          <p:cNvSpPr/>
          <p:nvPr/>
        </p:nvSpPr>
        <p:spPr>
          <a:xfrm>
            <a:off x="1530906" y="6760488"/>
            <a:ext cx="1207889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El 80% del trabajo es curación de datos y evaluación. El 15% es ingeniería de prompts. Solo el 5% es entrenamiento.</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2026-03-25T15:24:14Z</dcterms:created>
  <dcterms:modified xsi:type="dcterms:W3CDTF">2026-03-25T15:24:14Z</dcterms:modified>
</cp:coreProperties>
</file>